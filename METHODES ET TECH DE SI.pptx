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318" r:id="rId2"/>
    <p:sldId id="529" r:id="rId3"/>
    <p:sldId id="530" r:id="rId4"/>
    <p:sldId id="536" r:id="rId5"/>
    <p:sldId id="537" r:id="rId6"/>
    <p:sldId id="538" r:id="rId7"/>
    <p:sldId id="535" r:id="rId8"/>
    <p:sldId id="541" r:id="rId9"/>
    <p:sldId id="543" r:id="rId10"/>
    <p:sldId id="544" r:id="rId11"/>
    <p:sldId id="542" r:id="rId12"/>
    <p:sldId id="534" r:id="rId13"/>
    <p:sldId id="545" r:id="rId14"/>
    <p:sldId id="552" r:id="rId15"/>
    <p:sldId id="553" r:id="rId16"/>
    <p:sldId id="554" r:id="rId17"/>
    <p:sldId id="555" r:id="rId18"/>
    <p:sldId id="556" r:id="rId19"/>
    <p:sldId id="557" r:id="rId20"/>
    <p:sldId id="558" r:id="rId21"/>
    <p:sldId id="559" r:id="rId22"/>
    <p:sldId id="560" r:id="rId23"/>
    <p:sldId id="561" r:id="rId24"/>
    <p:sldId id="533" r:id="rId25"/>
    <p:sldId id="548" r:id="rId26"/>
    <p:sldId id="546" r:id="rId27"/>
    <p:sldId id="550" r:id="rId28"/>
    <p:sldId id="551" r:id="rId29"/>
    <p:sldId id="547" r:id="rId30"/>
    <p:sldId id="562" r:id="rId31"/>
    <p:sldId id="563" r:id="rId32"/>
    <p:sldId id="564" r:id="rId33"/>
    <p:sldId id="565" r:id="rId34"/>
    <p:sldId id="566" r:id="rId35"/>
    <p:sldId id="532" r:id="rId36"/>
    <p:sldId id="567" r:id="rId37"/>
    <p:sldId id="568" r:id="rId38"/>
    <p:sldId id="531" r:id="rId39"/>
    <p:sldId id="570" r:id="rId40"/>
    <p:sldId id="569" r:id="rId41"/>
    <p:sldId id="571" r:id="rId42"/>
    <p:sldId id="572" r:id="rId43"/>
    <p:sldId id="573" r:id="rId44"/>
    <p:sldId id="574" r:id="rId45"/>
    <p:sldId id="575" r:id="rId46"/>
    <p:sldId id="577" r:id="rId47"/>
    <p:sldId id="576" r:id="rId48"/>
    <p:sldId id="580" r:id="rId49"/>
    <p:sldId id="579" r:id="rId50"/>
    <p:sldId id="578" r:id="rId51"/>
    <p:sldId id="581" r:id="rId52"/>
    <p:sldId id="582" r:id="rId53"/>
    <p:sldId id="583" r:id="rId54"/>
    <p:sldId id="584" r:id="rId55"/>
    <p:sldId id="585" r:id="rId56"/>
    <p:sldId id="589" r:id="rId57"/>
    <p:sldId id="588" r:id="rId58"/>
    <p:sldId id="590" r:id="rId59"/>
    <p:sldId id="587" r:id="rId60"/>
    <p:sldId id="586" r:id="rId61"/>
    <p:sldId id="593" r:id="rId62"/>
    <p:sldId id="592" r:id="rId63"/>
    <p:sldId id="594" r:id="rId64"/>
    <p:sldId id="596" r:id="rId65"/>
    <p:sldId id="597" r:id="rId66"/>
    <p:sldId id="598" r:id="rId67"/>
    <p:sldId id="595" r:id="rId68"/>
    <p:sldId id="591" r:id="rId69"/>
    <p:sldId id="603" r:id="rId70"/>
    <p:sldId id="599" r:id="rId71"/>
    <p:sldId id="600" r:id="rId72"/>
    <p:sldId id="602" r:id="rId73"/>
    <p:sldId id="601" r:id="rId74"/>
    <p:sldId id="527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320"/>
    <a:srgbClr val="E2F0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4F7FC-F3AA-4DE3-8187-956E663F150F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9240E-C927-4AB6-AEA8-F4572B17025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2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'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6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8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5230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354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66337" y="773722"/>
            <a:ext cx="10317480" cy="81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-2068" y="6628503"/>
            <a:ext cx="12204000" cy="252000"/>
          </a:xfrm>
          <a:prstGeom prst="rect">
            <a:avLst/>
          </a:prstGeom>
          <a:solidFill>
            <a:srgbClr val="00B050"/>
          </a:solidFill>
          <a:ln w="12700" cmpd="sng">
            <a:solidFill>
              <a:srgbClr val="00B050"/>
            </a:solidFill>
          </a:ln>
        </p:spPr>
        <p:txBody>
          <a:bodyPr wrap="square" tIns="0" bIns="0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 dirty="0">
              <a:solidFill>
                <a:schemeClr val="bg1"/>
              </a:solidFill>
              <a:latin typeface="Arial Black" pitchFamily="34" charset="0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 err="1">
                <a:solidFill>
                  <a:schemeClr val="bg1"/>
                </a:solidFill>
                <a:latin typeface="Arial Black" pitchFamily="34" charset="0"/>
              </a:rPr>
              <a:t>Blvd</a:t>
            </a:r>
            <a:r>
              <a:rPr lang="fr-FR" sz="1400" dirty="0">
                <a:solidFill>
                  <a:schemeClr val="bg1"/>
                </a:solidFill>
                <a:latin typeface="Arial Black" pitchFamily="34" charset="0"/>
              </a:rPr>
              <a:t> de Marseille, 18 BP 720 Abidjan 18, Tel.: (225) 21005660 / 21001906 – Email: info@infas.ci – site web: www.infas.ci</a:t>
            </a:r>
          </a:p>
        </p:txBody>
      </p:sp>
      <p:sp>
        <p:nvSpPr>
          <p:cNvPr id="8" name="ZoneTexte 7"/>
          <p:cNvSpPr txBox="1"/>
          <p:nvPr userDrawn="1"/>
        </p:nvSpPr>
        <p:spPr>
          <a:xfrm>
            <a:off x="0" y="6274189"/>
            <a:ext cx="12192000" cy="307777"/>
          </a:xfrm>
          <a:prstGeom prst="rect">
            <a:avLst/>
          </a:prstGeom>
          <a:solidFill>
            <a:srgbClr val="EC7320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bg1"/>
                </a:solidFill>
                <a:latin typeface="Arial Black" pitchFamily="34" charset="0"/>
              </a:rPr>
              <a:t>INSTITUT NATIONAL DE FORMATION DES AGENTS DE SANTE - INFAS </a:t>
            </a:r>
          </a:p>
        </p:txBody>
      </p:sp>
      <p:pic>
        <p:nvPicPr>
          <p:cNvPr id="9" name="Image 8" descr="b"/>
          <p:cNvPicPr/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68" y="20791"/>
            <a:ext cx="928467" cy="88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 9" descr="Résultat de recherche d'images pour &quot;logo mshp&quot;"/>
          <p:cNvPicPr/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029070" y="33240"/>
            <a:ext cx="1148861" cy="88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398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sdenskoulj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6" y="464629"/>
            <a:ext cx="10515443" cy="1494800"/>
          </a:xfrm>
        </p:spPr>
        <p:txBody>
          <a:bodyPr>
            <a:normAutofit/>
          </a:bodyPr>
          <a:lstStyle/>
          <a:p>
            <a:pPr algn="ctr"/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305" y="2828836"/>
            <a:ext cx="114621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3200" dirty="0" smtClean="0">
                <a:solidFill>
                  <a:srgbClr val="00B050"/>
                </a:solidFill>
              </a:rPr>
              <a:t>Denis </a:t>
            </a:r>
            <a:r>
              <a:rPr lang="fr-FR" sz="3200" dirty="0" err="1" smtClean="0">
                <a:solidFill>
                  <a:srgbClr val="00B050"/>
                </a:solidFill>
              </a:rPr>
              <a:t>Koulou</a:t>
            </a:r>
            <a:r>
              <a:rPr lang="fr-FR" sz="3200" dirty="0" smtClean="0">
                <a:solidFill>
                  <a:srgbClr val="00B050"/>
                </a:solidFill>
              </a:rPr>
              <a:t> ASSANDE</a:t>
            </a:r>
            <a:endParaRPr lang="fr-FR" sz="3200" dirty="0">
              <a:solidFill>
                <a:srgbClr val="00B050"/>
              </a:solidFill>
            </a:endParaRPr>
          </a:p>
          <a:p>
            <a:pPr algn="just"/>
            <a:r>
              <a:rPr lang="fr-FR" sz="3200" dirty="0" smtClean="0"/>
              <a:t>IDES - SUS</a:t>
            </a:r>
            <a:endParaRPr lang="fr-FR" sz="3200" dirty="0"/>
          </a:p>
          <a:p>
            <a:pPr algn="just"/>
            <a:r>
              <a:rPr lang="fr-FR" sz="3200" dirty="0" smtClean="0"/>
              <a:t>Certifié en Pédagogie Universitaire(CPU)</a:t>
            </a:r>
          </a:p>
          <a:p>
            <a:pPr algn="just"/>
            <a:r>
              <a:rPr lang="fr-FR" sz="3200" dirty="0" err="1" smtClean="0"/>
              <a:t>Inspectur</a:t>
            </a:r>
            <a:r>
              <a:rPr lang="fr-FR" sz="3200" dirty="0" smtClean="0"/>
              <a:t> des Soins</a:t>
            </a:r>
          </a:p>
          <a:p>
            <a:pPr algn="just"/>
            <a:r>
              <a:rPr lang="fr-FR" sz="3200" dirty="0" smtClean="0"/>
              <a:t>Enseignant - Ecole de Base - INFAS ABIDJAN </a:t>
            </a:r>
          </a:p>
          <a:p>
            <a:pPr algn="just"/>
            <a:r>
              <a:rPr lang="fr-FR" sz="3200" dirty="0" smtClean="0"/>
              <a:t>Contact 07 09 21 76 72 / </a:t>
            </a:r>
            <a:r>
              <a:rPr lang="fr-FR" sz="3200" dirty="0" smtClean="0">
                <a:hlinkClick r:id="rId2"/>
              </a:rPr>
              <a:t>asdenskoulj@gmail.com</a:t>
            </a:r>
            <a:r>
              <a:rPr lang="fr-FR" sz="3200" dirty="0" smtClean="0"/>
              <a:t> 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2145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METHODES ET TECHNIQUES DE SOINS INFIRMEIRS</a:t>
            </a: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15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63262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b="1" smtClean="0">
              <a:solidFill>
                <a:srgbClr val="0070C0"/>
              </a:solidFill>
            </a:endParaRPr>
          </a:p>
          <a:p>
            <a:r>
              <a:rPr lang="fr-FR" sz="3600" b="1" smtClean="0">
                <a:solidFill>
                  <a:srgbClr val="0070C0"/>
                </a:solidFill>
              </a:rPr>
              <a:t>GENERALITES </a:t>
            </a:r>
            <a:endParaRPr lang="fr-FR" sz="3600" b="1" dirty="0" smtClean="0">
              <a:solidFill>
                <a:srgbClr val="0070C0"/>
              </a:solidFill>
            </a:endParaRPr>
          </a:p>
          <a:p>
            <a:endParaRPr lang="fr-FR" sz="3600" dirty="0"/>
          </a:p>
          <a:p>
            <a:r>
              <a:rPr lang="fr-FR" sz="3600" dirty="0"/>
              <a:t>Le sondage vésical peut sauver la vie d’un patient atteint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 </a:t>
            </a:r>
            <a:r>
              <a:rPr lang="fr-FR" sz="3600" dirty="0"/>
              <a:t>rétention urinaire</a:t>
            </a:r>
            <a:r>
              <a:rPr lang="fr-FR" sz="3600" dirty="0" smtClean="0"/>
              <a:t>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51737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63262"/>
            <a:ext cx="1219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On </a:t>
            </a:r>
            <a:r>
              <a:rPr lang="fr-FR" sz="3600" dirty="0"/>
              <a:t>doit parfois y avoir recours pour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3600" dirty="0" smtClean="0"/>
              <a:t>mesurer </a:t>
            </a:r>
            <a:r>
              <a:rPr lang="fr-FR" sz="3600" dirty="0"/>
              <a:t>le volume d’urine résiduel dans la  vessie après </a:t>
            </a:r>
            <a:endParaRPr lang="fr-FR" sz="3600" dirty="0" smtClean="0"/>
          </a:p>
          <a:p>
            <a:pPr marL="571500" indent="-571500">
              <a:buFont typeface="Wingdings" panose="05000000000000000000" pitchFamily="2" charset="2"/>
              <a:buChar char="q"/>
            </a:pPr>
            <a:endParaRPr lang="fr-FR" sz="3600" dirty="0"/>
          </a:p>
          <a:p>
            <a:r>
              <a:rPr lang="fr-FR" sz="3600" dirty="0" smtClean="0"/>
              <a:t>     miction </a:t>
            </a:r>
            <a:r>
              <a:rPr lang="fr-FR" sz="3600" dirty="0"/>
              <a:t>pour court-circuiter une obstruction, </a:t>
            </a:r>
            <a:endParaRPr lang="fr-FR" sz="3600" dirty="0" smtClean="0"/>
          </a:p>
          <a:p>
            <a:endParaRPr lang="fr-FR" sz="3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720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63262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3600" dirty="0" smtClean="0"/>
              <a:t> pour </a:t>
            </a:r>
            <a:r>
              <a:rPr lang="fr-FR" sz="3600" dirty="0"/>
              <a:t>assurer  le drainage à la suite d’une intervention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chirurgicale </a:t>
            </a:r>
            <a:r>
              <a:rPr lang="fr-FR" sz="3600" dirty="0"/>
              <a:t>à la vessie, </a:t>
            </a:r>
            <a:endParaRPr lang="fr-FR" sz="3600" dirty="0" smtClean="0"/>
          </a:p>
          <a:p>
            <a:endParaRPr lang="fr-FR" sz="3600" dirty="0"/>
          </a:p>
          <a:p>
            <a:endParaRPr lang="fr-FR" sz="3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499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63262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 smtClean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3600" dirty="0" smtClean="0"/>
              <a:t>pour </a:t>
            </a:r>
            <a:r>
              <a:rPr lang="fr-FR" sz="3600" dirty="0"/>
              <a:t>mesurer  la diurèse chez  des patients alités.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355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3421" y="1592317"/>
            <a:ext cx="1201857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 smtClean="0">
                <a:solidFill>
                  <a:srgbClr val="0070C0"/>
                </a:solidFill>
              </a:rPr>
              <a:t>2- </a:t>
            </a:r>
            <a:r>
              <a:rPr lang="fr-FR" sz="3600" b="1" dirty="0">
                <a:solidFill>
                  <a:srgbClr val="0070C0"/>
                </a:solidFill>
              </a:rPr>
              <a:t>DEFINITION</a:t>
            </a:r>
          </a:p>
          <a:p>
            <a:endParaRPr lang="fr-FR" sz="3600" dirty="0" smtClean="0"/>
          </a:p>
          <a:p>
            <a:r>
              <a:rPr lang="fr-FR" sz="3600" dirty="0" smtClean="0"/>
              <a:t>C’est </a:t>
            </a:r>
            <a:r>
              <a:rPr lang="fr-FR" sz="3600" dirty="0"/>
              <a:t>l’introduction d’un cathéter ou sonde vésicale par le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méat </a:t>
            </a:r>
            <a:r>
              <a:rPr lang="fr-FR" sz="3600" dirty="0"/>
              <a:t>urinaire jusqu’à la vessie afin d’assurer le drainage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des </a:t>
            </a:r>
            <a:r>
              <a:rPr lang="fr-FR" sz="3600" dirty="0"/>
              <a:t>urines.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676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3421" y="1592317"/>
            <a:ext cx="1201857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 smtClean="0">
                <a:solidFill>
                  <a:srgbClr val="0070C0"/>
                </a:solidFill>
              </a:rPr>
              <a:t>2- </a:t>
            </a:r>
            <a:r>
              <a:rPr lang="fr-FR" sz="3600" b="1" dirty="0">
                <a:solidFill>
                  <a:srgbClr val="0070C0"/>
                </a:solidFill>
              </a:rPr>
              <a:t>DEFINITION</a:t>
            </a:r>
          </a:p>
          <a:p>
            <a:endParaRPr lang="fr-FR" sz="3600" dirty="0"/>
          </a:p>
          <a:p>
            <a:r>
              <a:rPr lang="fr-FR" sz="3600" dirty="0"/>
              <a:t>Le sondage urinaire obéit à deux impératifs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   La </a:t>
            </a:r>
            <a:r>
              <a:rPr lang="fr-FR" sz="3600" dirty="0"/>
              <a:t>précision dans le geste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/>
              <a:t>-	La rigueur dans l’asepsie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057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3421" y="1592317"/>
            <a:ext cx="1201857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2</a:t>
            </a:r>
            <a:r>
              <a:rPr lang="fr-FR" sz="3600" b="1" dirty="0" smtClean="0">
                <a:solidFill>
                  <a:srgbClr val="0070C0"/>
                </a:solidFill>
              </a:rPr>
              <a:t>- </a:t>
            </a:r>
            <a:r>
              <a:rPr lang="fr-FR" sz="3600" b="1" dirty="0">
                <a:solidFill>
                  <a:srgbClr val="0070C0"/>
                </a:solidFill>
              </a:rPr>
              <a:t>INDICATIONS ET CONTRE-INDICATIONS</a:t>
            </a:r>
          </a:p>
          <a:p>
            <a:endParaRPr lang="fr-FR" sz="3600" dirty="0"/>
          </a:p>
          <a:p>
            <a:r>
              <a:rPr lang="fr-FR" sz="3600" b="1" dirty="0"/>
              <a:t>2-1 </a:t>
            </a:r>
            <a:r>
              <a:rPr lang="fr-FR" sz="3600" b="1" dirty="0" smtClean="0"/>
              <a:t>Indications</a:t>
            </a:r>
          </a:p>
          <a:p>
            <a:endParaRPr lang="fr-FR" sz="3600" b="1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Les </a:t>
            </a:r>
            <a:r>
              <a:rPr lang="fr-FR" sz="3600" dirty="0"/>
              <a:t>retentions d’urines (complètes ou non, aigues </a:t>
            </a:r>
            <a:endParaRPr lang="fr-FR" sz="3600" dirty="0" smtClean="0"/>
          </a:p>
          <a:p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    ou  chronique</a:t>
            </a:r>
            <a:r>
              <a:rPr lang="fr-FR" sz="3600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526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10279117" cy="1403131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b="1" dirty="0" smtClean="0">
                <a:solidFill>
                  <a:srgbClr val="0070C0"/>
                </a:solidFill>
              </a:rPr>
              <a:t/>
            </a:r>
            <a:br>
              <a:rPr lang="fr-FR" sz="3600" b="1" dirty="0" smtClean="0">
                <a:solidFill>
                  <a:srgbClr val="0070C0"/>
                </a:solidFill>
              </a:rPr>
            </a:br>
            <a:r>
              <a:rPr lang="fr-FR" sz="3600" b="1" dirty="0" smtClean="0">
                <a:solidFill>
                  <a:srgbClr val="0070C0"/>
                </a:solidFill>
              </a:rPr>
              <a:t>2- </a:t>
            </a:r>
            <a:r>
              <a:rPr lang="fr-FR" sz="3600" b="1" dirty="0">
                <a:solidFill>
                  <a:srgbClr val="0070C0"/>
                </a:solidFill>
              </a:rPr>
              <a:t>INDICATIONS ET CONTRE-INDICATIONS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64628"/>
            <a:ext cx="1219200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dirty="0" smtClean="0"/>
              <a:t>Avant </a:t>
            </a:r>
            <a:r>
              <a:rPr lang="fr-FR" sz="3600" dirty="0"/>
              <a:t>et après certaines interventions </a:t>
            </a:r>
            <a:r>
              <a:rPr lang="fr-FR" sz="3600" dirty="0" smtClean="0"/>
              <a:t>chirurgicales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Incontinence </a:t>
            </a:r>
            <a:r>
              <a:rPr lang="fr-FR" sz="3600" dirty="0"/>
              <a:t>urinaire chez les grabataires </a:t>
            </a:r>
            <a:r>
              <a:rPr lang="fr-FR" sz="3600" dirty="0" smtClean="0"/>
              <a:t>;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Chez </a:t>
            </a:r>
            <a:r>
              <a:rPr lang="fr-FR" sz="3600" dirty="0"/>
              <a:t>les comateux ; </a:t>
            </a:r>
            <a:endParaRPr lang="fr-FR" sz="3600" dirty="0" smtClean="0"/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Dans </a:t>
            </a:r>
            <a:r>
              <a:rPr lang="fr-FR" sz="3600" dirty="0"/>
              <a:t>un but </a:t>
            </a:r>
            <a:r>
              <a:rPr lang="fr-FR" sz="3600" dirty="0" smtClean="0"/>
              <a:t>diagnostic</a:t>
            </a:r>
          </a:p>
          <a:p>
            <a:endParaRPr lang="fr-FR" sz="3600" dirty="0" smtClean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Exemple ECHOGRAPHIE (</a:t>
            </a:r>
            <a:r>
              <a:rPr lang="fr-FR" sz="3600" dirty="0" err="1" smtClean="0"/>
              <a:t>renale</a:t>
            </a:r>
            <a:r>
              <a:rPr lang="fr-FR" sz="3600" dirty="0" smtClean="0"/>
              <a:t>, vésicale)</a:t>
            </a:r>
          </a:p>
          <a:p>
            <a:pPr marL="571500" indent="-571500">
              <a:buFontTx/>
              <a:buChar char="-"/>
            </a:pPr>
            <a:endParaRPr lang="fr-FR" sz="3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195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649" y="1"/>
            <a:ext cx="10518806" cy="10720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SONDAGE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VESICAL</a:t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" y="985345"/>
            <a:ext cx="1219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2</a:t>
            </a:r>
            <a:r>
              <a:rPr lang="fr-FR" sz="3600" b="1" dirty="0" smtClean="0">
                <a:solidFill>
                  <a:srgbClr val="0070C0"/>
                </a:solidFill>
              </a:rPr>
              <a:t>- </a:t>
            </a:r>
            <a:r>
              <a:rPr lang="fr-FR" sz="3600" b="1" dirty="0">
                <a:solidFill>
                  <a:srgbClr val="0070C0"/>
                </a:solidFill>
              </a:rPr>
              <a:t>INDICATIONS ET </a:t>
            </a:r>
            <a:r>
              <a:rPr lang="fr-FR" sz="3600" b="1" dirty="0" smtClean="0">
                <a:solidFill>
                  <a:srgbClr val="0070C0"/>
                </a:solidFill>
              </a:rPr>
              <a:t>CONTRE-INDICATION</a:t>
            </a:r>
            <a:endParaRPr lang="fr-FR" sz="3600" dirty="0"/>
          </a:p>
          <a:p>
            <a:endParaRPr lang="fr-FR" sz="3600" dirty="0"/>
          </a:p>
          <a:p>
            <a:r>
              <a:rPr lang="fr-FR" sz="3600" b="1" dirty="0"/>
              <a:t>2.2 </a:t>
            </a:r>
            <a:r>
              <a:rPr lang="fr-FR" sz="3600" b="1" dirty="0" smtClean="0"/>
              <a:t>Contre-indications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   Urétrite </a:t>
            </a:r>
            <a:r>
              <a:rPr lang="fr-FR" sz="3600" dirty="0"/>
              <a:t>aigue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/>
              <a:t>-	Rupture traumatique de l’urètre</a:t>
            </a:r>
          </a:p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734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8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76" y="788222"/>
            <a:ext cx="1208952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Devant </a:t>
            </a:r>
            <a:r>
              <a:rPr lang="fr-FR" sz="3600" dirty="0"/>
              <a:t>les indications </a:t>
            </a:r>
            <a:r>
              <a:rPr lang="fr-FR" sz="3600" dirty="0" err="1"/>
              <a:t>sus-citées</a:t>
            </a:r>
            <a:r>
              <a:rPr lang="fr-FR" sz="3600" dirty="0"/>
              <a:t>, il faut faire un sondage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vésical</a:t>
            </a:r>
            <a:r>
              <a:rPr lang="fr-FR" sz="3600" dirty="0"/>
              <a:t>.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A </a:t>
            </a:r>
            <a:r>
              <a:rPr lang="fr-FR" sz="3600" dirty="0"/>
              <a:t>cet effet, il faut respecter rigoureusement les règles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d’asepsies </a:t>
            </a:r>
            <a:r>
              <a:rPr lang="fr-FR" sz="3600" dirty="0"/>
              <a:t>dont la non application provoque de graves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infections </a:t>
            </a:r>
            <a:r>
              <a:rPr lang="fr-FR" sz="3600" dirty="0"/>
              <a:t>vésicales.</a:t>
            </a:r>
          </a:p>
          <a:p>
            <a:endParaRPr lang="fr-FR" sz="3600" dirty="0"/>
          </a:p>
        </p:txBody>
      </p:sp>
      <p:sp>
        <p:nvSpPr>
          <p:cNvPr id="5" name="Rectangle 4"/>
          <p:cNvSpPr/>
          <p:nvPr/>
        </p:nvSpPr>
        <p:spPr>
          <a:xfrm>
            <a:off x="1292773" y="70945"/>
            <a:ext cx="9798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3- INTERVENTIONS INFIRMIERES</a:t>
            </a:r>
          </a:p>
        </p:txBody>
      </p:sp>
    </p:spTree>
    <p:extLst>
      <p:ext uri="{BB962C8B-B14F-4D97-AF65-F5344CB8AC3E}">
        <p14:creationId xmlns:p14="http://schemas.microsoft.com/office/powerpoint/2010/main" val="165581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8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76" y="788222"/>
            <a:ext cx="120895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 smtClean="0"/>
              <a:t>3.1 </a:t>
            </a:r>
            <a:r>
              <a:rPr lang="fr-FR" sz="3600" b="1" dirty="0"/>
              <a:t>Préparation du patient </a:t>
            </a:r>
            <a:endParaRPr lang="fr-FR" sz="3600" b="1" dirty="0" smtClean="0"/>
          </a:p>
          <a:p>
            <a:endParaRPr lang="fr-FR" sz="3600" b="1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D’abord </a:t>
            </a:r>
            <a:r>
              <a:rPr lang="fr-FR" sz="3600" dirty="0"/>
              <a:t>identifier le </a:t>
            </a:r>
            <a:r>
              <a:rPr lang="fr-FR" sz="3600" dirty="0" smtClean="0"/>
              <a:t>patient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Préparation </a:t>
            </a:r>
            <a:r>
              <a:rPr lang="fr-FR" sz="3600" dirty="0"/>
              <a:t>psychologique </a:t>
            </a:r>
            <a:r>
              <a:rPr lang="fr-FR" sz="3600" dirty="0" smtClean="0"/>
              <a:t> (</a:t>
            </a:r>
            <a:r>
              <a:rPr lang="fr-FR" sz="3600" dirty="0"/>
              <a:t>expliquer au patient le bien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    fondé </a:t>
            </a:r>
            <a:r>
              <a:rPr lang="fr-FR" sz="3600" dirty="0"/>
              <a:t>du soin, la réussite </a:t>
            </a:r>
            <a:r>
              <a:rPr lang="fr-FR" sz="3600" dirty="0" smtClean="0"/>
              <a:t>  dépendra </a:t>
            </a:r>
            <a:r>
              <a:rPr lang="fr-FR" sz="3600" dirty="0"/>
              <a:t>de </a:t>
            </a:r>
            <a:r>
              <a:rPr lang="fr-FR" sz="3600" dirty="0" smtClean="0"/>
              <a:t>lui)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r>
              <a:rPr lang="fr-FR" sz="3600" dirty="0"/>
              <a:t>-	Le patient doit être calme et détendu.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2773" y="70945"/>
            <a:ext cx="9798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3- INTERVENTIONS INFIRMIERES</a:t>
            </a:r>
          </a:p>
        </p:txBody>
      </p:sp>
    </p:spTree>
    <p:extLst>
      <p:ext uri="{BB962C8B-B14F-4D97-AF65-F5344CB8AC3E}">
        <p14:creationId xmlns:p14="http://schemas.microsoft.com/office/powerpoint/2010/main" val="117334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8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9220" y="0"/>
            <a:ext cx="11332779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/>
              <a:t>3.2 Matériel </a:t>
            </a:r>
          </a:p>
          <a:p>
            <a:endParaRPr lang="fr-FR" sz="3600" dirty="0"/>
          </a:p>
          <a:p>
            <a:r>
              <a:rPr lang="fr-FR" sz="3600" dirty="0"/>
              <a:t>3.2.1 Matériel spécifique </a:t>
            </a:r>
            <a:endParaRPr lang="fr-FR" sz="3600" dirty="0" smtClean="0"/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Une </a:t>
            </a:r>
            <a:r>
              <a:rPr lang="fr-FR" sz="3600" dirty="0"/>
              <a:t>sonde </a:t>
            </a:r>
            <a:r>
              <a:rPr lang="fr-FR" sz="3600" dirty="0" smtClean="0"/>
              <a:t>urinaire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Une </a:t>
            </a:r>
            <a:r>
              <a:rPr lang="fr-FR" sz="3600" dirty="0"/>
              <a:t>poche </a:t>
            </a:r>
            <a:r>
              <a:rPr lang="fr-FR" sz="3600" dirty="0" smtClean="0"/>
              <a:t>urinaire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Du </a:t>
            </a:r>
            <a:r>
              <a:rPr lang="fr-FR" sz="3600" dirty="0"/>
              <a:t>sérum </a:t>
            </a:r>
            <a:r>
              <a:rPr lang="fr-FR" sz="3600" dirty="0" smtClean="0"/>
              <a:t>physiologique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r>
              <a:rPr lang="fr-FR" sz="3600" dirty="0" smtClean="0"/>
              <a:t>-   Un </a:t>
            </a:r>
            <a:r>
              <a:rPr lang="fr-FR" sz="3600" dirty="0"/>
              <a:t>lubrifiant ou une solution antiseptique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652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8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4986" y="0"/>
            <a:ext cx="1035794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Une </a:t>
            </a:r>
            <a:r>
              <a:rPr lang="fr-FR" sz="3600" dirty="0"/>
              <a:t>protection alèze en </a:t>
            </a:r>
            <a:r>
              <a:rPr lang="fr-FR" sz="3600" dirty="0" smtClean="0"/>
              <a:t>caoutchouc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Matériel </a:t>
            </a:r>
            <a:r>
              <a:rPr lang="fr-FR" sz="3600" dirty="0"/>
              <a:t>d’hygiène ou toilette (serviette, papier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     hygiénique </a:t>
            </a:r>
            <a:r>
              <a:rPr lang="fr-FR" sz="3600" dirty="0"/>
              <a:t>etc</a:t>
            </a:r>
            <a:r>
              <a:rPr lang="fr-FR" sz="3600" dirty="0" smtClean="0"/>
              <a:t>…)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Une </a:t>
            </a:r>
            <a:r>
              <a:rPr lang="fr-FR" sz="3600" dirty="0"/>
              <a:t>seringue (5cc -10 cc</a:t>
            </a:r>
            <a:r>
              <a:rPr lang="fr-FR" sz="3600" dirty="0" smtClean="0"/>
              <a:t>)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Seringue </a:t>
            </a:r>
            <a:r>
              <a:rPr lang="fr-FR" sz="3600" dirty="0"/>
              <a:t>50cc ou 60cc (si lavage vésical</a:t>
            </a:r>
            <a:r>
              <a:rPr lang="fr-FR" sz="3600" dirty="0" smtClean="0"/>
              <a:t>)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52496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4366" y="1387366"/>
            <a:ext cx="118477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3.3 Technique du sondage</a:t>
            </a:r>
            <a:r>
              <a:rPr lang="fr-FR" sz="3600" b="1" dirty="0"/>
              <a:t> (voir séance de TP)</a:t>
            </a:r>
          </a:p>
          <a:p>
            <a:endParaRPr lang="fr-FR" sz="3600" dirty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71732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2" y="1"/>
            <a:ext cx="113026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</a:rPr>
              <a:t>3.4 </a:t>
            </a:r>
            <a:r>
              <a:rPr lang="fr-FR" sz="3600" b="1" dirty="0">
                <a:solidFill>
                  <a:srgbClr val="0070C0"/>
                </a:solidFill>
              </a:rPr>
              <a:t>Incidents et accidents 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Fausse </a:t>
            </a:r>
            <a:r>
              <a:rPr lang="fr-FR" sz="3600" dirty="0"/>
              <a:t>route : par l’introduction de la sonde chez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la </a:t>
            </a:r>
            <a:r>
              <a:rPr lang="fr-FR" sz="3600" dirty="0"/>
              <a:t>femme dans le vagin ;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33433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2" y="1"/>
            <a:ext cx="1130263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</a:rPr>
              <a:t>3.4 </a:t>
            </a:r>
            <a:r>
              <a:rPr lang="fr-FR" sz="3600" b="1" dirty="0">
                <a:solidFill>
                  <a:srgbClr val="0070C0"/>
                </a:solidFill>
              </a:rPr>
              <a:t>Incidents et accidents </a:t>
            </a:r>
            <a:endParaRPr lang="fr-FR" sz="3600" b="1" dirty="0" smtClean="0">
              <a:solidFill>
                <a:srgbClr val="0070C0"/>
              </a:solidFill>
            </a:endParaRP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Obstacle </a:t>
            </a:r>
            <a:r>
              <a:rPr lang="fr-FR" sz="3600" dirty="0"/>
              <a:t>à la progression de la sonde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/>
              <a:t>	Ne jamais forcer ;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/>
              <a:t>	Aider le patient à se détendre et renouveler le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     geste </a:t>
            </a:r>
            <a:r>
              <a:rPr lang="fr-FR" sz="3600" dirty="0"/>
              <a:t>à l’aide d’une sonde à plus petit calibre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76071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2" y="1"/>
            <a:ext cx="1130263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</a:rPr>
              <a:t>3.4 </a:t>
            </a:r>
            <a:r>
              <a:rPr lang="fr-FR" sz="3600" b="1" dirty="0">
                <a:solidFill>
                  <a:srgbClr val="0070C0"/>
                </a:solidFill>
              </a:rPr>
              <a:t>Incidents et accidents </a:t>
            </a:r>
            <a:endParaRPr lang="fr-FR" sz="3600" b="1" dirty="0" smtClean="0">
              <a:solidFill>
                <a:srgbClr val="0070C0"/>
              </a:solidFill>
            </a:endParaRPr>
          </a:p>
          <a:p>
            <a:endParaRPr lang="fr-FR" sz="3600" dirty="0"/>
          </a:p>
          <a:p>
            <a:r>
              <a:rPr lang="fr-FR" sz="3600" dirty="0"/>
              <a:t>	Hémorragie : au cours du sondage par lésion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chez </a:t>
            </a:r>
            <a:r>
              <a:rPr lang="fr-FR" sz="3600" dirty="0"/>
              <a:t>l’homme ou après vidange trop rapide de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vessie</a:t>
            </a:r>
          </a:p>
          <a:p>
            <a:endParaRPr lang="fr-FR" sz="3600" dirty="0"/>
          </a:p>
          <a:p>
            <a:r>
              <a:rPr lang="fr-FR" sz="3600" dirty="0"/>
              <a:t>	Absence d’urine liée à l’obstruction de la sonde ou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     à </a:t>
            </a:r>
            <a:r>
              <a:rPr lang="fr-FR" sz="3600" dirty="0"/>
              <a:t>une vessie vide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20477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2" y="1"/>
            <a:ext cx="1130263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</a:rPr>
              <a:t>3.4 </a:t>
            </a:r>
            <a:r>
              <a:rPr lang="fr-FR" sz="3600" b="1" dirty="0">
                <a:solidFill>
                  <a:srgbClr val="0070C0"/>
                </a:solidFill>
              </a:rPr>
              <a:t>Incidents et accidents </a:t>
            </a:r>
          </a:p>
          <a:p>
            <a:endParaRPr lang="fr-FR" sz="3600" dirty="0"/>
          </a:p>
          <a:p>
            <a:r>
              <a:rPr lang="fr-FR" sz="3600" dirty="0"/>
              <a:t>	Pousser légèrement la sonde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/>
              <a:t>	Injecter quelque ml de sérum physiologique et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    vérifier </a:t>
            </a:r>
            <a:r>
              <a:rPr lang="fr-FR" sz="3600" dirty="0"/>
              <a:t>le retour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98154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0" y="-197069"/>
            <a:ext cx="11302639" cy="7491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Para </a:t>
            </a:r>
            <a:r>
              <a:rPr lang="fr-FR" sz="3600" dirty="0"/>
              <a:t>phimosis survenant lors d’une pose </a:t>
            </a:r>
            <a:r>
              <a:rPr lang="fr-FR" sz="3600" dirty="0" smtClean="0"/>
              <a:t>longue</a:t>
            </a:r>
          </a:p>
          <a:p>
            <a:endParaRPr lang="fr-FR" sz="3600" dirty="0"/>
          </a:p>
          <a:p>
            <a:r>
              <a:rPr lang="fr-FR" sz="3600" dirty="0" smtClean="0"/>
              <a:t> </a:t>
            </a:r>
            <a:r>
              <a:rPr lang="fr-FR" sz="3600" dirty="0"/>
              <a:t>et difficile  de la sonde ou après rétraction du prépuce 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Lésion </a:t>
            </a:r>
            <a:r>
              <a:rPr lang="fr-FR" sz="3600" dirty="0"/>
              <a:t>traumatique ou inflammatoire de l’urètre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     (</a:t>
            </a:r>
            <a:r>
              <a:rPr lang="fr-FR" sz="3600" dirty="0"/>
              <a:t>irritation de la muqueuse</a:t>
            </a:r>
            <a:r>
              <a:rPr lang="fr-FR" sz="3600" dirty="0" smtClean="0"/>
              <a:t>)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Infection </a:t>
            </a:r>
            <a:r>
              <a:rPr lang="fr-FR" sz="3600" dirty="0"/>
              <a:t>liée à une faute d’asepsie lors de la mise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   en </a:t>
            </a:r>
            <a:r>
              <a:rPr lang="fr-FR" sz="3600" dirty="0"/>
              <a:t>place.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81233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0" y="-197069"/>
            <a:ext cx="113026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sz="3600" dirty="0"/>
          </a:p>
        </p:txBody>
      </p:sp>
      <p:sp>
        <p:nvSpPr>
          <p:cNvPr id="5" name="Rectangle 4"/>
          <p:cNvSpPr/>
          <p:nvPr/>
        </p:nvSpPr>
        <p:spPr>
          <a:xfrm>
            <a:off x="1024759" y="126123"/>
            <a:ext cx="102266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3-5 Elément de surveillance </a:t>
            </a:r>
            <a:endParaRPr lang="fr-FR" sz="3600" b="1" dirty="0" smtClean="0">
              <a:solidFill>
                <a:srgbClr val="0070C0"/>
              </a:solidFill>
            </a:endParaRPr>
          </a:p>
          <a:p>
            <a:endParaRPr lang="fr-FR" sz="3600" b="1" dirty="0">
              <a:solidFill>
                <a:srgbClr val="0070C0"/>
              </a:solidFill>
            </a:endParaRPr>
          </a:p>
          <a:p>
            <a:pPr marL="571500" indent="-571500">
              <a:buFontTx/>
              <a:buChar char="-"/>
            </a:pPr>
            <a:r>
              <a:rPr lang="fr-FR" sz="3600" dirty="0" smtClean="0"/>
              <a:t>Surveillance </a:t>
            </a:r>
            <a:r>
              <a:rPr lang="fr-FR" sz="3600" dirty="0"/>
              <a:t>quotidienne des urines : </a:t>
            </a:r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</a:t>
            </a:r>
          </a:p>
          <a:p>
            <a:r>
              <a:rPr lang="fr-FR" sz="3600" dirty="0"/>
              <a:t> </a:t>
            </a:r>
            <a:r>
              <a:rPr lang="fr-FR" sz="3600" dirty="0" smtClean="0"/>
              <a:t>   l’aspect</a:t>
            </a:r>
            <a:r>
              <a:rPr lang="fr-FR" sz="3600" dirty="0"/>
              <a:t>, la couleur etc</a:t>
            </a:r>
            <a:r>
              <a:rPr lang="fr-FR" sz="3600" dirty="0" smtClean="0"/>
              <a:t>…</a:t>
            </a:r>
          </a:p>
          <a:p>
            <a:endParaRPr lang="fr-FR" sz="3600" dirty="0"/>
          </a:p>
          <a:p>
            <a:r>
              <a:rPr lang="fr-FR" sz="3600" dirty="0"/>
              <a:t>-	Etat cutané au niveau du méat urinaire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27372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61" y="0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360" y="-197069"/>
            <a:ext cx="113026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sz="3600" dirty="0"/>
          </a:p>
        </p:txBody>
      </p:sp>
      <p:sp>
        <p:nvSpPr>
          <p:cNvPr id="5" name="Rectangle 4"/>
          <p:cNvSpPr/>
          <p:nvPr/>
        </p:nvSpPr>
        <p:spPr>
          <a:xfrm>
            <a:off x="203200" y="126123"/>
            <a:ext cx="1104824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 smtClean="0">
                <a:solidFill>
                  <a:srgbClr val="0070C0"/>
                </a:solidFill>
              </a:rPr>
              <a:t>               3-5 </a:t>
            </a:r>
            <a:r>
              <a:rPr lang="fr-FR" sz="3600" b="1" dirty="0">
                <a:solidFill>
                  <a:srgbClr val="0070C0"/>
                </a:solidFill>
              </a:rPr>
              <a:t>Elément de surveillance </a:t>
            </a:r>
            <a:endParaRPr lang="fr-FR" sz="3600" b="1" dirty="0" smtClean="0">
              <a:solidFill>
                <a:srgbClr val="0070C0"/>
              </a:solidFill>
            </a:endParaRP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Ecoulement </a:t>
            </a:r>
            <a:r>
              <a:rPr lang="fr-FR" sz="3600" dirty="0"/>
              <a:t>au niveau du méat urétral, </a:t>
            </a:r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 </a:t>
            </a:r>
          </a:p>
          <a:p>
            <a:r>
              <a:rPr lang="fr-FR" sz="3600" dirty="0" smtClean="0"/>
              <a:t>   quantité</a:t>
            </a:r>
            <a:r>
              <a:rPr lang="fr-FR" sz="3600" dirty="0"/>
              <a:t>, contenu, perméabilité de la sonde </a:t>
            </a:r>
            <a:r>
              <a:rPr lang="fr-FR" sz="3600" dirty="0" smtClean="0"/>
              <a:t>;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Poche </a:t>
            </a:r>
            <a:r>
              <a:rPr lang="fr-FR" sz="3600" dirty="0"/>
              <a:t>urinaire en position déclive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Eviter </a:t>
            </a:r>
            <a:r>
              <a:rPr lang="fr-FR" sz="3600" dirty="0"/>
              <a:t>le trop-plein de la poche urinaire </a:t>
            </a:r>
            <a:r>
              <a:rPr lang="fr-FR" sz="3600" dirty="0" smtClean="0"/>
              <a:t>car</a:t>
            </a:r>
          </a:p>
          <a:p>
            <a:r>
              <a:rPr lang="fr-FR" sz="3600" dirty="0"/>
              <a:t> </a:t>
            </a:r>
            <a:r>
              <a:rPr lang="fr-FR" sz="3600" dirty="0" smtClean="0"/>
              <a:t>  </a:t>
            </a:r>
          </a:p>
          <a:p>
            <a:r>
              <a:rPr lang="fr-FR" sz="3600" dirty="0"/>
              <a:t> </a:t>
            </a:r>
            <a:r>
              <a:rPr lang="fr-FR" sz="3600" dirty="0" smtClean="0"/>
              <a:t>    </a:t>
            </a:r>
            <a:r>
              <a:rPr lang="fr-FR" sz="3600" dirty="0"/>
              <a:t>cela exerce une traction sur la sonde.</a:t>
            </a:r>
          </a:p>
        </p:txBody>
      </p:sp>
    </p:spTree>
    <p:extLst>
      <p:ext uri="{BB962C8B-B14F-4D97-AF65-F5344CB8AC3E}">
        <p14:creationId xmlns:p14="http://schemas.microsoft.com/office/powerpoint/2010/main" val="414534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86910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4</a:t>
            </a:r>
            <a:r>
              <a:rPr lang="fr-FR" sz="3600" b="1" dirty="0" smtClean="0">
                <a:solidFill>
                  <a:srgbClr val="0070C0"/>
                </a:solidFill>
              </a:rPr>
              <a:t>- </a:t>
            </a:r>
            <a:r>
              <a:rPr lang="fr-FR" sz="3600" b="1" dirty="0">
                <a:solidFill>
                  <a:srgbClr val="0070C0"/>
                </a:solidFill>
              </a:rPr>
              <a:t>PONCTION SUS-PUBIENNE </a:t>
            </a:r>
            <a:endParaRPr lang="fr-FR" sz="3600" b="1" dirty="0" smtClean="0">
              <a:solidFill>
                <a:srgbClr val="0070C0"/>
              </a:solidFill>
            </a:endParaRPr>
          </a:p>
          <a:p>
            <a:endParaRPr lang="fr-FR" sz="3600" b="1" dirty="0">
              <a:solidFill>
                <a:srgbClr val="0070C0"/>
              </a:solidFill>
            </a:endParaRPr>
          </a:p>
          <a:p>
            <a:r>
              <a:rPr lang="fr-FR" sz="3600" dirty="0"/>
              <a:t>On peut l’utiliser temporairement pour dévier le trajet des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urines </a:t>
            </a:r>
            <a:r>
              <a:rPr lang="fr-FR" sz="3600" dirty="0"/>
              <a:t>lorsque l’évacuation est impossible dans l’urètre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(</a:t>
            </a:r>
            <a:r>
              <a:rPr lang="fr-FR" sz="3600" dirty="0"/>
              <a:t>rétrécissement probable, traumatisme de l’urètre</a:t>
            </a:r>
            <a:r>
              <a:rPr lang="fr-FR" sz="3600" dirty="0" smtClean="0"/>
              <a:t>…).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02156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7" y="-55178"/>
            <a:ext cx="10165034" cy="100110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fr-FR" sz="3600" b="1" dirty="0" smtClean="0"/>
              <a:t>4.1 </a:t>
            </a:r>
            <a:r>
              <a:rPr lang="fr-FR" sz="3600" b="1" dirty="0"/>
              <a:t>Interventions infirmières ou gestes infirmiers </a:t>
            </a:r>
            <a:r>
              <a:rPr lang="fr-FR" sz="4000" b="1" dirty="0"/>
              <a:t/>
            </a:r>
            <a:br>
              <a:rPr lang="fr-FR" sz="4000" b="1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130968"/>
            <a:ext cx="1256898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Pour </a:t>
            </a:r>
            <a:r>
              <a:rPr lang="fr-FR" sz="3600" dirty="0"/>
              <a:t>faciliter l’insertion de l’aiguille pour la ponction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Patient </a:t>
            </a:r>
            <a:r>
              <a:rPr lang="fr-FR" sz="3600" dirty="0"/>
              <a:t>en décubitus </a:t>
            </a:r>
            <a:r>
              <a:rPr lang="fr-FR" sz="3600" dirty="0" smtClean="0"/>
              <a:t>dorsal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On </a:t>
            </a:r>
            <a:r>
              <a:rPr lang="fr-FR" sz="3600" dirty="0"/>
              <a:t>dilate la vessie en lui administrant des liquides par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voies </a:t>
            </a:r>
            <a:r>
              <a:rPr lang="fr-FR" sz="3600" dirty="0"/>
              <a:t>orales ou veineuse, cette méthode permet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repérer la </a:t>
            </a:r>
            <a:r>
              <a:rPr lang="fr-FR" sz="3600" dirty="0"/>
              <a:t>vessie facilement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908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7" y="-55178"/>
            <a:ext cx="10155695" cy="10011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5853" y="-55178"/>
            <a:ext cx="1148614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r>
              <a:rPr lang="fr-FR" sz="3600" dirty="0"/>
              <a:t>	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Lavage </a:t>
            </a:r>
            <a:r>
              <a:rPr lang="fr-FR" sz="3600" dirty="0"/>
              <a:t>chirurgical de la région sus pubienne et on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marque </a:t>
            </a:r>
            <a:r>
              <a:rPr lang="fr-FR" sz="3600" dirty="0"/>
              <a:t>le point de ponction à 5cm environ au-dessus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 </a:t>
            </a:r>
            <a:r>
              <a:rPr lang="fr-FR" sz="3600" dirty="0"/>
              <a:t>la symphyse </a:t>
            </a:r>
            <a:r>
              <a:rPr lang="fr-FR" sz="3600" dirty="0" smtClean="0"/>
              <a:t>pubienne</a:t>
            </a:r>
          </a:p>
          <a:p>
            <a:endParaRPr lang="fr-FR" sz="3600" dirty="0"/>
          </a:p>
          <a:p>
            <a:endParaRPr lang="fr-FR" sz="3600" dirty="0" smtClean="0"/>
          </a:p>
          <a:p>
            <a:endParaRPr lang="fr-FR" sz="3600" dirty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6374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7" y="-55178"/>
            <a:ext cx="10155695" cy="10011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5853" y="-55178"/>
            <a:ext cx="1148614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On </a:t>
            </a:r>
            <a:r>
              <a:rPr lang="fr-FR" sz="3600" dirty="0"/>
              <a:t>adapte un perfuseur au trocart, on fait pénétrer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celui-ci </a:t>
            </a:r>
            <a:r>
              <a:rPr lang="fr-FR" sz="3600" dirty="0"/>
              <a:t>dans la vessie au niveau </a:t>
            </a:r>
            <a:r>
              <a:rPr lang="fr-FR" sz="3600" dirty="0" smtClean="0"/>
              <a:t>marqué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Puis </a:t>
            </a:r>
            <a:r>
              <a:rPr lang="fr-FR" sz="3600" dirty="0"/>
              <a:t>on maintient le trocart par un pansement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provisoire </a:t>
            </a:r>
            <a:r>
              <a:rPr lang="fr-FR" sz="3600" dirty="0"/>
              <a:t>pour permettre l’évacuation des urines. 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58678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7" y="-55178"/>
            <a:ext cx="10155695" cy="10011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67" y="-55178"/>
            <a:ext cx="1213253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 </a:t>
            </a:r>
            <a:endParaRPr lang="fr-FR" sz="3600" dirty="0"/>
          </a:p>
          <a:p>
            <a:endParaRPr lang="fr-FR" sz="3600" dirty="0" smtClean="0"/>
          </a:p>
          <a:p>
            <a:r>
              <a:rPr lang="fr-FR" sz="3600" dirty="0" smtClean="0"/>
              <a:t>Le </a:t>
            </a:r>
            <a:r>
              <a:rPr lang="fr-FR" sz="3600" dirty="0"/>
              <a:t>patient devrait être soulagé et être à l’abri de toutes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complications </a:t>
            </a:r>
            <a:r>
              <a:rPr lang="fr-FR" sz="3600" dirty="0"/>
              <a:t>immédiates, avant d’être admis dans un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service </a:t>
            </a:r>
            <a:r>
              <a:rPr lang="fr-FR" sz="3600" dirty="0"/>
              <a:t>spécialisé pour des investigations adéquates et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une </a:t>
            </a:r>
            <a:r>
              <a:rPr lang="fr-FR" sz="3600" dirty="0"/>
              <a:t>meilleure prise en charge.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626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987" y="254441"/>
            <a:ext cx="9978895" cy="9692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fr-FR" sz="4000" b="1" dirty="0">
                <a:solidFill>
                  <a:srgbClr val="FF0000"/>
                </a:solidFill>
              </a:rPr>
              <a:t>RECUEIL DES URINES POUR ANALYSE</a:t>
            </a:r>
            <a:br>
              <a:rPr lang="fr-FR" sz="4000" b="1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1318" y="1383527"/>
            <a:ext cx="120806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/>
              <a:t>L’analyse d’urines fournit un grand nombre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renseignements</a:t>
            </a:r>
            <a:r>
              <a:rPr lang="fr-FR" sz="3600" dirty="0"/>
              <a:t>.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Généralement </a:t>
            </a:r>
            <a:r>
              <a:rPr lang="fr-FR" sz="3600" dirty="0"/>
              <a:t>et normalement, on effectue une analyse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d’urines </a:t>
            </a:r>
            <a:r>
              <a:rPr lang="fr-FR" sz="3600" dirty="0"/>
              <a:t>à l’admission du patient ou avant une intervention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 chirurgicale</a:t>
            </a:r>
            <a:r>
              <a:rPr lang="fr-FR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8546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666" y="159026"/>
            <a:ext cx="10416216" cy="13835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4000" b="1" dirty="0">
                <a:solidFill>
                  <a:srgbClr val="FF0000"/>
                </a:solidFill>
              </a:rPr>
              <a:t>RECUEIL DES URINES POUR ANALYSE</a:t>
            </a:r>
            <a:br>
              <a:rPr lang="fr-FR" sz="4000" b="1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311965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Elle </a:t>
            </a:r>
            <a:r>
              <a:rPr lang="fr-FR" sz="3600" dirty="0"/>
              <a:t>comprend l’évaluation des points suivants </a:t>
            </a:r>
            <a:r>
              <a:rPr lang="fr-FR" sz="3600" dirty="0" smtClean="0"/>
              <a:t>: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pPr marL="742950" indent="-742950">
              <a:buAutoNum type="arabicPeriod"/>
            </a:pPr>
            <a:r>
              <a:rPr lang="fr-FR" sz="3600" dirty="0" smtClean="0"/>
              <a:t>la </a:t>
            </a:r>
            <a:r>
              <a:rPr lang="fr-FR" sz="3600" dirty="0"/>
              <a:t>couleur et la limpidité (limpide ou claire</a:t>
            </a:r>
            <a:r>
              <a:rPr lang="fr-FR" sz="3600" dirty="0" smtClean="0"/>
              <a:t>)</a:t>
            </a:r>
          </a:p>
          <a:p>
            <a:r>
              <a:rPr lang="fr-FR" sz="3600" dirty="0" smtClean="0"/>
              <a:t> </a:t>
            </a:r>
            <a:endParaRPr lang="fr-FR" sz="3600" dirty="0"/>
          </a:p>
          <a:p>
            <a:pPr marL="742950" indent="-742950">
              <a:buAutoNum type="arabicPeriod" startAt="2"/>
            </a:pPr>
            <a:r>
              <a:rPr lang="fr-FR" sz="3600" dirty="0" smtClean="0"/>
              <a:t>l’odeur </a:t>
            </a:r>
          </a:p>
          <a:p>
            <a:endParaRPr lang="fr-FR" sz="3600" dirty="0"/>
          </a:p>
          <a:p>
            <a:r>
              <a:rPr lang="fr-FR" sz="3600" dirty="0"/>
              <a:t>3.	le PH et la densité </a:t>
            </a:r>
          </a:p>
        </p:txBody>
      </p:sp>
    </p:spTree>
    <p:extLst>
      <p:ext uri="{BB962C8B-B14F-4D97-AF65-F5344CB8AC3E}">
        <p14:creationId xmlns:p14="http://schemas.microsoft.com/office/powerpoint/2010/main" val="104265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4000" b="1" dirty="0">
                <a:solidFill>
                  <a:srgbClr val="FF0000"/>
                </a:solidFill>
              </a:rPr>
              <a:t>RECUEIL DES URINES POUR ANALYSE</a:t>
            </a:r>
            <a:br>
              <a:rPr lang="fr-FR" sz="4000" b="1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5172" y="1574358"/>
            <a:ext cx="120568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/>
          </a:p>
          <a:p>
            <a:pPr marL="742950" indent="-742950">
              <a:buAutoNum type="arabicPeriod" startAt="4"/>
            </a:pPr>
            <a:r>
              <a:rPr lang="fr-FR" sz="3600" dirty="0" smtClean="0"/>
              <a:t>recherche </a:t>
            </a:r>
            <a:r>
              <a:rPr lang="fr-FR" sz="3600" dirty="0"/>
              <a:t>de protéine (protéinurie), de glucose </a:t>
            </a:r>
            <a:endParaRPr lang="fr-FR" sz="3600" dirty="0" smtClean="0"/>
          </a:p>
          <a:p>
            <a:endParaRPr lang="fr-FR" sz="3600" dirty="0"/>
          </a:p>
          <a:p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  (</a:t>
            </a:r>
            <a:r>
              <a:rPr lang="fr-FR" sz="3600" dirty="0"/>
              <a:t>glycosurie) et de corps cétoniques (cétonurie).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81691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455" y="252248"/>
            <a:ext cx="10280427" cy="8119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fr-FR" sz="4000" b="1" dirty="0">
                <a:solidFill>
                  <a:srgbClr val="FF0000"/>
                </a:solidFill>
              </a:rPr>
              <a:t>RECUEIL DES URINES POUR ANALYSE</a:t>
            </a:r>
            <a:br>
              <a:rPr lang="fr-FR" sz="4000" b="1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358" y="1064172"/>
            <a:ext cx="12081641" cy="6711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/>
          </a:p>
          <a:p>
            <a:pPr marL="742950" indent="-742950">
              <a:buAutoNum type="arabicPeriod" startAt="4"/>
            </a:pPr>
            <a:r>
              <a:rPr lang="fr-FR" sz="3600" dirty="0" smtClean="0"/>
              <a:t>recherche </a:t>
            </a:r>
            <a:r>
              <a:rPr lang="fr-FR" sz="3600" dirty="0"/>
              <a:t>de protéine (protéinurie), de glucose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(</a:t>
            </a:r>
            <a:r>
              <a:rPr lang="fr-FR" sz="3600" dirty="0"/>
              <a:t>glycosurie) et de corps cétoniques (cétonurie).</a:t>
            </a:r>
          </a:p>
          <a:p>
            <a:endParaRPr lang="fr-FR" sz="3600" dirty="0"/>
          </a:p>
          <a:p>
            <a:pPr marL="742950" indent="-742950">
              <a:buAutoNum type="arabicPeriod" startAt="5"/>
            </a:pPr>
            <a:r>
              <a:rPr lang="fr-FR" sz="3600" dirty="0" smtClean="0"/>
              <a:t>examen </a:t>
            </a:r>
            <a:r>
              <a:rPr lang="fr-FR" sz="3600" dirty="0"/>
              <a:t>microscopique du sédiment pour déceler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présence </a:t>
            </a:r>
            <a:r>
              <a:rPr lang="fr-FR" sz="3600" dirty="0"/>
              <a:t>de globules rouges, de globules blancs,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cylindres</a:t>
            </a:r>
            <a:r>
              <a:rPr lang="fr-FR" sz="3600" dirty="0"/>
              <a:t>, de cristaux, de pus et de bactéries (ECBU) </a:t>
            </a:r>
          </a:p>
          <a:p>
            <a:r>
              <a:rPr lang="fr-FR" sz="3600" dirty="0" smtClean="0"/>
              <a:t>.</a:t>
            </a:r>
            <a:endParaRPr lang="fr-FR" sz="3600" dirty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47349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4000" b="1" dirty="0">
                <a:solidFill>
                  <a:srgbClr val="FF0000"/>
                </a:solidFill>
              </a:rPr>
              <a:t>RECUEIL DES URINES POUR ANALYSE</a:t>
            </a:r>
            <a:br>
              <a:rPr lang="fr-FR" sz="4000" b="1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311965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AutoNum type="arabicPeriod" startAt="6"/>
            </a:pPr>
            <a:r>
              <a:rPr lang="fr-FR" sz="3600" dirty="0" smtClean="0"/>
              <a:t>faire </a:t>
            </a:r>
            <a:r>
              <a:rPr lang="fr-FR" sz="3600" dirty="0"/>
              <a:t>un antibiogramme en vue d’instituer un </a:t>
            </a:r>
            <a:endParaRPr lang="fr-FR" sz="3600" dirty="0" smtClean="0"/>
          </a:p>
          <a:p>
            <a:pPr marL="742950" indent="-742950">
              <a:buAutoNum type="arabicPeriod" startAt="6"/>
            </a:pPr>
            <a:endParaRPr lang="fr-FR" sz="3600" dirty="0"/>
          </a:p>
          <a:p>
            <a:r>
              <a:rPr lang="fr-FR" sz="3600" dirty="0" smtClean="0"/>
              <a:t>      traitement</a:t>
            </a:r>
            <a:r>
              <a:rPr lang="fr-FR" sz="3600" dirty="0"/>
              <a:t>.</a:t>
            </a:r>
          </a:p>
          <a:p>
            <a:endParaRPr lang="fr-FR" sz="3600" dirty="0" smtClean="0"/>
          </a:p>
          <a:p>
            <a:r>
              <a:rPr lang="fr-FR" sz="3600" dirty="0" smtClean="0"/>
              <a:t>NB </a:t>
            </a:r>
            <a:r>
              <a:rPr lang="fr-FR" sz="3600" dirty="0"/>
              <a:t>: En présence de certains symptômes, on utilise une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bandelette </a:t>
            </a:r>
            <a:r>
              <a:rPr lang="fr-FR" sz="3600" dirty="0"/>
              <a:t>réactive pour dépister rapidement. </a:t>
            </a:r>
            <a:endParaRPr lang="fr-FR" sz="3600" dirty="0" smtClean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04565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4000" b="1" dirty="0">
                <a:solidFill>
                  <a:srgbClr val="FF0000"/>
                </a:solidFill>
              </a:rPr>
              <a:t>RECUEIL DES URINES POUR ANALYSE</a:t>
            </a:r>
            <a:br>
              <a:rPr lang="fr-FR" sz="4000" b="1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311965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 La </a:t>
            </a:r>
            <a:r>
              <a:rPr lang="fr-FR" sz="3600" dirty="0"/>
              <a:t>présence d’hémoglobine, de corps cétoniques, de </a:t>
            </a:r>
          </a:p>
          <a:p>
            <a:endParaRPr lang="fr-FR" sz="3600" dirty="0" smtClean="0"/>
          </a:p>
          <a:p>
            <a:r>
              <a:rPr lang="fr-FR" sz="3600" dirty="0" smtClean="0"/>
              <a:t>glucose</a:t>
            </a:r>
            <a:r>
              <a:rPr lang="fr-FR" sz="3600" dirty="0"/>
              <a:t>, de protéine et leucocytes.</a:t>
            </a:r>
          </a:p>
          <a:p>
            <a:endParaRPr lang="fr-FR" sz="3600" dirty="0"/>
          </a:p>
          <a:p>
            <a:r>
              <a:rPr lang="fr-FR" sz="3600" dirty="0"/>
              <a:t>De nombreuses autres analyses peuvent être faites dans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des </a:t>
            </a:r>
            <a:r>
              <a:rPr lang="fr-FR" sz="3600" dirty="0"/>
              <a:t>situations particulières.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67246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smtClean="0">
                <a:solidFill>
                  <a:srgbClr val="FF0000"/>
                </a:solidFill>
              </a:rPr>
              <a:t>LA THERMOREGULATION</a:t>
            </a:r>
            <a:r>
              <a:rPr lang="fr-FR" sz="4000" b="1" dirty="0"/>
              <a:t/>
            </a:r>
            <a:br>
              <a:rPr lang="fr-FR" sz="4000" b="1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710" y="1745942"/>
            <a:ext cx="121052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I- </a:t>
            </a:r>
            <a:r>
              <a:rPr lang="fr-FR" sz="3600" b="1" dirty="0" smtClean="0">
                <a:solidFill>
                  <a:srgbClr val="0070C0"/>
                </a:solidFill>
              </a:rPr>
              <a:t>DEFINITION (1/3) :</a:t>
            </a:r>
          </a:p>
          <a:p>
            <a:endParaRPr lang="fr-FR" sz="3600" b="1" dirty="0">
              <a:solidFill>
                <a:srgbClr val="0070C0"/>
              </a:solidFill>
            </a:endParaRPr>
          </a:p>
          <a:p>
            <a:r>
              <a:rPr lang="fr-FR" sz="3600" dirty="0"/>
              <a:t>La thermorégulation est un mécanisme physiologique qui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maintient </a:t>
            </a:r>
            <a:r>
              <a:rPr lang="fr-FR" sz="3600" dirty="0"/>
              <a:t>constante la température interne de l’homme et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 </a:t>
            </a:r>
            <a:r>
              <a:rPr lang="fr-FR" sz="3600" dirty="0"/>
              <a:t>tous les homéothermes. </a:t>
            </a:r>
          </a:p>
        </p:txBody>
      </p:sp>
    </p:spTree>
    <p:extLst>
      <p:ext uri="{BB962C8B-B14F-4D97-AF65-F5344CB8AC3E}">
        <p14:creationId xmlns:p14="http://schemas.microsoft.com/office/powerpoint/2010/main" val="146974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</a:rPr>
              <a:t>I- DEFINTION (2/3)</a:t>
            </a:r>
            <a:r>
              <a:rPr lang="fr-FR" sz="4000" b="1" dirty="0"/>
              <a:t/>
            </a:r>
            <a:br>
              <a:rPr lang="fr-FR" sz="4000" b="1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710" y="1745942"/>
            <a:ext cx="121052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C’est </a:t>
            </a:r>
            <a:r>
              <a:rPr lang="fr-FR" sz="3600" dirty="0"/>
              <a:t>un équilibre précis entre les mécanismes chimiques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producteurs </a:t>
            </a:r>
            <a:r>
              <a:rPr lang="fr-FR" sz="3600" dirty="0"/>
              <a:t>de chaleur et les phénomènes physiques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dissipant.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94034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</a:rPr>
              <a:t>I- DEFINITION (3/3)</a:t>
            </a:r>
            <a:r>
              <a:rPr lang="fr-FR" sz="4000" b="1" dirty="0"/>
              <a:t/>
            </a:r>
            <a:br>
              <a:rPr lang="fr-FR" sz="4000" b="1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710" y="1745942"/>
            <a:ext cx="121052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Le </a:t>
            </a:r>
            <a:r>
              <a:rPr lang="fr-FR" sz="3600" dirty="0"/>
              <a:t>réglage est fait par le centre nerveux thermorégulateur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situé </a:t>
            </a:r>
            <a:r>
              <a:rPr lang="fr-FR" sz="3600" dirty="0"/>
              <a:t>dans le diencéphale, et par le contrôle endocrinien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du </a:t>
            </a:r>
            <a:r>
              <a:rPr lang="fr-FR" sz="3600" dirty="0"/>
              <a:t>métabolisme qui est sous la dépendance de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thyroïde</a:t>
            </a:r>
            <a:r>
              <a:rPr lang="fr-F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258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II- LUTTE CONTRE LE </a:t>
            </a:r>
            <a:r>
              <a:rPr lang="fr-FR" sz="4000" dirty="0" smtClean="0">
                <a:solidFill>
                  <a:srgbClr val="0070C0"/>
                </a:solidFill>
              </a:rPr>
              <a:t>FROID (1/3)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5538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Elle </a:t>
            </a:r>
            <a:r>
              <a:rPr lang="fr-FR" sz="3600" dirty="0"/>
              <a:t>s’effectue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Par </a:t>
            </a:r>
            <a:r>
              <a:rPr lang="fr-FR" sz="3600" dirty="0"/>
              <a:t>augmentation de la production de chaleur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     (</a:t>
            </a:r>
            <a:r>
              <a:rPr lang="fr-FR" sz="3600" dirty="0"/>
              <a:t>thermogénèse) </a:t>
            </a:r>
            <a:r>
              <a:rPr lang="fr-FR" sz="3600" dirty="0" smtClean="0"/>
              <a:t>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66103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8" y="1"/>
            <a:ext cx="10102666" cy="1223681"/>
          </a:xfrm>
        </p:spPr>
        <p:txBody>
          <a:bodyPr>
            <a:normAutofit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II- LUTTE CONTRE LE </a:t>
            </a:r>
            <a:r>
              <a:rPr lang="fr-FR" sz="4000" dirty="0" smtClean="0">
                <a:solidFill>
                  <a:srgbClr val="0070C0"/>
                </a:solidFill>
              </a:rPr>
              <a:t>FROID(2/3)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5538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C’est </a:t>
            </a:r>
            <a:r>
              <a:rPr lang="fr-FR" sz="3600" dirty="0"/>
              <a:t>une augmentation générale du métabolisme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cellulaire </a:t>
            </a:r>
            <a:r>
              <a:rPr lang="fr-FR" sz="3600" dirty="0"/>
              <a:t>et la mise en jeu des muscles du squelette,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aboutissant </a:t>
            </a:r>
            <a:r>
              <a:rPr lang="fr-FR" sz="3600" dirty="0"/>
              <a:t>au frisson qui augmente les combustions</a:t>
            </a:r>
            <a:r>
              <a:rPr lang="fr-FR" sz="3600" dirty="0" smtClean="0"/>
              <a:t>.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98824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7" y="937846"/>
            <a:ext cx="10362086" cy="1207477"/>
          </a:xfrm>
        </p:spPr>
        <p:txBody>
          <a:bodyPr>
            <a:normAutofit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II- LUTTE CONTRE LE </a:t>
            </a:r>
            <a:r>
              <a:rPr lang="fr-FR" sz="4000" dirty="0" smtClean="0">
                <a:solidFill>
                  <a:srgbClr val="0070C0"/>
                </a:solidFill>
              </a:rPr>
              <a:t>FROID (3/3)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55380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dirty="0" smtClean="0"/>
              <a:t>Par </a:t>
            </a:r>
            <a:r>
              <a:rPr lang="fr-FR" sz="3600" dirty="0"/>
              <a:t>une réduction des pertes : absence de sudation et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vasoconstriction </a:t>
            </a:r>
            <a:r>
              <a:rPr lang="fr-FR" sz="3600" dirty="0"/>
              <a:t>cutanée (diminution du calibre des artères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et </a:t>
            </a:r>
            <a:r>
              <a:rPr lang="fr-FR" sz="3600" dirty="0"/>
              <a:t>des veines par contraction de leurs fibres musculaires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lisses</a:t>
            </a:r>
            <a:r>
              <a:rPr lang="fr-FR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0955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316" y="0"/>
            <a:ext cx="10090484" cy="113096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III- LUTTE CONTRE LA CHALEUR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2295" y="1363579"/>
            <a:ext cx="1207970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Elle </a:t>
            </a:r>
            <a:r>
              <a:rPr lang="fr-FR" sz="3600" dirty="0"/>
              <a:t>s’effectue par la thermolyse qui est une déperdition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chaleur</a:t>
            </a:r>
            <a:r>
              <a:rPr lang="fr-FR" sz="3600" dirty="0"/>
              <a:t>.</a:t>
            </a:r>
          </a:p>
          <a:p>
            <a:endParaRPr lang="fr-FR" sz="3600" dirty="0" smtClean="0"/>
          </a:p>
          <a:p>
            <a:r>
              <a:rPr lang="fr-FR" sz="3600" dirty="0" smtClean="0"/>
              <a:t>C’est </a:t>
            </a:r>
            <a:r>
              <a:rPr lang="fr-FR" sz="3600" dirty="0"/>
              <a:t>presque exclusivement une augmentation des pertes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: </a:t>
            </a:r>
            <a:r>
              <a:rPr lang="fr-FR" sz="3600" dirty="0"/>
              <a:t>sudation et vasodilatation avec une réduction </a:t>
            </a:r>
            <a:endParaRPr lang="fr-FR" sz="3600" dirty="0" smtClean="0"/>
          </a:p>
          <a:p>
            <a:endParaRPr lang="fr-FR" sz="3600" dirty="0" smtClean="0"/>
          </a:p>
          <a:p>
            <a:r>
              <a:rPr lang="fr-FR" sz="3600" dirty="0" smtClean="0"/>
              <a:t>métabolique faible</a:t>
            </a:r>
            <a:r>
              <a:rPr lang="fr-FR" sz="3600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176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21" y="312823"/>
            <a:ext cx="10379242" cy="149993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IV- L’HOMEOTHERMIE 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" y="1467854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C’est </a:t>
            </a:r>
            <a:r>
              <a:rPr lang="fr-FR" sz="3600" dirty="0"/>
              <a:t>le résultat de la thermorégulation.</a:t>
            </a:r>
          </a:p>
          <a:p>
            <a:endParaRPr lang="fr-FR" sz="3600" dirty="0" smtClean="0"/>
          </a:p>
          <a:p>
            <a:r>
              <a:rPr lang="fr-FR" sz="3600" dirty="0" smtClean="0"/>
              <a:t>On </a:t>
            </a:r>
            <a:r>
              <a:rPr lang="fr-FR" sz="3600" dirty="0"/>
              <a:t>dit que l’homme est homéotherme parce qu’il a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faculté </a:t>
            </a:r>
            <a:r>
              <a:rPr lang="fr-FR" sz="3600" dirty="0"/>
              <a:t>de maintenir sa température constante et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s’adapter </a:t>
            </a:r>
            <a:r>
              <a:rPr lang="fr-FR" sz="3600" dirty="0"/>
              <a:t>aux contraintes climatiques.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54854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83" y="192506"/>
            <a:ext cx="10329799" cy="19528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V- LES CENTRES DE LA THERMOREGULATION </a:t>
            </a:r>
            <a:r>
              <a:rPr lang="fr-FR" sz="4000" dirty="0" smtClean="0">
                <a:solidFill>
                  <a:srgbClr val="0070C0"/>
                </a:solidFill>
              </a:rPr>
              <a:t>(1/2)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253" y="1223682"/>
            <a:ext cx="120957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Ces </a:t>
            </a:r>
            <a:r>
              <a:rPr lang="fr-FR" sz="3600" dirty="0"/>
              <a:t>centres sont sous la dépendance du système nerveux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central 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b="1" dirty="0" smtClean="0"/>
              <a:t>la </a:t>
            </a:r>
            <a:r>
              <a:rPr lang="fr-FR" sz="3600" b="1" dirty="0"/>
              <a:t>moelle épinière </a:t>
            </a:r>
            <a:r>
              <a:rPr lang="fr-FR" sz="3600" dirty="0"/>
              <a:t>: conductrice sensitive qui permet la </a:t>
            </a:r>
            <a:endParaRPr lang="fr-FR" sz="3600" dirty="0" smtClean="0"/>
          </a:p>
          <a:p>
            <a:endParaRPr lang="fr-FR" sz="3600" dirty="0" smtClean="0"/>
          </a:p>
          <a:p>
            <a:r>
              <a:rPr lang="fr-FR" sz="3600" dirty="0" smtClean="0"/>
              <a:t>sudation </a:t>
            </a:r>
            <a:r>
              <a:rPr lang="fr-FR" sz="3600" dirty="0"/>
              <a:t>réflexe.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63419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83" y="192506"/>
            <a:ext cx="10329799" cy="19528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V- LES CENTRES DE LA </a:t>
            </a:r>
            <a:r>
              <a:rPr lang="fr-FR" sz="4000" dirty="0" smtClean="0">
                <a:solidFill>
                  <a:srgbClr val="0070C0"/>
                </a:solidFill>
              </a:rPr>
              <a:t>THERMOREGULATION(2/2) 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253" y="1223682"/>
            <a:ext cx="1209574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b="1" dirty="0" smtClean="0"/>
              <a:t>l’hypothalamus </a:t>
            </a:r>
            <a:r>
              <a:rPr lang="fr-FR" sz="3600" dirty="0"/>
              <a:t>qui régule la température corporelle.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  Il </a:t>
            </a:r>
            <a:r>
              <a:rPr lang="fr-FR" sz="3600" dirty="0"/>
              <a:t>contrôle l’activité des glandes (hypophyse, thyroïde,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surrénales</a:t>
            </a:r>
            <a:r>
              <a:rPr lang="fr-FR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6884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83" y="192506"/>
            <a:ext cx="10329799" cy="19528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/>
              <a:t/>
            </a:r>
            <a:br>
              <a:rPr lang="fr-FR" sz="4000" dirty="0" smtClean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VI- </a:t>
            </a:r>
            <a:r>
              <a:rPr lang="fr-FR" sz="4000" dirty="0">
                <a:solidFill>
                  <a:srgbClr val="0070C0"/>
                </a:solidFill>
              </a:rPr>
              <a:t>LA MISE EN JEU DES CENTRES DE LA </a:t>
            </a:r>
            <a:r>
              <a:rPr lang="fr-FR" sz="4000" dirty="0" smtClean="0">
                <a:solidFill>
                  <a:srgbClr val="0070C0"/>
                </a:solidFill>
              </a:rPr>
              <a:t>THERMOREGULATION (1/3)</a:t>
            </a:r>
            <a:r>
              <a:rPr lang="fr-FR" sz="4000" dirty="0">
                <a:solidFill>
                  <a:srgbClr val="0070C0"/>
                </a:solidFill>
              </a:rPr>
              <a:t/>
            </a:r>
            <a:br>
              <a:rPr lang="fr-FR" sz="4000" dirty="0">
                <a:solidFill>
                  <a:srgbClr val="0070C0"/>
                </a:solidFill>
              </a:rPr>
            </a:br>
            <a:r>
              <a:rPr lang="fr-FR" sz="4000" dirty="0">
                <a:solidFill>
                  <a:srgbClr val="0070C0"/>
                </a:solidFill>
              </a:rPr>
              <a:t/>
            </a:r>
            <a:br>
              <a:rPr lang="fr-FR" sz="4000" dirty="0">
                <a:solidFill>
                  <a:srgbClr val="0070C0"/>
                </a:solidFill>
              </a:rPr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" y="154502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Des </a:t>
            </a:r>
            <a:r>
              <a:rPr lang="fr-FR" sz="3600" dirty="0"/>
              <a:t>thermorécepteurs vont évaluer la température centrale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et </a:t>
            </a:r>
            <a:r>
              <a:rPr lang="fr-FR" sz="3600" dirty="0"/>
              <a:t>envoyer leurs informations à l’hypothalamus. Il existe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deux </a:t>
            </a:r>
            <a:r>
              <a:rPr lang="fr-FR" sz="3600" dirty="0"/>
              <a:t>types de thermorécepteurs </a:t>
            </a:r>
            <a:r>
              <a:rPr lang="fr-FR" sz="3600" dirty="0" smtClean="0"/>
              <a:t>: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56648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83" y="192506"/>
            <a:ext cx="10329799" cy="19528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/>
              <a:t/>
            </a:r>
            <a:br>
              <a:rPr lang="fr-FR" sz="4000" dirty="0" smtClean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VI- </a:t>
            </a:r>
            <a:r>
              <a:rPr lang="fr-FR" sz="4000" dirty="0">
                <a:solidFill>
                  <a:srgbClr val="0070C0"/>
                </a:solidFill>
              </a:rPr>
              <a:t>LA MISE EN JEU DES CENTRES DE LA </a:t>
            </a:r>
            <a:r>
              <a:rPr lang="fr-FR" sz="4000" dirty="0" smtClean="0">
                <a:solidFill>
                  <a:srgbClr val="0070C0"/>
                </a:solidFill>
              </a:rPr>
              <a:t>THERMOREGULATION(2/3)</a:t>
            </a:r>
            <a:r>
              <a:rPr lang="fr-FR" sz="4000" dirty="0">
                <a:solidFill>
                  <a:srgbClr val="0070C0"/>
                </a:solidFill>
              </a:rPr>
              <a:t/>
            </a:r>
            <a:br>
              <a:rPr lang="fr-FR" sz="4000" dirty="0">
                <a:solidFill>
                  <a:srgbClr val="0070C0"/>
                </a:solidFill>
              </a:rPr>
            </a:br>
            <a:r>
              <a:rPr lang="fr-FR" sz="4000" dirty="0">
                <a:solidFill>
                  <a:srgbClr val="0070C0"/>
                </a:solidFill>
              </a:rPr>
              <a:t/>
            </a:r>
            <a:br>
              <a:rPr lang="fr-FR" sz="4000" dirty="0">
                <a:solidFill>
                  <a:srgbClr val="0070C0"/>
                </a:solidFill>
              </a:rPr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331495"/>
            <a:ext cx="1219200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</a:t>
            </a:r>
            <a:r>
              <a:rPr lang="fr-FR" sz="3600" dirty="0"/>
              <a:t>	</a:t>
            </a:r>
            <a:r>
              <a:rPr lang="fr-FR" sz="3600" b="1" dirty="0"/>
              <a:t>Thermorécepteurs profonds </a:t>
            </a:r>
            <a:r>
              <a:rPr lang="fr-FR" sz="3600" dirty="0"/>
              <a:t>: sensibles à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température </a:t>
            </a:r>
            <a:r>
              <a:rPr lang="fr-FR" sz="3600" dirty="0"/>
              <a:t>qui les baigne. Ils envoient l’information par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voie </a:t>
            </a:r>
            <a:r>
              <a:rPr lang="fr-FR" sz="3600" dirty="0"/>
              <a:t>sanguine à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r>
              <a:rPr lang="fr-FR" sz="3600" dirty="0"/>
              <a:t>-	l’hypothalamus,</a:t>
            </a:r>
          </a:p>
          <a:p>
            <a:r>
              <a:rPr lang="fr-FR" sz="3600" dirty="0"/>
              <a:t>-	la moelle épinière,</a:t>
            </a:r>
          </a:p>
          <a:p>
            <a:r>
              <a:rPr lang="fr-FR" sz="3600" dirty="0"/>
              <a:t>-	les viscères abdominaux.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998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83" y="192506"/>
            <a:ext cx="10329799" cy="19528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/>
              <a:t/>
            </a:r>
            <a:br>
              <a:rPr lang="fr-FR" sz="4000" dirty="0" smtClean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VI- </a:t>
            </a:r>
            <a:r>
              <a:rPr lang="fr-FR" sz="4000" dirty="0">
                <a:solidFill>
                  <a:srgbClr val="0070C0"/>
                </a:solidFill>
              </a:rPr>
              <a:t>LA MISE EN JEU DES CENTRES DE LA </a:t>
            </a:r>
            <a:r>
              <a:rPr lang="fr-FR" sz="4000" dirty="0" smtClean="0">
                <a:solidFill>
                  <a:srgbClr val="0070C0"/>
                </a:solidFill>
              </a:rPr>
              <a:t>THERMOREGULATION(3/3)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" y="1686910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</a:t>
            </a:r>
            <a:r>
              <a:rPr lang="fr-FR" dirty="0"/>
              <a:t>	</a:t>
            </a:r>
            <a:r>
              <a:rPr lang="fr-FR" sz="3600" b="1" dirty="0"/>
              <a:t>Thermorécepteurs superficiels </a:t>
            </a:r>
            <a:r>
              <a:rPr lang="fr-FR" sz="3600" dirty="0"/>
              <a:t>: situés au niveau de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peau</a:t>
            </a:r>
            <a:r>
              <a:rPr lang="fr-FR" sz="3600" dirty="0"/>
              <a:t>.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Ils </a:t>
            </a:r>
            <a:r>
              <a:rPr lang="fr-FR" sz="3600" dirty="0"/>
              <a:t>envoient l’information par voie nerveuse (la voie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KRAUSS </a:t>
            </a:r>
            <a:r>
              <a:rPr lang="fr-FR" sz="3600" dirty="0"/>
              <a:t>pour le froid, la voie pour le chaud).</a:t>
            </a:r>
          </a:p>
          <a:p>
            <a:endParaRPr lang="fr-FR" sz="3600" dirty="0"/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92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/>
              <a:t/>
            </a:r>
            <a:br>
              <a:rPr lang="fr-FR" sz="4000" dirty="0" smtClean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3600" dirty="0">
                <a:solidFill>
                  <a:srgbClr val="0070C0"/>
                </a:solidFill>
              </a:rPr>
              <a:t>VII- LE METABOLISME BASAL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Le </a:t>
            </a:r>
            <a:r>
              <a:rPr lang="fr-FR" sz="3600" dirty="0"/>
              <a:t>métabolisme basal est la production de chaleur du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corps </a:t>
            </a:r>
            <a:r>
              <a:rPr lang="fr-FR" sz="3600" dirty="0"/>
              <a:t>humain par heure et par mètre carré de la surface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corporelle </a:t>
            </a:r>
            <a:r>
              <a:rPr lang="fr-FR" sz="3600" dirty="0"/>
              <a:t>lorsque le sujet est au repos ou a une neutralité </a:t>
            </a:r>
            <a:endParaRPr lang="fr-FR" sz="3600" dirty="0" smtClean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76407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/>
              <a:t/>
            </a:r>
            <a:br>
              <a:rPr lang="fr-FR" sz="4000" dirty="0" smtClean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3600" dirty="0">
                <a:solidFill>
                  <a:srgbClr val="0070C0"/>
                </a:solidFill>
              </a:rPr>
              <a:t>VII- LE METABOLISME BASAL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1890" y="851338"/>
            <a:ext cx="1205011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 Le </a:t>
            </a:r>
            <a:r>
              <a:rPr lang="fr-FR" sz="3600" dirty="0"/>
              <a:t>métabolisme basal dépend de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La taille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Le poids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Le sexe</a:t>
            </a:r>
          </a:p>
          <a:p>
            <a:endParaRPr lang="fr-FR" sz="3600" dirty="0"/>
          </a:p>
          <a:p>
            <a:r>
              <a:rPr lang="fr-FR" sz="3600" dirty="0"/>
              <a:t>-	L’âge</a:t>
            </a:r>
          </a:p>
          <a:p>
            <a:r>
              <a:rPr lang="fr-FR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572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dirty="0"/>
              <a:t/>
            </a:r>
            <a:br>
              <a:rPr lang="fr-FR" sz="3600" dirty="0"/>
            </a:br>
            <a:r>
              <a:rPr lang="fr-FR" sz="3600" dirty="0">
                <a:solidFill>
                  <a:srgbClr val="0070C0"/>
                </a:solidFill>
              </a:rPr>
              <a:t>VIII- LA THERMOGENESE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C’est </a:t>
            </a:r>
            <a:r>
              <a:rPr lang="fr-FR" sz="2800" dirty="0"/>
              <a:t>la production de chaleur par l’organisme pour maintenir constante la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 smtClean="0"/>
              <a:t>température </a:t>
            </a:r>
            <a:r>
              <a:rPr lang="fr-FR" sz="2800" dirty="0"/>
              <a:t>interne.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 smtClean="0"/>
              <a:t>La </a:t>
            </a:r>
            <a:r>
              <a:rPr lang="fr-FR" sz="2800" dirty="0"/>
              <a:t>thermogenèse est réalisée par </a:t>
            </a:r>
            <a:r>
              <a:rPr lang="fr-FR" sz="2800" dirty="0" smtClean="0"/>
              <a:t>:</a:t>
            </a:r>
          </a:p>
          <a:p>
            <a:endParaRPr lang="fr-FR" sz="2800" dirty="0"/>
          </a:p>
          <a:p>
            <a:r>
              <a:rPr lang="fr-FR" sz="2800" dirty="0"/>
              <a:t>-	L’oxydation des réserves de protéines</a:t>
            </a:r>
          </a:p>
          <a:p>
            <a:r>
              <a:rPr lang="fr-FR" sz="2800" dirty="0"/>
              <a:t>-	Les contractures musculaires</a:t>
            </a:r>
          </a:p>
          <a:p>
            <a:r>
              <a:rPr lang="fr-FR" sz="2800" dirty="0"/>
              <a:t>-	Le foie</a:t>
            </a:r>
          </a:p>
          <a:p>
            <a:r>
              <a:rPr lang="fr-FR" sz="2800" dirty="0"/>
              <a:t>-	Les hormones.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918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r>
              <a:rPr lang="fr-FR" sz="3600" dirty="0">
                <a:solidFill>
                  <a:srgbClr val="0070C0"/>
                </a:solidFill>
              </a:rPr>
              <a:t>IX- LA </a:t>
            </a:r>
            <a:r>
              <a:rPr lang="fr-FR" sz="3600" dirty="0" smtClean="0">
                <a:solidFill>
                  <a:srgbClr val="0070C0"/>
                </a:solidFill>
              </a:rPr>
              <a:t>THERMOLYSE (1/4)</a:t>
            </a: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 smtClean="0"/>
          </a:p>
          <a:p>
            <a:r>
              <a:rPr lang="fr-FR" sz="3600" dirty="0" smtClean="0"/>
              <a:t>C’est </a:t>
            </a:r>
            <a:r>
              <a:rPr lang="fr-FR" sz="3600" dirty="0"/>
              <a:t>la déperdition de chaleur par l’organisme pour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maintenir </a:t>
            </a:r>
            <a:r>
              <a:rPr lang="fr-FR" sz="3600" dirty="0"/>
              <a:t>constante la température interne. </a:t>
            </a:r>
            <a:endParaRPr lang="fr-FR" sz="3600" dirty="0" smtClean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14924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r>
              <a:rPr lang="fr-FR" sz="3600" dirty="0">
                <a:solidFill>
                  <a:srgbClr val="0070C0"/>
                </a:solidFill>
              </a:rPr>
              <a:t>IX- LA </a:t>
            </a:r>
            <a:r>
              <a:rPr lang="fr-FR" sz="3600" dirty="0" smtClean="0">
                <a:solidFill>
                  <a:srgbClr val="0070C0"/>
                </a:solidFill>
              </a:rPr>
              <a:t>THERMOLYSE (2/4)</a:t>
            </a: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 smtClean="0"/>
          </a:p>
          <a:p>
            <a:r>
              <a:rPr lang="fr-FR" sz="3600" dirty="0" smtClean="0"/>
              <a:t>Elle </a:t>
            </a:r>
            <a:r>
              <a:rPr lang="fr-FR" sz="3600" dirty="0"/>
              <a:t>est réalisée par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b="1" dirty="0" smtClean="0"/>
              <a:t>La </a:t>
            </a:r>
            <a:r>
              <a:rPr lang="fr-FR" sz="3600" b="1" dirty="0"/>
              <a:t>radiation </a:t>
            </a:r>
            <a:r>
              <a:rPr lang="fr-FR" sz="3600" dirty="0"/>
              <a:t>: transport de la chaleur sous forme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d’infrarouge </a:t>
            </a:r>
            <a:r>
              <a:rPr lang="fr-FR" sz="3600" dirty="0"/>
              <a:t>d’un objet plus chaud à un objet plus froid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sans </a:t>
            </a:r>
            <a:r>
              <a:rPr lang="fr-FR" sz="3600" dirty="0"/>
              <a:t>contact.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04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r>
              <a:rPr lang="fr-FR" sz="3600" dirty="0">
                <a:solidFill>
                  <a:srgbClr val="0070C0"/>
                </a:solidFill>
              </a:rPr>
              <a:t>IX- LA </a:t>
            </a:r>
            <a:r>
              <a:rPr lang="fr-FR" sz="3600" dirty="0" smtClean="0">
                <a:solidFill>
                  <a:srgbClr val="0070C0"/>
                </a:solidFill>
              </a:rPr>
              <a:t>THERMOLYSE(3/4)</a:t>
            </a: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b="1" dirty="0" smtClean="0"/>
              <a:t>La </a:t>
            </a:r>
            <a:r>
              <a:rPr lang="fr-FR" sz="3600" b="1" dirty="0"/>
              <a:t>conduction </a:t>
            </a:r>
            <a:r>
              <a:rPr lang="fr-FR" sz="3600" dirty="0"/>
              <a:t>: transmission de la chaleur d’un </a:t>
            </a:r>
            <a:endParaRPr lang="fr-FR" sz="3600" dirty="0" smtClean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3600" dirty="0" smtClean="0"/>
              <a:t>    corps </a:t>
            </a:r>
            <a:r>
              <a:rPr lang="fr-FR" sz="3600" dirty="0"/>
              <a:t>à un autre par contact</a:t>
            </a:r>
            <a:r>
              <a:rPr lang="fr-FR" sz="3600" dirty="0" smtClean="0"/>
              <a:t>.</a:t>
            </a:r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62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r>
              <a:rPr lang="fr-FR" sz="3600" dirty="0">
                <a:solidFill>
                  <a:srgbClr val="0070C0"/>
                </a:solidFill>
              </a:rPr>
              <a:t>IX- LA </a:t>
            </a:r>
            <a:r>
              <a:rPr lang="fr-FR" sz="3600" dirty="0" smtClean="0">
                <a:solidFill>
                  <a:srgbClr val="0070C0"/>
                </a:solidFill>
              </a:rPr>
              <a:t>THERMOLYSE(4/4)</a:t>
            </a:r>
            <a:r>
              <a:rPr lang="fr-FR" sz="4000" dirty="0" smtClean="0">
                <a:solidFill>
                  <a:srgbClr val="0070C0"/>
                </a:solidFill>
              </a:rPr>
              <a:t> 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b="1" dirty="0" smtClean="0"/>
              <a:t>La </a:t>
            </a:r>
            <a:r>
              <a:rPr lang="fr-FR" sz="3600" b="1" dirty="0"/>
              <a:t>convection </a:t>
            </a:r>
            <a:r>
              <a:rPr lang="fr-FR" sz="3600" dirty="0"/>
              <a:t>: transfert de la chaleur par un corps </a:t>
            </a:r>
            <a:endParaRPr lang="fr-FR" sz="3600" dirty="0" smtClean="0"/>
          </a:p>
          <a:p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  en </a:t>
            </a:r>
            <a:r>
              <a:rPr lang="fr-FR" sz="3600" dirty="0"/>
              <a:t>mouvement</a:t>
            </a:r>
            <a:r>
              <a:rPr lang="fr-FR" sz="3600" dirty="0" smtClean="0"/>
              <a:t>.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b="1" dirty="0" smtClean="0"/>
              <a:t>L’évaporation </a:t>
            </a:r>
            <a:r>
              <a:rPr lang="fr-FR" sz="3600" b="1" dirty="0"/>
              <a:t>:</a:t>
            </a:r>
            <a:r>
              <a:rPr lang="fr-FR" sz="3600" dirty="0"/>
              <a:t> conversion d’un liquide en vapeur </a:t>
            </a:r>
            <a:r>
              <a:rPr lang="fr-FR" sz="3600" dirty="0" smtClean="0"/>
              <a:t> </a:t>
            </a:r>
          </a:p>
          <a:p>
            <a:endParaRPr lang="fr-FR" sz="3600" dirty="0"/>
          </a:p>
          <a:p>
            <a:r>
              <a:rPr lang="fr-FR" sz="3600" dirty="0" smtClean="0"/>
              <a:t>     (</a:t>
            </a:r>
            <a:r>
              <a:rPr lang="fr-FR" sz="3600" dirty="0"/>
              <a:t>sudation, respiration).</a:t>
            </a:r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068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970690" y="118241"/>
            <a:ext cx="71865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</a:rPr>
              <a:t>TEMPERATURE CORPORELLE ET LE THERMOMETRE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359" y="1392835"/>
            <a:ext cx="120212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</a:rPr>
              <a:t>I- LA TEMPERATURE</a:t>
            </a:r>
          </a:p>
          <a:p>
            <a:endParaRPr lang="fr-FR" sz="3600" dirty="0"/>
          </a:p>
          <a:p>
            <a:r>
              <a:rPr lang="fr-FR" sz="3600" b="1" dirty="0"/>
              <a:t>1.1. Définition :</a:t>
            </a:r>
          </a:p>
          <a:p>
            <a:endParaRPr lang="fr-FR" sz="3600" dirty="0" smtClean="0"/>
          </a:p>
          <a:p>
            <a:r>
              <a:rPr lang="fr-FR" sz="3600" dirty="0" smtClean="0"/>
              <a:t>La </a:t>
            </a:r>
            <a:r>
              <a:rPr lang="fr-FR" sz="3600" dirty="0"/>
              <a:t>température corporelle est la quantité de chaleur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stockée </a:t>
            </a:r>
            <a:r>
              <a:rPr lang="fr-FR" sz="3600" dirty="0"/>
              <a:t>par l’organisme humain</a:t>
            </a:r>
            <a:r>
              <a:rPr lang="fr-FR" sz="3600" dirty="0" smtClean="0"/>
              <a:t>.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24814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188" y="0"/>
            <a:ext cx="10155694" cy="1223682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970690" y="118241"/>
            <a:ext cx="71865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</a:rPr>
              <a:t>TEMPERATURE CORPORELLE ET LE THERMOMETRE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" y="1223683"/>
            <a:ext cx="12131566" cy="5247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</a:rPr>
              <a:t>I- LA TEMPERATURE</a:t>
            </a:r>
          </a:p>
          <a:p>
            <a:endParaRPr lang="fr-FR" sz="3600" dirty="0" smtClean="0"/>
          </a:p>
          <a:p>
            <a:r>
              <a:rPr lang="fr-FR" sz="3600" b="1" dirty="0" smtClean="0"/>
              <a:t>1.1</a:t>
            </a:r>
            <a:r>
              <a:rPr lang="fr-FR" sz="3600" b="1" dirty="0"/>
              <a:t>. Définition </a:t>
            </a:r>
          </a:p>
          <a:p>
            <a:endParaRPr lang="fr-FR" sz="3600" dirty="0"/>
          </a:p>
          <a:p>
            <a:r>
              <a:rPr lang="fr-FR" sz="3600" dirty="0"/>
              <a:t>Elle est sous le contrôle de l’hypothalamus et dépend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la </a:t>
            </a:r>
            <a:r>
              <a:rPr lang="fr-FR" sz="3600" dirty="0"/>
              <a:t>température sanguine et cutanée. La température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normale </a:t>
            </a:r>
            <a:r>
              <a:rPr lang="fr-FR" sz="3600" dirty="0"/>
              <a:t>est de 36 ,5 le matin et de 37,5 le soir.</a:t>
            </a:r>
          </a:p>
        </p:txBody>
      </p:sp>
    </p:spTree>
    <p:extLst>
      <p:ext uri="{BB962C8B-B14F-4D97-AF65-F5344CB8AC3E}">
        <p14:creationId xmlns:p14="http://schemas.microsoft.com/office/powerpoint/2010/main" val="212362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52248" y="86710"/>
            <a:ext cx="11879317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1.2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Variation de la température :</a:t>
            </a:r>
            <a:endParaRPr lang="fr-FR" sz="36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fr-FR" sz="3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température subit de légères variations de demi à un degré </a:t>
            </a:r>
            <a:endParaRPr lang="fr-FR" sz="3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fr-FR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Celsius </a:t>
            </a: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 24 H.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06780" algn="just">
              <a:lnSpc>
                <a:spcPct val="115000"/>
              </a:lnSpc>
              <a:spcAft>
                <a:spcPts val="0"/>
              </a:spcAft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21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0" y="86710"/>
            <a:ext cx="1213156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1.2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Variation de la température </a:t>
            </a:r>
            <a:r>
              <a:rPr lang="fr-FR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36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fr-FR" sz="36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1.2.1- 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Variations physiologiques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température varie avec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NOGPMF+TimesNewRoman"/>
              <a:buChar char="-"/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NOGPMF+TimesNewRoman"/>
              </a:rPr>
              <a:t>L’activité physique,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NOGPMF+TimesNew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NOGPMF+TimesNewRoman"/>
              <a:buChar char="-"/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NOGPMF+TimesNewRoman"/>
              </a:rPr>
              <a:t>L’âge,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NOGPMF+TimesNew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NOGPMF+TimesNewRoman"/>
              <a:buChar char="-"/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NOGPMF+TimesNewRoman"/>
              </a:rPr>
              <a:t>Le sexe, 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NOGPMF+TimesNew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NOGPMF+TimesNewRoman"/>
              <a:buChar char="-"/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NOGPMF+TimesNewRoman"/>
              </a:rPr>
              <a:t>Le climat, 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NOGPMF+TimesNew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NOGPMF+TimesNewRoman"/>
              <a:buChar char="-"/>
            </a:pP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NOGPMF+TimesNewRoman"/>
              </a:rPr>
              <a:t>Les régions anatomiques (température périphérique plus que la température interne).</a:t>
            </a:r>
            <a:endParaRPr lang="fr-F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NOGPMF+TimesNewRoman"/>
            </a:endParaRPr>
          </a:p>
        </p:txBody>
      </p:sp>
    </p:spTree>
    <p:extLst>
      <p:ext uri="{BB962C8B-B14F-4D97-AF65-F5344CB8AC3E}">
        <p14:creationId xmlns:p14="http://schemas.microsoft.com/office/powerpoint/2010/main" val="94565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179" y="105326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-63061" y="192506"/>
            <a:ext cx="122550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 smtClean="0"/>
              <a:t>           1.2.2</a:t>
            </a:r>
            <a:r>
              <a:rPr lang="fr-FR" sz="3600" b="1" dirty="0"/>
              <a:t>. Variations pathologiques </a:t>
            </a:r>
            <a:endParaRPr lang="fr-FR" sz="3600" b="1" dirty="0" smtClean="0"/>
          </a:p>
          <a:p>
            <a:endParaRPr lang="fr-FR" sz="3600" b="1" dirty="0"/>
          </a:p>
          <a:p>
            <a:r>
              <a:rPr lang="fr-FR" sz="3600" dirty="0"/>
              <a:t>Au-delà d’un certain seuil, la température corporelle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devient </a:t>
            </a:r>
            <a:r>
              <a:rPr lang="fr-FR" sz="3600" dirty="0"/>
              <a:t>soit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Hyperthermique </a:t>
            </a:r>
            <a:r>
              <a:rPr lang="fr-FR" sz="3600" dirty="0"/>
              <a:t>: température supérieure à la </a:t>
            </a:r>
            <a:r>
              <a:rPr lang="fr-FR" sz="3600" dirty="0" smtClean="0"/>
              <a:t>normale</a:t>
            </a:r>
          </a:p>
          <a:p>
            <a:endParaRPr lang="fr-FR" sz="3600" dirty="0"/>
          </a:p>
          <a:p>
            <a:r>
              <a:rPr lang="fr-FR" sz="3600" dirty="0"/>
              <a:t>-	Hypothermie : température inférieur à la normale.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40961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81153" y="0"/>
            <a:ext cx="119581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0070C0"/>
                </a:solidFill>
              </a:rPr>
              <a:t>       II- </a:t>
            </a:r>
            <a:r>
              <a:rPr lang="fr-FR" sz="3600" b="1" dirty="0">
                <a:solidFill>
                  <a:srgbClr val="0070C0"/>
                </a:solidFill>
              </a:rPr>
              <a:t>LE THERMOMETRE </a:t>
            </a:r>
            <a:r>
              <a:rPr lang="fr-FR" sz="3600" b="1" dirty="0" smtClean="0">
                <a:solidFill>
                  <a:srgbClr val="0070C0"/>
                </a:solidFill>
              </a:rPr>
              <a:t>MEDICAL</a:t>
            </a:r>
          </a:p>
          <a:p>
            <a:endParaRPr lang="fr-FR" dirty="0"/>
          </a:p>
          <a:p>
            <a:endParaRPr lang="fr-FR" dirty="0"/>
          </a:p>
          <a:p>
            <a:r>
              <a:rPr lang="fr-FR" sz="3600" dirty="0"/>
              <a:t>La température se prend à l’aide d’un thermomètre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gradué </a:t>
            </a:r>
            <a:r>
              <a:rPr lang="fr-FR" sz="3600" dirty="0"/>
              <a:t>à 1/10 de degré, basé sous la dilatation de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mercure</a:t>
            </a:r>
            <a:r>
              <a:rPr lang="fr-FR" sz="3600" dirty="0"/>
              <a:t>. </a:t>
            </a:r>
          </a:p>
          <a:p>
            <a:endParaRPr lang="fr-FR" sz="3600" dirty="0" smtClean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875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81153" y="0"/>
            <a:ext cx="11958144" cy="923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0070C0"/>
                </a:solidFill>
              </a:rPr>
              <a:t>       II- </a:t>
            </a:r>
            <a:r>
              <a:rPr lang="fr-FR" sz="3600" b="1" dirty="0">
                <a:solidFill>
                  <a:srgbClr val="0070C0"/>
                </a:solidFill>
              </a:rPr>
              <a:t>LE THERMOMETRE </a:t>
            </a:r>
            <a:r>
              <a:rPr lang="fr-FR" sz="3600" b="1" dirty="0" smtClean="0">
                <a:solidFill>
                  <a:srgbClr val="0070C0"/>
                </a:solidFill>
              </a:rPr>
              <a:t>MEDICAL</a:t>
            </a:r>
          </a:p>
          <a:p>
            <a:endParaRPr lang="fr-FR" dirty="0"/>
          </a:p>
          <a:p>
            <a:r>
              <a:rPr lang="fr-FR" sz="3600" dirty="0" smtClean="0"/>
              <a:t>Il est </a:t>
            </a:r>
            <a:r>
              <a:rPr lang="fr-FR" sz="3600" dirty="0"/>
              <a:t>composé de </a:t>
            </a:r>
            <a:r>
              <a:rPr lang="fr-FR" sz="3600" dirty="0" smtClean="0"/>
              <a:t>:</a:t>
            </a:r>
          </a:p>
          <a:p>
            <a:endParaRPr lang="fr-FR" sz="3600" dirty="0"/>
          </a:p>
          <a:p>
            <a:pPr marL="285750" indent="-285750">
              <a:buFontTx/>
              <a:buChar char="-"/>
            </a:pPr>
            <a:r>
              <a:rPr lang="fr-FR" sz="3600" smtClean="0"/>
              <a:t>  Un </a:t>
            </a:r>
            <a:r>
              <a:rPr lang="fr-FR" sz="3600" dirty="0"/>
              <a:t>réservoir contenant le mercure</a:t>
            </a:r>
            <a:r>
              <a:rPr lang="fr-FR" sz="3600" dirty="0" smtClean="0"/>
              <a:t>,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Une </a:t>
            </a:r>
            <a:r>
              <a:rPr lang="fr-FR" sz="3600" dirty="0"/>
              <a:t>tige fixée devant une échelle </a:t>
            </a:r>
            <a:r>
              <a:rPr lang="fr-FR" sz="3600" dirty="0">
                <a:solidFill>
                  <a:srgbClr val="FF0000"/>
                </a:solidFill>
              </a:rPr>
              <a:t>graduée en </a:t>
            </a:r>
            <a:r>
              <a:rPr lang="fr-FR" sz="3600" dirty="0" smtClean="0">
                <a:solidFill>
                  <a:srgbClr val="FF0000"/>
                </a:solidFill>
              </a:rPr>
              <a:t>degré</a:t>
            </a:r>
          </a:p>
          <a:p>
            <a:r>
              <a:rPr lang="fr-FR" sz="3600" dirty="0">
                <a:solidFill>
                  <a:srgbClr val="FF0000"/>
                </a:solidFill>
              </a:rPr>
              <a:t> </a:t>
            </a:r>
            <a:r>
              <a:rPr lang="fr-FR" sz="3600" dirty="0" smtClean="0">
                <a:solidFill>
                  <a:srgbClr val="FF0000"/>
                </a:solidFill>
              </a:rPr>
              <a:t>         Celsius</a:t>
            </a:r>
            <a:r>
              <a:rPr lang="fr-FR" sz="3600" dirty="0" smtClean="0"/>
              <a:t> </a:t>
            </a:r>
            <a:r>
              <a:rPr lang="fr-FR" sz="3600" dirty="0"/>
              <a:t>de </a:t>
            </a:r>
            <a:r>
              <a:rPr lang="fr-FR" sz="3600" b="1" dirty="0"/>
              <a:t>35 à </a:t>
            </a:r>
            <a:r>
              <a:rPr lang="fr-FR" sz="3600" b="1" dirty="0" smtClean="0"/>
              <a:t>42</a:t>
            </a:r>
            <a:r>
              <a:rPr lang="fr-FR" sz="3600" dirty="0" smtClean="0"/>
              <a:t>.</a:t>
            </a:r>
            <a:endParaRPr lang="fr-FR" sz="3600" dirty="0"/>
          </a:p>
          <a:p>
            <a:endParaRPr lang="fr-FR" sz="3600" dirty="0"/>
          </a:p>
          <a:p>
            <a:r>
              <a:rPr lang="fr-FR" sz="3600" dirty="0"/>
              <a:t>L’étranglement supérieur du réservoir empêche la </a:t>
            </a:r>
            <a:endParaRPr lang="fr-FR" sz="3600" dirty="0" smtClean="0"/>
          </a:p>
          <a:p>
            <a:endParaRPr lang="fr-FR" sz="3600" dirty="0"/>
          </a:p>
          <a:p>
            <a:r>
              <a:rPr lang="fr-FR" sz="3600" dirty="0" smtClean="0"/>
              <a:t>redescente </a:t>
            </a:r>
            <a:r>
              <a:rPr lang="fr-FR" sz="3600" dirty="0"/>
              <a:t>du </a:t>
            </a:r>
            <a:r>
              <a:rPr lang="fr-FR" sz="3600" dirty="0" smtClean="0"/>
              <a:t>mercure dilaté.</a:t>
            </a:r>
          </a:p>
          <a:p>
            <a:endParaRPr lang="fr-FR" sz="3600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976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359" y="192507"/>
            <a:ext cx="11958144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0070C0"/>
                </a:solidFill>
              </a:rPr>
              <a:t>    </a:t>
            </a:r>
            <a:r>
              <a:rPr lang="fr-FR" sz="3600" b="1" dirty="0" smtClean="0"/>
              <a:t>Différentes </a:t>
            </a:r>
            <a:r>
              <a:rPr lang="fr-FR" sz="3600" b="1" dirty="0"/>
              <a:t>sortes de thermomètres </a:t>
            </a:r>
            <a:endParaRPr lang="fr-FR" sz="3600" b="1" dirty="0" smtClean="0"/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Le </a:t>
            </a:r>
            <a:r>
              <a:rPr lang="fr-FR" sz="3600" dirty="0"/>
              <a:t>thermomètre </a:t>
            </a:r>
            <a:r>
              <a:rPr lang="fr-FR" sz="3600" dirty="0" smtClean="0"/>
              <a:t>buccal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Le thermomètre rectal</a:t>
            </a:r>
          </a:p>
          <a:p>
            <a:endParaRPr lang="fr-FR" sz="3600" dirty="0" smtClean="0"/>
          </a:p>
          <a:p>
            <a:pPr lvl="0"/>
            <a:r>
              <a:rPr lang="fr-FR" sz="3600" dirty="0" smtClean="0"/>
              <a:t>-   Le </a:t>
            </a:r>
            <a:r>
              <a:rPr lang="fr-FR" sz="3600" dirty="0"/>
              <a:t>thermomètre papier test </a:t>
            </a:r>
            <a:r>
              <a:rPr lang="fr-FR" sz="3600" dirty="0" smtClean="0"/>
              <a:t>frontal</a:t>
            </a:r>
            <a:endParaRPr lang="fr-FR" sz="3600" dirty="0"/>
          </a:p>
          <a:p>
            <a:pPr lvl="0"/>
            <a:endParaRPr lang="fr-FR" sz="3600" dirty="0" smtClean="0"/>
          </a:p>
          <a:p>
            <a:pPr lvl="0"/>
            <a:r>
              <a:rPr lang="fr-FR" sz="3600" dirty="0" smtClean="0"/>
              <a:t>-   Le </a:t>
            </a:r>
            <a:r>
              <a:rPr lang="fr-FR" sz="3600" dirty="0"/>
              <a:t>thermomètre électronique. </a:t>
            </a:r>
          </a:p>
          <a:p>
            <a:endParaRPr lang="fr-FR" sz="3600" dirty="0" smtClean="0"/>
          </a:p>
          <a:p>
            <a:pPr marL="571500" indent="-571500">
              <a:buFontTx/>
              <a:buChar char="-"/>
            </a:pPr>
            <a:r>
              <a:rPr lang="fr-FR" dirty="0" smtClean="0"/>
              <a:t>    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720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359" y="192507"/>
            <a:ext cx="11958144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Les </a:t>
            </a:r>
            <a:r>
              <a:rPr lang="fr-FR" sz="3600" b="1" dirty="0"/>
              <a:t>endroits de la prise de température </a:t>
            </a:r>
            <a:r>
              <a:rPr lang="fr-FR" sz="3600" b="1" dirty="0" smtClean="0"/>
              <a:t>:</a:t>
            </a:r>
          </a:p>
          <a:p>
            <a:endParaRPr lang="fr-FR" sz="3600" b="1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Prise </a:t>
            </a:r>
            <a:r>
              <a:rPr lang="fr-FR" sz="3600" dirty="0"/>
              <a:t>de la température rectale </a:t>
            </a:r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  ( </a:t>
            </a:r>
            <a:r>
              <a:rPr lang="fr-FR" sz="3600" dirty="0"/>
              <a:t>au niveau du rectum) </a:t>
            </a:r>
            <a:r>
              <a:rPr lang="fr-FR" sz="3600" b="1" dirty="0"/>
              <a:t>durée 3 </a:t>
            </a:r>
            <a:r>
              <a:rPr lang="fr-FR" sz="3600" b="1" dirty="0" smtClean="0"/>
              <a:t>mn</a:t>
            </a:r>
          </a:p>
          <a:p>
            <a:endParaRPr lang="fr-FR" sz="3600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Prise </a:t>
            </a:r>
            <a:r>
              <a:rPr lang="fr-FR" sz="3600" dirty="0"/>
              <a:t>de la température buccale ( sous la langue) </a:t>
            </a:r>
            <a:endParaRPr lang="fr-FR" sz="3600" dirty="0" smtClean="0"/>
          </a:p>
          <a:p>
            <a:r>
              <a:rPr lang="fr-FR" sz="3600" dirty="0"/>
              <a:t> </a:t>
            </a:r>
            <a:r>
              <a:rPr lang="fr-FR" sz="3600" dirty="0" smtClean="0"/>
              <a:t>            </a:t>
            </a:r>
            <a:r>
              <a:rPr lang="fr-FR" sz="3600" b="1" dirty="0" smtClean="0"/>
              <a:t>durée </a:t>
            </a:r>
            <a:r>
              <a:rPr lang="fr-FR" sz="3600" b="1" dirty="0"/>
              <a:t>10 </a:t>
            </a:r>
            <a:r>
              <a:rPr lang="fr-FR" sz="3600" b="1" dirty="0" smtClean="0"/>
              <a:t>mn</a:t>
            </a:r>
          </a:p>
          <a:p>
            <a:endParaRPr lang="fr-FR" sz="3600" b="1" dirty="0"/>
          </a:p>
          <a:p>
            <a:pPr marL="571500" indent="-571500">
              <a:buFontTx/>
              <a:buChar char="-"/>
            </a:pPr>
            <a:r>
              <a:rPr lang="fr-FR" sz="3600" dirty="0" smtClean="0"/>
              <a:t>Prise </a:t>
            </a:r>
            <a:r>
              <a:rPr lang="fr-FR" sz="3600" dirty="0"/>
              <a:t>de la température axillaire ( sous les aisselles</a:t>
            </a:r>
            <a:r>
              <a:rPr lang="fr-FR" sz="3600" dirty="0" smtClean="0"/>
              <a:t>)</a:t>
            </a:r>
          </a:p>
          <a:p>
            <a:r>
              <a:rPr lang="fr-FR" sz="3600" dirty="0"/>
              <a:t> </a:t>
            </a:r>
            <a:r>
              <a:rPr lang="fr-FR" sz="3600" dirty="0" smtClean="0"/>
              <a:t>            durée </a:t>
            </a:r>
            <a:r>
              <a:rPr lang="fr-FR" sz="3600" dirty="0"/>
              <a:t>10 mn</a:t>
            </a:r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48644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359" y="192507"/>
            <a:ext cx="119581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" y="0"/>
            <a:ext cx="5715000" cy="57150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957" y="0"/>
            <a:ext cx="4228491" cy="6243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33284" y="4235116"/>
            <a:ext cx="2165683" cy="671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TH  INFRA ROUGE FONTAL 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695" y="3244334"/>
            <a:ext cx="2775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TH </a:t>
            </a:r>
            <a:r>
              <a:rPr lang="fr-FR" dirty="0" smtClean="0"/>
              <a:t>ELECTRONIQUE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991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359" y="192507"/>
            <a:ext cx="119581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317" y="-201210"/>
            <a:ext cx="6526923" cy="5682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13761" y="3244334"/>
            <a:ext cx="21982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/>
              <a:t>         TH MURAL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892968" y="3244334"/>
            <a:ext cx="4977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TH BUCCAL </a:t>
            </a:r>
          </a:p>
        </p:txBody>
      </p:sp>
    </p:spTree>
    <p:extLst>
      <p:ext uri="{BB962C8B-B14F-4D97-AF65-F5344CB8AC3E}">
        <p14:creationId xmlns:p14="http://schemas.microsoft.com/office/powerpoint/2010/main" val="425918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359" y="192507"/>
            <a:ext cx="119581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9" y="-354724"/>
            <a:ext cx="6858000" cy="68580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359" y="1"/>
            <a:ext cx="5632715" cy="6296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80738" y="4640003"/>
            <a:ext cx="88632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TH ELECTRONQUE PARLANT</a:t>
            </a:r>
          </a:p>
          <a:p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7395099" y="3244334"/>
            <a:ext cx="19530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TH A LASER </a:t>
            </a:r>
          </a:p>
        </p:txBody>
      </p:sp>
    </p:spTree>
    <p:extLst>
      <p:ext uri="{BB962C8B-B14F-4D97-AF65-F5344CB8AC3E}">
        <p14:creationId xmlns:p14="http://schemas.microsoft.com/office/powerpoint/2010/main" val="77582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0359" y="192507"/>
            <a:ext cx="119581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  <a:p>
            <a:endParaRPr lang="fr-FR" sz="36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321" y="-524142"/>
            <a:ext cx="10171382" cy="674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0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5537" y="0"/>
            <a:ext cx="11902965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Différentes </a:t>
            </a:r>
            <a:r>
              <a:rPr lang="fr-FR" sz="3600" b="1" dirty="0"/>
              <a:t>courbes de température </a:t>
            </a:r>
            <a:r>
              <a:rPr lang="fr-FR" sz="3600" b="1" dirty="0" smtClean="0"/>
              <a:t>:</a:t>
            </a:r>
            <a:endParaRPr lang="fr-FR" sz="3600" dirty="0"/>
          </a:p>
          <a:p>
            <a:pPr marL="285750" indent="-285750">
              <a:buFontTx/>
              <a:buChar char="-"/>
            </a:pPr>
            <a:endParaRPr lang="fr-FR" sz="3600" dirty="0" smtClean="0"/>
          </a:p>
          <a:p>
            <a:pPr marL="285750" indent="-285750">
              <a:buFontTx/>
              <a:buChar char="-"/>
            </a:pPr>
            <a:r>
              <a:rPr lang="fr-FR" sz="3600" dirty="0" smtClean="0"/>
              <a:t> Courbe </a:t>
            </a:r>
            <a:r>
              <a:rPr lang="fr-FR" sz="3600" dirty="0"/>
              <a:t>en </a:t>
            </a:r>
            <a:r>
              <a:rPr lang="fr-FR" sz="3600" dirty="0" smtClean="0"/>
              <a:t>plateau</a:t>
            </a:r>
            <a:endParaRPr lang="fr-FR" sz="3600" dirty="0"/>
          </a:p>
          <a:p>
            <a:pPr marL="285750" indent="-285750">
              <a:buFontTx/>
              <a:buChar char="-"/>
            </a:pPr>
            <a:r>
              <a:rPr lang="fr-FR" sz="3600" dirty="0" smtClean="0"/>
              <a:t> Courbe intermittente</a:t>
            </a:r>
            <a:endParaRPr lang="fr-FR" sz="3600" dirty="0"/>
          </a:p>
          <a:p>
            <a:pPr marL="285750" indent="-285750">
              <a:buFontTx/>
              <a:buChar char="-"/>
            </a:pPr>
            <a:r>
              <a:rPr lang="fr-FR" sz="3600" dirty="0" smtClean="0"/>
              <a:t> Courbe inversée</a:t>
            </a:r>
          </a:p>
          <a:p>
            <a:endParaRPr lang="fr-FR" sz="3600" dirty="0"/>
          </a:p>
          <a:p>
            <a:pPr marL="285750" indent="-285750">
              <a:buFontTx/>
              <a:buChar char="-"/>
            </a:pPr>
            <a:r>
              <a:rPr lang="fr-FR" sz="3600" dirty="0" smtClean="0"/>
              <a:t>  Courbe </a:t>
            </a:r>
            <a:r>
              <a:rPr lang="fr-FR" sz="3600" dirty="0"/>
              <a:t>en </a:t>
            </a:r>
            <a:r>
              <a:rPr lang="fr-FR" sz="3600" dirty="0" err="1" smtClean="0"/>
              <a:t>lysis</a:t>
            </a:r>
            <a:endParaRPr lang="fr-FR" sz="3600" dirty="0"/>
          </a:p>
          <a:p>
            <a:pPr marL="285750" indent="-285750">
              <a:buFontTx/>
              <a:buChar char="-"/>
            </a:pPr>
            <a:r>
              <a:rPr lang="fr-FR" sz="3600" dirty="0" smtClean="0"/>
              <a:t>  Courbe ascendante</a:t>
            </a:r>
            <a:endParaRPr lang="fr-FR" sz="3600" dirty="0"/>
          </a:p>
          <a:p>
            <a:r>
              <a:rPr lang="fr-FR" sz="3600" dirty="0" smtClean="0"/>
              <a:t>-   Courbe </a:t>
            </a:r>
            <a:r>
              <a:rPr lang="fr-FR" sz="3600" dirty="0"/>
              <a:t>ondulante.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882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5537" y="0"/>
            <a:ext cx="119029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Différentes </a:t>
            </a:r>
            <a:r>
              <a:rPr lang="fr-FR" sz="3600" b="1" dirty="0"/>
              <a:t>courbes de température </a:t>
            </a:r>
            <a:r>
              <a:rPr lang="fr-FR" sz="3600" b="1" dirty="0" smtClean="0"/>
              <a:t>:</a:t>
            </a:r>
            <a:endParaRPr lang="fr-FR" sz="3600" dirty="0"/>
          </a:p>
          <a:p>
            <a:pPr marL="285750" indent="-285750">
              <a:buFontTx/>
              <a:buChar char="-"/>
            </a:pPr>
            <a:endParaRPr lang="fr-FR" sz="3600" dirty="0" smtClean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08" y="674702"/>
            <a:ext cx="11691891" cy="567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5537" y="0"/>
            <a:ext cx="1190296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Différentes </a:t>
            </a:r>
            <a:r>
              <a:rPr lang="fr-FR" sz="3600" b="1" dirty="0"/>
              <a:t>courbes de température </a:t>
            </a:r>
            <a:r>
              <a:rPr lang="fr-FR" sz="3600" b="1" dirty="0" smtClean="0"/>
              <a:t>:</a:t>
            </a:r>
            <a:endParaRPr lang="fr-FR" sz="3600" dirty="0"/>
          </a:p>
          <a:p>
            <a:pPr marL="285750" indent="-285750">
              <a:buFontTx/>
              <a:buChar char="-"/>
            </a:pPr>
            <a:endParaRPr lang="fr-FR" sz="3600" dirty="0" smtClean="0"/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57" y="778460"/>
            <a:ext cx="11074276" cy="551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2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69019" y="701423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5537" y="0"/>
            <a:ext cx="1190296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Différentes </a:t>
            </a:r>
            <a:r>
              <a:rPr lang="fr-FR" sz="3600" b="1" dirty="0"/>
              <a:t>courbes de température </a:t>
            </a:r>
            <a:r>
              <a:rPr lang="fr-FR" sz="3600" b="1" dirty="0" smtClean="0"/>
              <a:t>:</a:t>
            </a:r>
            <a:endParaRPr lang="fr-FR" sz="3600" dirty="0"/>
          </a:p>
          <a:p>
            <a:pPr marL="285750" indent="-285750">
              <a:buFontTx/>
              <a:buChar char="-"/>
            </a:pPr>
            <a:endParaRPr lang="fr-FR" sz="3600" dirty="0" smtClean="0"/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76" y="479394"/>
            <a:ext cx="10977349" cy="58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5537" y="0"/>
            <a:ext cx="1190296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Différentes </a:t>
            </a:r>
            <a:r>
              <a:rPr lang="fr-FR" sz="3600" b="1" dirty="0"/>
              <a:t>courbes de température </a:t>
            </a:r>
            <a:r>
              <a:rPr lang="fr-FR" sz="3600" b="1" dirty="0" smtClean="0"/>
              <a:t>:</a:t>
            </a:r>
            <a:endParaRPr lang="fr-FR" sz="3600" dirty="0"/>
          </a:p>
          <a:p>
            <a:pPr marL="285750" indent="-285750">
              <a:buFontTx/>
              <a:buChar char="-"/>
            </a:pPr>
            <a:endParaRPr lang="fr-FR" sz="3600" dirty="0" smtClean="0"/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31" y="627898"/>
            <a:ext cx="11209202" cy="513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4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31" y="192506"/>
            <a:ext cx="10406551" cy="12815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/>
            </a:r>
            <a:br>
              <a:rPr lang="fr-FR" sz="4000" dirty="0"/>
            </a:b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8188" y="1223682"/>
            <a:ext cx="9843247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>
              <a:lnSpc>
                <a:spcPct val="107000"/>
              </a:lnSpc>
              <a:spcAft>
                <a:spcPts val="0"/>
              </a:spcAft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359" y="1223682"/>
            <a:ext cx="12081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5537" y="0"/>
            <a:ext cx="1190296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/>
              <a:t>Différentes </a:t>
            </a:r>
            <a:r>
              <a:rPr lang="fr-FR" sz="3600" b="1" dirty="0"/>
              <a:t>courbes de température </a:t>
            </a:r>
            <a:r>
              <a:rPr lang="fr-FR" sz="3600" b="1" dirty="0" smtClean="0"/>
              <a:t>:</a:t>
            </a:r>
            <a:endParaRPr lang="fr-FR" sz="3600" dirty="0"/>
          </a:p>
          <a:p>
            <a:pPr marL="285750" indent="-285750">
              <a:buFontTx/>
              <a:buChar char="-"/>
            </a:pPr>
            <a:endParaRPr lang="fr-FR" sz="3600" dirty="0" smtClean="0"/>
          </a:p>
          <a:p>
            <a:endParaRPr lang="fr-FR" sz="36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86" y="684859"/>
            <a:ext cx="9513449" cy="553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8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66" y="-1175911"/>
            <a:ext cx="10515443" cy="1494800"/>
          </a:xfrm>
        </p:spPr>
        <p:txBody>
          <a:bodyPr>
            <a:normAutofit/>
          </a:bodyPr>
          <a:lstStyle/>
          <a:p>
            <a:pPr algn="ctr"/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81" y="466166"/>
            <a:ext cx="9790236" cy="536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9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INFA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4594</TotalTime>
  <Words>1702</Words>
  <Application>Microsoft Office PowerPoint</Application>
  <PresentationFormat>Grand écran</PresentationFormat>
  <Paragraphs>734</Paragraphs>
  <Slides>74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74</vt:i4>
      </vt:variant>
    </vt:vector>
  </HeadingPairs>
  <TitlesOfParts>
    <vt:vector size="81" baseType="lpstr">
      <vt:lpstr>Arial</vt:lpstr>
      <vt:lpstr>Arial Black</vt:lpstr>
      <vt:lpstr>Calibri</vt:lpstr>
      <vt:lpstr>NOGPMF+TimesNewRoman</vt:lpstr>
      <vt:lpstr>Times New Roman</vt:lpstr>
      <vt:lpstr>Wingdings</vt:lpstr>
      <vt:lpstr>Thème Office</vt:lpstr>
      <vt:lpstr>Présentation PowerPoint</vt:lpstr>
      <vt:lpstr>METHODES ET TECHNIQUES DE SOINS INFIRMEIRS</vt:lpstr>
      <vt:lpstr>1- SONDAGE VESICAL </vt:lpstr>
      <vt:lpstr>1- SONDAGE VESICAL </vt:lpstr>
      <vt:lpstr>1- SONDAGE VESICAL </vt:lpstr>
      <vt:lpstr>1- SONDAGE VESICAL </vt:lpstr>
      <vt:lpstr>1- SONDAGE VESICAL </vt:lpstr>
      <vt:lpstr>1- SONDAGE VESICAL </vt:lpstr>
      <vt:lpstr>1- SONDAGE VESICAL </vt:lpstr>
      <vt:lpstr> 2- INDICATIONS ET CONTRE-INDICATIONS  </vt:lpstr>
      <vt:lpstr>1- SONDAGE VESICAL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 4.1 Interventions infirmières ou gestes infirmiers  </vt:lpstr>
      <vt:lpstr> </vt:lpstr>
      <vt:lpstr> </vt:lpstr>
      <vt:lpstr> </vt:lpstr>
      <vt:lpstr>  2-RECUEIL DES URINES POUR ANALYSE  </vt:lpstr>
      <vt:lpstr>2-RECUEIL DES URINES POUR ANALYSE  </vt:lpstr>
      <vt:lpstr>2-RECUEIL DES URINES POUR ANALYSE  </vt:lpstr>
      <vt:lpstr>  2-RECUEIL DES URINES POUR ANALYSE  </vt:lpstr>
      <vt:lpstr>2-RECUEIL DES URINES POUR ANALYSE  </vt:lpstr>
      <vt:lpstr>2-RECUEIL DES URINES POUR ANALYSE  </vt:lpstr>
      <vt:lpstr>LA THERMOREGULATION </vt:lpstr>
      <vt:lpstr>I- DEFINTION (2/3) </vt:lpstr>
      <vt:lpstr>I- DEFINITION (3/3) </vt:lpstr>
      <vt:lpstr>II- LUTTE CONTRE LE FROID (1/3) </vt:lpstr>
      <vt:lpstr>II- LUTTE CONTRE LE FROID(2/3) </vt:lpstr>
      <vt:lpstr>II- LUTTE CONTRE LE FROID (3/3) </vt:lpstr>
      <vt:lpstr>III- LUTTE CONTRE LA CHALEUR  </vt:lpstr>
      <vt:lpstr>IV- L’HOMEOTHERMIE    </vt:lpstr>
      <vt:lpstr>V- LES CENTRES DE LA THERMOREGULATION (1/2)   </vt:lpstr>
      <vt:lpstr>V- LES CENTRES DE LA THERMOREGULATION(2/2)    </vt:lpstr>
      <vt:lpstr>  VI- LA MISE EN JEU DES CENTRES DE LA THERMOREGULATION (1/3)    </vt:lpstr>
      <vt:lpstr>  VI- LA MISE EN JEU DES CENTRES DE LA THERMOREGULATION(2/3)    </vt:lpstr>
      <vt:lpstr>  VI- LA MISE EN JEU DES CENTRES DE LA THERMOREGULATION(3/3)    </vt:lpstr>
      <vt:lpstr>  VII- LE METABOLISME BASAL    </vt:lpstr>
      <vt:lpstr>  VII- LE METABOLISME BASAL    </vt:lpstr>
      <vt:lpstr> VIII- LA THERMOGENESE   </vt:lpstr>
      <vt:lpstr> IX- LA THERMOLYSE (1/4)  </vt:lpstr>
      <vt:lpstr> IX- LA THERMOLYSE (2/4)  </vt:lpstr>
      <vt:lpstr> IX- LA THERMOLYSE(3/4)  </vt:lpstr>
      <vt:lpstr> IX- LA THERMOLYSE(4/4) 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Présentation PowerPoint</vt:lpstr>
    </vt:vector>
  </TitlesOfParts>
  <Company>SACC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Maher Fattouh</dc:creator>
  <cp:lastModifiedBy>Denis ASSANDE</cp:lastModifiedBy>
  <cp:revision>324</cp:revision>
  <dcterms:created xsi:type="dcterms:W3CDTF">2018-07-17T00:49:38Z</dcterms:created>
  <dcterms:modified xsi:type="dcterms:W3CDTF">2022-06-29T11:43:25Z</dcterms:modified>
</cp:coreProperties>
</file>