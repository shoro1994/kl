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sldIdLst>
    <p:sldId id="256" r:id="rId2"/>
    <p:sldId id="313" r:id="rId3"/>
    <p:sldId id="314" r:id="rId4"/>
    <p:sldId id="315" r:id="rId5"/>
    <p:sldId id="316" r:id="rId6"/>
    <p:sldId id="257" r:id="rId7"/>
    <p:sldId id="260" r:id="rId8"/>
    <p:sldId id="258" r:id="rId9"/>
    <p:sldId id="318" r:id="rId10"/>
    <p:sldId id="259" r:id="rId11"/>
    <p:sldId id="261" r:id="rId12"/>
    <p:sldId id="319" r:id="rId13"/>
    <p:sldId id="262" r:id="rId14"/>
    <p:sldId id="320" r:id="rId15"/>
    <p:sldId id="263" r:id="rId16"/>
    <p:sldId id="321" r:id="rId17"/>
    <p:sldId id="264" r:id="rId18"/>
    <p:sldId id="266" r:id="rId19"/>
    <p:sldId id="322" r:id="rId20"/>
    <p:sldId id="267" r:id="rId21"/>
    <p:sldId id="268" r:id="rId22"/>
    <p:sldId id="323" r:id="rId23"/>
    <p:sldId id="269" r:id="rId24"/>
    <p:sldId id="270" r:id="rId25"/>
    <p:sldId id="326" r:id="rId26"/>
    <p:sldId id="271" r:id="rId27"/>
    <p:sldId id="328" r:id="rId28"/>
    <p:sldId id="329"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330"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 id="301" r:id="rId59"/>
    <p:sldId id="302" r:id="rId60"/>
    <p:sldId id="304" r:id="rId61"/>
    <p:sldId id="303" r:id="rId62"/>
    <p:sldId id="305" r:id="rId63"/>
    <p:sldId id="306" r:id="rId64"/>
    <p:sldId id="307" r:id="rId65"/>
    <p:sldId id="308" r:id="rId66"/>
    <p:sldId id="309" r:id="rId67"/>
    <p:sldId id="310" r:id="rId68"/>
    <p:sldId id="311" r:id="rId69"/>
    <p:sldId id="312" r:id="rId70"/>
    <p:sldId id="317" r:id="rId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75" d="100"/>
          <a:sy n="75" d="100"/>
        </p:scale>
        <p:origin x="41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fr-FR" smtClean="0"/>
              <a:t>Modifiez le style du titre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DA51639-B2D6-4652-B8C3-1B4C224A7BAF}" type="datetimeFigureOut">
              <a:rPr lang="en-US" dirty="0"/>
              <a:t>10/5/2025</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‹N°›</a:t>
            </a:fld>
            <a:endParaRPr lang="en-US"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82FF5DD9-2C52-442D-92E2-8072C0C3D7CD}" type="datetimeFigureOut">
              <a:rPr lang="en-US" dirty="0"/>
              <a:t>10/5/2025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‹N°›</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fr-FR" smtClean="0"/>
              <a:t>Modifiez le style du titre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44961B7-6B89-48AB-966F-622E2788EECC}" type="datetimeFigureOut">
              <a:rPr lang="en-US" dirty="0"/>
              <a:t>10/5/2025</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t>‹N°›</a:t>
            </a:fld>
            <a:endParaRPr lang="en-US"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dirty="0"/>
              <a:t>10/5/2025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dirty="0"/>
              <a:t>10/5/2025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dirty="0"/>
              <a:t>10/5/2025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t>10/5/2025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fr-FR" smtClean="0"/>
              <a:t>Modifiez le style du titre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8" name="Date Placeholder 7"/>
          <p:cNvSpPr>
            <a:spLocks noGrp="1"/>
          </p:cNvSpPr>
          <p:nvPr>
            <p:ph type="dt" sz="half" idx="10"/>
          </p:nvPr>
        </p:nvSpPr>
        <p:spPr/>
        <p:txBody>
          <a:bodyPr/>
          <a:lstStyle/>
          <a:p>
            <a:fld id="{1CF131DD-A141-4471-BCF9-C6073EDD7E20}" type="datetimeFigureOut">
              <a:rPr lang="en-US" dirty="0"/>
              <a:t>10/5/2025</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‹N°›</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t>10/5/2025</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‹N°›</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dirty="0"/>
              <a:t>10/5/2025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dirty="0"/>
              <a:t>10/5/2025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dirty="0"/>
              <a:t>10/5/2025</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sz="4800" dirty="0" smtClean="0">
                <a:latin typeface="Arial Black" panose="020B0A04020102020204" pitchFamily="34" charset="0"/>
              </a:rPr>
              <a:t>LA POLITIQUE PHARMACEUTIQUE EN COTE D’IVOIRE </a:t>
            </a:r>
            <a:endParaRPr lang="fr-FR" sz="4800" dirty="0">
              <a:latin typeface="Arial Black" panose="020B0A04020102020204" pitchFamily="34" charset="0"/>
            </a:endParaRPr>
          </a:p>
        </p:txBody>
      </p:sp>
      <p:sp>
        <p:nvSpPr>
          <p:cNvPr id="3" name="Sous-titre 2"/>
          <p:cNvSpPr>
            <a:spLocks noGrp="1"/>
          </p:cNvSpPr>
          <p:nvPr>
            <p:ph type="subTitle" idx="1"/>
          </p:nvPr>
        </p:nvSpPr>
        <p:spPr/>
        <p:txBody>
          <a:bodyPr/>
          <a:lstStyle/>
          <a:p>
            <a:endParaRPr lang="fr-FR"/>
          </a:p>
        </p:txBody>
      </p:sp>
    </p:spTree>
    <p:extLst>
      <p:ext uri="{BB962C8B-B14F-4D97-AF65-F5344CB8AC3E}">
        <p14:creationId xmlns:p14="http://schemas.microsoft.com/office/powerpoint/2010/main" val="3803500903"/>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latin typeface="Arial Black" panose="020B0A04020102020204" pitchFamily="34" charset="0"/>
              </a:rPr>
              <a:t>OBJECTIF GENERAL</a:t>
            </a:r>
            <a:endParaRPr lang="fr-FR" b="1" dirty="0">
              <a:latin typeface="Arial Black" panose="020B0A04020102020204" pitchFamily="34" charset="0"/>
            </a:endParaRPr>
          </a:p>
        </p:txBody>
      </p:sp>
      <p:sp>
        <p:nvSpPr>
          <p:cNvPr id="3" name="Espace réservé du contenu 2"/>
          <p:cNvSpPr>
            <a:spLocks noGrp="1"/>
          </p:cNvSpPr>
          <p:nvPr>
            <p:ph idx="1"/>
          </p:nvPr>
        </p:nvSpPr>
        <p:spPr>
          <a:xfrm>
            <a:off x="520505" y="2103120"/>
            <a:ext cx="11197883" cy="3931920"/>
          </a:xfrm>
        </p:spPr>
        <p:txBody>
          <a:bodyPr>
            <a:normAutofit/>
          </a:bodyPr>
          <a:lstStyle/>
          <a:p>
            <a:pPr algn="ctr">
              <a:lnSpc>
                <a:spcPct val="150000"/>
              </a:lnSpc>
            </a:pPr>
            <a:endParaRPr lang="fr-FR" sz="2800" dirty="0" smtClean="0">
              <a:latin typeface="Arial" panose="020B0604020202020204" pitchFamily="34" charset="0"/>
              <a:cs typeface="Arial" panose="020B0604020202020204" pitchFamily="34" charset="0"/>
            </a:endParaRPr>
          </a:p>
          <a:p>
            <a:pPr algn="ctr">
              <a:lnSpc>
                <a:spcPct val="150000"/>
              </a:lnSpc>
            </a:pPr>
            <a:r>
              <a:rPr lang="fr-FR" sz="2400" dirty="0" smtClean="0">
                <a:latin typeface="Arial" panose="020B0604020202020204" pitchFamily="34" charset="0"/>
                <a:cs typeface="Arial" panose="020B0604020202020204" pitchFamily="34" charset="0"/>
              </a:rPr>
              <a:t>ACQUERIR DES CONNAISSANCES SUR LA POLITIQUE NATIONALE DE SANTE ET LA POLITIQUE PHARMACEUTIQUE NATIONALE</a:t>
            </a:r>
            <a:endParaRPr lang="fr-F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2896350"/>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latin typeface="Arial Black" panose="020B0A04020102020204" pitchFamily="34" charset="0"/>
              </a:rPr>
              <a:t>OBJECTIFS SPECIFIQUES</a:t>
            </a:r>
            <a:endParaRPr lang="fr-FR" b="1" dirty="0">
              <a:latin typeface="Arial Black" panose="020B0A04020102020204" pitchFamily="34" charset="0"/>
            </a:endParaRPr>
          </a:p>
        </p:txBody>
      </p:sp>
      <p:sp>
        <p:nvSpPr>
          <p:cNvPr id="3" name="Espace réservé du contenu 2"/>
          <p:cNvSpPr>
            <a:spLocks noGrp="1"/>
          </p:cNvSpPr>
          <p:nvPr>
            <p:ph idx="1"/>
          </p:nvPr>
        </p:nvSpPr>
        <p:spPr/>
        <p:txBody>
          <a:bodyPr>
            <a:normAutofit lnSpcReduction="10000"/>
          </a:bodyPr>
          <a:lstStyle/>
          <a:p>
            <a:pPr marL="514350" indent="-514350">
              <a:lnSpc>
                <a:spcPct val="150000"/>
              </a:lnSpc>
              <a:buFont typeface="+mj-lt"/>
              <a:buAutoNum type="arabicPeriod"/>
            </a:pPr>
            <a:r>
              <a:rPr lang="fr-FR" sz="2400" dirty="0" smtClean="0">
                <a:latin typeface="Arial" panose="020B0604020202020204" pitchFamily="34" charset="0"/>
                <a:cs typeface="Arial" panose="020B0604020202020204" pitchFamily="34" charset="0"/>
              </a:rPr>
              <a:t>Citer sans erreur les sept principes de la PNS</a:t>
            </a:r>
          </a:p>
          <a:p>
            <a:pPr marL="514350" indent="-514350">
              <a:lnSpc>
                <a:spcPct val="150000"/>
              </a:lnSpc>
              <a:buFont typeface="+mj-lt"/>
              <a:buAutoNum type="arabicPeriod"/>
            </a:pPr>
            <a:r>
              <a:rPr lang="fr-FR" sz="2400" dirty="0" smtClean="0">
                <a:latin typeface="Arial" panose="020B0604020202020204" pitchFamily="34" charset="0"/>
                <a:cs typeface="Arial" panose="020B0604020202020204" pitchFamily="34" charset="0"/>
              </a:rPr>
              <a:t>Énoncer sans se tromper le but de la PNS</a:t>
            </a:r>
          </a:p>
          <a:p>
            <a:pPr marL="514350" indent="-514350">
              <a:lnSpc>
                <a:spcPct val="150000"/>
              </a:lnSpc>
              <a:buFont typeface="+mj-lt"/>
              <a:buAutoNum type="arabicPeriod"/>
            </a:pPr>
            <a:r>
              <a:rPr lang="fr-FR" sz="2400" dirty="0" smtClean="0">
                <a:latin typeface="Arial" panose="020B0604020202020204" pitchFamily="34" charset="0"/>
                <a:cs typeface="Arial" panose="020B0604020202020204" pitchFamily="34" charset="0"/>
              </a:rPr>
              <a:t>énumérer au moins quatre objectifs de la PNS</a:t>
            </a:r>
          </a:p>
          <a:p>
            <a:pPr marL="514350" indent="-514350">
              <a:lnSpc>
                <a:spcPct val="150000"/>
              </a:lnSpc>
              <a:buFont typeface="+mj-lt"/>
              <a:buAutoNum type="arabicPeriod"/>
            </a:pPr>
            <a:r>
              <a:rPr lang="fr-FR" sz="2400" dirty="0" smtClean="0">
                <a:latin typeface="Arial" panose="020B0604020202020204" pitchFamily="34" charset="0"/>
                <a:cs typeface="Arial" panose="020B0604020202020204" pitchFamily="34" charset="0"/>
              </a:rPr>
              <a:t>Nommer le cadre de mise en œuvre de la PNS</a:t>
            </a:r>
          </a:p>
          <a:p>
            <a:pPr marL="514350" indent="-514350">
              <a:lnSpc>
                <a:spcPct val="150000"/>
              </a:lnSpc>
              <a:buFont typeface="+mj-lt"/>
              <a:buAutoNum type="arabicPeriod"/>
            </a:pPr>
            <a:r>
              <a:rPr lang="fr-FR" sz="2400" dirty="0" smtClean="0">
                <a:latin typeface="Arial" panose="020B0604020202020204" pitchFamily="34" charset="0"/>
                <a:cs typeface="Arial" panose="020B0604020202020204" pitchFamily="34" charset="0"/>
              </a:rPr>
              <a:t>énoncer dans l’ordre les quatre objectifs du PNDS</a:t>
            </a:r>
          </a:p>
          <a:p>
            <a:pPr marL="514350" indent="-514350">
              <a:lnSpc>
                <a:spcPct val="150000"/>
              </a:lnSpc>
              <a:buFont typeface="+mj-lt"/>
              <a:buAutoNum type="arabicPeriod"/>
            </a:pPr>
            <a:r>
              <a:rPr lang="fr-FR" sz="2400" dirty="0" smtClean="0">
                <a:latin typeface="Arial" panose="020B0604020202020204" pitchFamily="34" charset="0"/>
                <a:cs typeface="Arial" panose="020B0604020202020204" pitchFamily="34" charset="0"/>
              </a:rPr>
              <a:t>Décrire la structure ou l’organisation du système sanitaire ivoirien</a:t>
            </a:r>
          </a:p>
          <a:p>
            <a:pPr marL="514350" indent="-514350">
              <a:lnSpc>
                <a:spcPct val="150000"/>
              </a:lnSpc>
              <a:buFont typeface="+mj-lt"/>
              <a:buAutoNum type="arabicPeriod"/>
            </a:pPr>
            <a:endParaRPr lang="fr-FR" sz="2400" dirty="0" smtClean="0">
              <a:latin typeface="Arial" panose="020B0604020202020204" pitchFamily="34" charset="0"/>
              <a:cs typeface="Arial" panose="020B0604020202020204" pitchFamily="34" charset="0"/>
            </a:endParaRPr>
          </a:p>
          <a:p>
            <a:pPr marL="514350" indent="-514350">
              <a:lnSpc>
                <a:spcPct val="150000"/>
              </a:lnSpc>
              <a:buFont typeface="+mj-lt"/>
              <a:buAutoNum type="arabicPeriod"/>
            </a:pPr>
            <a:endParaRPr lang="fr-FR" sz="2400" dirty="0" smtClean="0">
              <a:latin typeface="Arial" panose="020B0604020202020204" pitchFamily="34" charset="0"/>
              <a:cs typeface="Arial" panose="020B0604020202020204" pitchFamily="34" charset="0"/>
            </a:endParaRPr>
          </a:p>
          <a:p>
            <a:pPr marL="514350" indent="-514350">
              <a:lnSpc>
                <a:spcPct val="150000"/>
              </a:lnSpc>
              <a:buFont typeface="+mj-lt"/>
              <a:buAutoNum type="arabicPeriod"/>
            </a:pPr>
            <a:endParaRPr lang="fr-FR" sz="2400" dirty="0" smtClean="0">
              <a:latin typeface="Arial" panose="020B0604020202020204" pitchFamily="34" charset="0"/>
              <a:cs typeface="Arial" panose="020B0604020202020204" pitchFamily="34" charset="0"/>
            </a:endParaRPr>
          </a:p>
          <a:p>
            <a:pPr marL="514350" indent="-514350">
              <a:lnSpc>
                <a:spcPct val="150000"/>
              </a:lnSpc>
              <a:buFont typeface="+mj-lt"/>
              <a:buAutoNum type="arabicPeriod"/>
            </a:pPr>
            <a:endParaRPr lang="fr-FR" sz="2400" dirty="0" smtClean="0">
              <a:latin typeface="Arial" panose="020B0604020202020204" pitchFamily="34" charset="0"/>
              <a:cs typeface="Arial" panose="020B0604020202020204" pitchFamily="34" charset="0"/>
            </a:endParaRPr>
          </a:p>
          <a:p>
            <a:pPr marL="514350" indent="-514350">
              <a:lnSpc>
                <a:spcPct val="150000"/>
              </a:lnSpc>
              <a:buFont typeface="+mj-lt"/>
              <a:buAutoNum type="arabicPeriod"/>
            </a:pPr>
            <a:endParaRPr lang="fr-FR" sz="2400" dirty="0" smtClean="0">
              <a:latin typeface="Arial" panose="020B0604020202020204" pitchFamily="34" charset="0"/>
              <a:cs typeface="Arial" panose="020B0604020202020204" pitchFamily="34" charset="0"/>
            </a:endParaRPr>
          </a:p>
          <a:p>
            <a:pPr marL="514350" indent="-514350">
              <a:lnSpc>
                <a:spcPct val="150000"/>
              </a:lnSpc>
              <a:buFont typeface="+mj-lt"/>
              <a:buAutoNum type="arabicPeriod"/>
            </a:pPr>
            <a:endParaRPr lang="fr-F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9531305"/>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latin typeface="Arial Black" panose="020B0A04020102020204" pitchFamily="34" charset="0"/>
              </a:rPr>
              <a:t>OBJECTIFS SPECIFIQUES</a:t>
            </a:r>
            <a:endParaRPr lang="fr-FR" b="1" dirty="0">
              <a:latin typeface="Arial Black" panose="020B0A04020102020204" pitchFamily="34" charset="0"/>
            </a:endParaRPr>
          </a:p>
        </p:txBody>
      </p:sp>
      <p:sp>
        <p:nvSpPr>
          <p:cNvPr id="3" name="Espace réservé du contenu 2"/>
          <p:cNvSpPr>
            <a:spLocks noGrp="1"/>
          </p:cNvSpPr>
          <p:nvPr>
            <p:ph idx="1"/>
          </p:nvPr>
        </p:nvSpPr>
        <p:spPr>
          <a:xfrm>
            <a:off x="520504" y="2103119"/>
            <a:ext cx="11169747" cy="4564967"/>
          </a:xfrm>
        </p:spPr>
        <p:txBody>
          <a:bodyPr>
            <a:normAutofit/>
          </a:bodyPr>
          <a:lstStyle/>
          <a:p>
            <a:pPr marL="0" indent="0">
              <a:lnSpc>
                <a:spcPct val="150000"/>
              </a:lnSpc>
              <a:buNone/>
            </a:pPr>
            <a:r>
              <a:rPr lang="fr-FR" sz="2400" dirty="0" smtClean="0">
                <a:latin typeface="Arial" panose="020B0604020202020204" pitchFamily="34" charset="0"/>
                <a:cs typeface="Arial" panose="020B0604020202020204" pitchFamily="34" charset="0"/>
              </a:rPr>
              <a:t>6. Décrire avec exactitude l’organisation administrative du système sanitaire ivoirien (SSI) ;</a:t>
            </a:r>
          </a:p>
          <a:p>
            <a:pPr marL="0" indent="0">
              <a:lnSpc>
                <a:spcPct val="150000"/>
              </a:lnSpc>
              <a:buNone/>
            </a:pPr>
            <a:r>
              <a:rPr lang="fr-FR" sz="2400" dirty="0" smtClean="0">
                <a:latin typeface="Arial" panose="020B0604020202020204" pitchFamily="34" charset="0"/>
                <a:cs typeface="Arial" panose="020B0604020202020204" pitchFamily="34" charset="0"/>
              </a:rPr>
              <a:t>7. Donner une description sans </a:t>
            </a:r>
            <a:r>
              <a:rPr lang="fr-FR" sz="2400" dirty="0" err="1" smtClean="0">
                <a:latin typeface="Arial" panose="020B0604020202020204" pitchFamily="34" charset="0"/>
                <a:cs typeface="Arial" panose="020B0604020202020204" pitchFamily="34" charset="0"/>
              </a:rPr>
              <a:t>ambiguité</a:t>
            </a:r>
            <a:r>
              <a:rPr lang="fr-FR" sz="2400" dirty="0" smtClean="0">
                <a:latin typeface="Arial" panose="020B0604020202020204" pitchFamily="34" charset="0"/>
                <a:cs typeface="Arial" panose="020B0604020202020204" pitchFamily="34" charset="0"/>
              </a:rPr>
              <a:t> du versant offre de soins du SSI ; </a:t>
            </a:r>
          </a:p>
          <a:p>
            <a:pPr marL="0" indent="0">
              <a:lnSpc>
                <a:spcPct val="150000"/>
              </a:lnSpc>
              <a:buNone/>
            </a:pPr>
            <a:r>
              <a:rPr lang="fr-FR" sz="2400" dirty="0" smtClean="0">
                <a:latin typeface="Arial" panose="020B0604020202020204" pitchFamily="34" charset="0"/>
                <a:cs typeface="Arial" panose="020B0604020202020204" pitchFamily="34" charset="0"/>
              </a:rPr>
              <a:t>8. Énoncer clairement la vision du gouvernement sur la politique pharmaceutique nationale ( PPN ) ;</a:t>
            </a:r>
          </a:p>
          <a:p>
            <a:pPr marL="0" indent="0">
              <a:lnSpc>
                <a:spcPct val="150000"/>
              </a:lnSpc>
              <a:buNone/>
            </a:pPr>
            <a:r>
              <a:rPr lang="fr-FR" sz="2400" dirty="0" smtClean="0">
                <a:latin typeface="Arial" panose="020B0604020202020204" pitchFamily="34" charset="0"/>
                <a:cs typeface="Arial" panose="020B0604020202020204" pitchFamily="34" charset="0"/>
              </a:rPr>
              <a:t>9. Citer dans l’ordre les cinq fondements de la PPN</a:t>
            </a:r>
          </a:p>
          <a:p>
            <a:pPr marL="0" indent="0">
              <a:lnSpc>
                <a:spcPct val="150000"/>
              </a:lnSpc>
              <a:buNone/>
            </a:pPr>
            <a:r>
              <a:rPr lang="fr-FR" sz="2400" dirty="0" smtClean="0">
                <a:latin typeface="Arial" panose="020B0604020202020204" pitchFamily="34" charset="0"/>
                <a:cs typeface="Arial" panose="020B0604020202020204" pitchFamily="34" charset="0"/>
              </a:rPr>
              <a:t>10. Énumérer dans l’ordre les quatre principes et valeurs de la PPN</a:t>
            </a:r>
          </a:p>
          <a:p>
            <a:pPr marL="0" indent="0">
              <a:lnSpc>
                <a:spcPct val="150000"/>
              </a:lnSpc>
              <a:buNone/>
            </a:pPr>
            <a:endParaRPr lang="fr-FR" sz="2400" dirty="0" smtClean="0">
              <a:latin typeface="Arial" panose="020B0604020202020204" pitchFamily="34" charset="0"/>
              <a:cs typeface="Arial" panose="020B0604020202020204" pitchFamily="34" charset="0"/>
            </a:endParaRPr>
          </a:p>
          <a:p>
            <a:pPr marL="514350" indent="-514350">
              <a:lnSpc>
                <a:spcPct val="150000"/>
              </a:lnSpc>
              <a:buFont typeface="+mj-lt"/>
              <a:buAutoNum type="arabicPeriod"/>
            </a:pPr>
            <a:endParaRPr lang="fr-FR" sz="2400" dirty="0" smtClean="0">
              <a:latin typeface="Arial" panose="020B0604020202020204" pitchFamily="34" charset="0"/>
              <a:cs typeface="Arial" panose="020B0604020202020204" pitchFamily="34" charset="0"/>
            </a:endParaRPr>
          </a:p>
          <a:p>
            <a:pPr marL="514350" indent="-514350">
              <a:lnSpc>
                <a:spcPct val="150000"/>
              </a:lnSpc>
              <a:buFont typeface="+mj-lt"/>
              <a:buAutoNum type="arabicPeriod"/>
            </a:pPr>
            <a:endParaRPr lang="fr-FR" sz="2400" dirty="0" smtClean="0">
              <a:latin typeface="Arial" panose="020B0604020202020204" pitchFamily="34" charset="0"/>
              <a:cs typeface="Arial" panose="020B0604020202020204" pitchFamily="34" charset="0"/>
            </a:endParaRPr>
          </a:p>
          <a:p>
            <a:pPr marL="514350" indent="-514350">
              <a:lnSpc>
                <a:spcPct val="150000"/>
              </a:lnSpc>
              <a:buFont typeface="+mj-lt"/>
              <a:buAutoNum type="arabicPeriod"/>
            </a:pPr>
            <a:endParaRPr lang="fr-FR" sz="2400" dirty="0" smtClean="0">
              <a:latin typeface="Arial" panose="020B0604020202020204" pitchFamily="34" charset="0"/>
              <a:cs typeface="Arial" panose="020B0604020202020204" pitchFamily="34" charset="0"/>
            </a:endParaRPr>
          </a:p>
          <a:p>
            <a:pPr marL="514350" indent="-514350">
              <a:lnSpc>
                <a:spcPct val="150000"/>
              </a:lnSpc>
              <a:buFont typeface="+mj-lt"/>
              <a:buAutoNum type="arabicPeriod"/>
            </a:pPr>
            <a:endParaRPr lang="fr-FR" sz="2400" dirty="0" smtClean="0">
              <a:latin typeface="Arial" panose="020B0604020202020204" pitchFamily="34" charset="0"/>
              <a:cs typeface="Arial" panose="020B0604020202020204" pitchFamily="34" charset="0"/>
            </a:endParaRPr>
          </a:p>
          <a:p>
            <a:pPr marL="514350" indent="-514350">
              <a:lnSpc>
                <a:spcPct val="150000"/>
              </a:lnSpc>
              <a:buFont typeface="+mj-lt"/>
              <a:buAutoNum type="arabicPeriod"/>
            </a:pPr>
            <a:endParaRPr lang="fr-F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9339867"/>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latin typeface="Arial Black" panose="020B0A04020102020204" pitchFamily="34" charset="0"/>
              </a:rPr>
              <a:t>OBJECTIFS SPECIFIQUES</a:t>
            </a:r>
            <a:endParaRPr lang="fr-FR" b="1" dirty="0">
              <a:latin typeface="Arial Black" panose="020B0A04020102020204" pitchFamily="34" charset="0"/>
            </a:endParaRPr>
          </a:p>
        </p:txBody>
      </p:sp>
      <p:sp>
        <p:nvSpPr>
          <p:cNvPr id="3" name="Espace réservé du contenu 2"/>
          <p:cNvSpPr>
            <a:spLocks noGrp="1"/>
          </p:cNvSpPr>
          <p:nvPr>
            <p:ph idx="1"/>
          </p:nvPr>
        </p:nvSpPr>
        <p:spPr>
          <a:xfrm>
            <a:off x="520504" y="2103120"/>
            <a:ext cx="11169747" cy="3931920"/>
          </a:xfrm>
        </p:spPr>
        <p:txBody>
          <a:bodyPr>
            <a:normAutofit/>
          </a:bodyPr>
          <a:lstStyle/>
          <a:p>
            <a:pPr marL="0" indent="0">
              <a:lnSpc>
                <a:spcPct val="150000"/>
              </a:lnSpc>
              <a:buNone/>
            </a:pPr>
            <a:r>
              <a:rPr lang="fr-FR" sz="2400" dirty="0" smtClean="0">
                <a:latin typeface="Arial" panose="020B0604020202020204" pitchFamily="34" charset="0"/>
                <a:cs typeface="Arial" panose="020B0604020202020204" pitchFamily="34" charset="0"/>
              </a:rPr>
              <a:t>11. Énoncer sans erreur l’objectif général de la PPN ;</a:t>
            </a:r>
          </a:p>
          <a:p>
            <a:pPr marL="0" indent="0">
              <a:lnSpc>
                <a:spcPct val="150000"/>
              </a:lnSpc>
              <a:buNone/>
            </a:pPr>
            <a:r>
              <a:rPr lang="fr-FR" sz="2400" dirty="0" smtClean="0">
                <a:latin typeface="Arial" panose="020B0604020202020204" pitchFamily="34" charset="0"/>
                <a:cs typeface="Arial" panose="020B0604020202020204" pitchFamily="34" charset="0"/>
              </a:rPr>
              <a:t>12. Citer dans l’ordre les cinq objectifs spécifiques ou stratégiques de la PPN ;</a:t>
            </a:r>
          </a:p>
          <a:p>
            <a:pPr marL="0" indent="0">
              <a:lnSpc>
                <a:spcPct val="150000"/>
              </a:lnSpc>
              <a:buNone/>
            </a:pPr>
            <a:r>
              <a:rPr lang="fr-FR" sz="2400" dirty="0" smtClean="0">
                <a:latin typeface="Arial" panose="020B0604020202020204" pitchFamily="34" charset="0"/>
                <a:cs typeface="Arial" panose="020B0604020202020204" pitchFamily="34" charset="0"/>
              </a:rPr>
              <a:t>13. Identifier le document de mise en œuvre de la PPN .</a:t>
            </a:r>
          </a:p>
          <a:p>
            <a:pPr marL="0" indent="0">
              <a:lnSpc>
                <a:spcPct val="150000"/>
              </a:lnSpc>
              <a:buNone/>
            </a:pPr>
            <a:r>
              <a:rPr lang="fr-FR" sz="2400" dirty="0" smtClean="0">
                <a:latin typeface="Arial" panose="020B0604020202020204" pitchFamily="34" charset="0"/>
                <a:cs typeface="Arial" panose="020B0604020202020204" pitchFamily="34" charset="0"/>
              </a:rPr>
              <a:t>14. Énumérer sans erreur et dans l’ordre les quatre organes de coordination de la mise en œuvre de la PPN</a:t>
            </a:r>
          </a:p>
          <a:p>
            <a:pPr marL="0" indent="0">
              <a:lnSpc>
                <a:spcPct val="150000"/>
              </a:lnSpc>
              <a:buNone/>
            </a:pPr>
            <a:endParaRPr lang="fr-FR" sz="2400" dirty="0" smtClean="0">
              <a:latin typeface="Arial" panose="020B0604020202020204" pitchFamily="34" charset="0"/>
              <a:cs typeface="Arial" panose="020B0604020202020204" pitchFamily="34" charset="0"/>
            </a:endParaRPr>
          </a:p>
          <a:p>
            <a:pPr marL="514350" indent="-514350">
              <a:lnSpc>
                <a:spcPct val="150000"/>
              </a:lnSpc>
              <a:buFont typeface="+mj-lt"/>
              <a:buAutoNum type="arabicPeriod"/>
            </a:pPr>
            <a:endParaRPr lang="fr-FR" sz="2400" dirty="0" smtClean="0">
              <a:latin typeface="Arial" panose="020B0604020202020204" pitchFamily="34" charset="0"/>
              <a:cs typeface="Arial" panose="020B0604020202020204" pitchFamily="34" charset="0"/>
            </a:endParaRPr>
          </a:p>
          <a:p>
            <a:pPr marL="514350" indent="-514350">
              <a:lnSpc>
                <a:spcPct val="150000"/>
              </a:lnSpc>
              <a:buFont typeface="+mj-lt"/>
              <a:buAutoNum type="arabicPeriod"/>
            </a:pPr>
            <a:endParaRPr lang="fr-FR" sz="2400" dirty="0" smtClean="0">
              <a:latin typeface="Arial" panose="020B0604020202020204" pitchFamily="34" charset="0"/>
              <a:cs typeface="Arial" panose="020B0604020202020204" pitchFamily="34" charset="0"/>
            </a:endParaRPr>
          </a:p>
          <a:p>
            <a:pPr marL="514350" indent="-514350">
              <a:lnSpc>
                <a:spcPct val="150000"/>
              </a:lnSpc>
              <a:buFont typeface="+mj-lt"/>
              <a:buAutoNum type="arabicPeriod"/>
            </a:pPr>
            <a:endParaRPr lang="fr-FR" sz="2400" dirty="0" smtClean="0">
              <a:latin typeface="Arial" panose="020B0604020202020204" pitchFamily="34" charset="0"/>
              <a:cs typeface="Arial" panose="020B0604020202020204" pitchFamily="34" charset="0"/>
            </a:endParaRPr>
          </a:p>
          <a:p>
            <a:pPr marL="514350" indent="-514350">
              <a:lnSpc>
                <a:spcPct val="150000"/>
              </a:lnSpc>
              <a:buFont typeface="+mj-lt"/>
              <a:buAutoNum type="arabicPeriod"/>
            </a:pPr>
            <a:endParaRPr lang="fr-F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5303232"/>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600" dirty="0" smtClean="0">
                <a:latin typeface="Arial Black" panose="020B0A04020102020204" pitchFamily="34" charset="0"/>
              </a:rPr>
              <a:t>PLAN</a:t>
            </a:r>
            <a:endParaRPr lang="fr-FR" sz="3600" dirty="0">
              <a:latin typeface="Arial Black" panose="020B0A04020102020204" pitchFamily="34" charset="0"/>
            </a:endParaRPr>
          </a:p>
        </p:txBody>
      </p:sp>
      <p:sp>
        <p:nvSpPr>
          <p:cNvPr id="3" name="Espace réservé du contenu 2"/>
          <p:cNvSpPr>
            <a:spLocks noGrp="1"/>
          </p:cNvSpPr>
          <p:nvPr>
            <p:ph idx="1"/>
          </p:nvPr>
        </p:nvSpPr>
        <p:spPr>
          <a:xfrm>
            <a:off x="1066800" y="2225040"/>
            <a:ext cx="10058400" cy="4053840"/>
          </a:xfrm>
        </p:spPr>
        <p:txBody>
          <a:bodyPr>
            <a:normAutofit/>
          </a:bodyPr>
          <a:lstStyle/>
          <a:p>
            <a:pPr marL="400050" indent="-400050">
              <a:lnSpc>
                <a:spcPct val="200000"/>
              </a:lnSpc>
              <a:buFont typeface="+mj-lt"/>
              <a:buAutoNum type="romanUcPeriod"/>
            </a:pPr>
            <a:r>
              <a:rPr lang="fr-FR" sz="2800" dirty="0" smtClean="0">
                <a:latin typeface="Arial Black" panose="020B0A04020102020204" pitchFamily="34" charset="0"/>
              </a:rPr>
              <a:t>LA POLITIQUE NATIONALE DE SANTE</a:t>
            </a:r>
          </a:p>
          <a:p>
            <a:pPr marL="400050" indent="-400050">
              <a:lnSpc>
                <a:spcPct val="200000"/>
              </a:lnSpc>
              <a:buFont typeface="+mj-lt"/>
              <a:buAutoNum type="romanUcPeriod"/>
            </a:pPr>
            <a:r>
              <a:rPr lang="fr-FR" sz="2800" dirty="0" smtClean="0">
                <a:latin typeface="Arial Black" panose="020B0A04020102020204" pitchFamily="34" charset="0"/>
              </a:rPr>
              <a:t>LA POLITIQUE PHARMACEUTIQUE NATIONALE</a:t>
            </a:r>
          </a:p>
          <a:p>
            <a:pPr marL="0" indent="0">
              <a:lnSpc>
                <a:spcPct val="200000"/>
              </a:lnSpc>
              <a:buNone/>
            </a:pPr>
            <a:endParaRPr lang="fr-FR" sz="2800" dirty="0" smtClean="0">
              <a:latin typeface="Arial Black" panose="020B0A04020102020204" pitchFamily="34" charset="0"/>
            </a:endParaRPr>
          </a:p>
          <a:p>
            <a:pPr marL="0" indent="0">
              <a:lnSpc>
                <a:spcPct val="200000"/>
              </a:lnSpc>
              <a:buNone/>
            </a:pPr>
            <a:endParaRPr lang="fr-FR" sz="2800" dirty="0" smtClean="0">
              <a:latin typeface="Arial Black" panose="020B0A04020102020204" pitchFamily="34" charset="0"/>
            </a:endParaRPr>
          </a:p>
          <a:p>
            <a:pPr marL="400050" indent="-400050">
              <a:lnSpc>
                <a:spcPct val="200000"/>
              </a:lnSpc>
              <a:buFont typeface="+mj-lt"/>
              <a:buAutoNum type="romanUcPeriod"/>
            </a:pPr>
            <a:endParaRPr lang="fr-FR"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5875816"/>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smtClean="0">
                <a:latin typeface="Arial Black" panose="020B0A04020102020204" pitchFamily="34" charset="0"/>
              </a:rPr>
              <a:t>LA POLITIQUE NATIONALE DE SANTE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436097" y="2225040"/>
            <a:ext cx="11296357" cy="4632960"/>
          </a:xfrm>
        </p:spPr>
        <p:txBody>
          <a:bodyPr/>
          <a:lstStyle/>
          <a:p>
            <a:pPr marL="400050" indent="-400050">
              <a:buFont typeface="+mj-lt"/>
              <a:buAutoNum type="romanUcPeriod"/>
            </a:pPr>
            <a:r>
              <a:rPr lang="fr-FR" sz="2400" dirty="0" smtClean="0">
                <a:latin typeface="Arial" panose="020B0604020202020204" pitchFamily="34" charset="0"/>
                <a:cs typeface="Arial" panose="020B0604020202020204" pitchFamily="34" charset="0"/>
              </a:rPr>
              <a:t>LA POLITIQUE NATIONALE DE SANTE</a:t>
            </a:r>
          </a:p>
          <a:p>
            <a:pPr marL="0" indent="0">
              <a:buNone/>
            </a:pPr>
            <a:endParaRPr lang="fr-FR" sz="2400" dirty="0" smtClean="0">
              <a:latin typeface="Arial" panose="020B0604020202020204" pitchFamily="34" charset="0"/>
              <a:cs typeface="Arial" panose="020B0604020202020204" pitchFamily="34" charset="0"/>
            </a:endParaRPr>
          </a:p>
          <a:p>
            <a:pPr>
              <a:lnSpc>
                <a:spcPct val="150000"/>
              </a:lnSpc>
              <a:buFont typeface="Courier New" panose="02070309020205020404" pitchFamily="49" charset="0"/>
              <a:buChar char="o"/>
            </a:pPr>
            <a:r>
              <a:rPr lang="fr-FR" sz="2400" dirty="0">
                <a:latin typeface="Arial" panose="020B0604020202020204" pitchFamily="34" charset="0"/>
                <a:cs typeface="Arial" panose="020B0604020202020204" pitchFamily="34" charset="0"/>
              </a:rPr>
              <a:t>la </a:t>
            </a:r>
            <a:r>
              <a:rPr lang="fr-FR" sz="2400" b="1" dirty="0">
                <a:latin typeface="Arial" panose="020B0604020202020204" pitchFamily="34" charset="0"/>
                <a:cs typeface="Arial" panose="020B0604020202020204" pitchFamily="34" charset="0"/>
              </a:rPr>
              <a:t>loi n° 2019-677 du 23 Juillet 2019 </a:t>
            </a:r>
            <a:r>
              <a:rPr lang="fr-FR" sz="2400" dirty="0" smtClean="0">
                <a:latin typeface="Arial" panose="020B0604020202020204" pitchFamily="34" charset="0"/>
                <a:cs typeface="Arial" panose="020B0604020202020204" pitchFamily="34" charset="0"/>
              </a:rPr>
              <a:t>porte </a:t>
            </a:r>
            <a:r>
              <a:rPr lang="fr-FR" sz="2400" dirty="0">
                <a:latin typeface="Arial" panose="020B0604020202020204" pitchFamily="34" charset="0"/>
                <a:cs typeface="Arial" panose="020B0604020202020204" pitchFamily="34" charset="0"/>
              </a:rPr>
              <a:t>orientation de la politique de santé publique en Côte d'Ivoire(2</a:t>
            </a:r>
            <a:r>
              <a:rPr lang="fr-FR" sz="2400" dirty="0" smtClean="0">
                <a:latin typeface="Arial" panose="020B0604020202020204" pitchFamily="34" charset="0"/>
                <a:cs typeface="Arial" panose="020B0604020202020204" pitchFamily="34" charset="0"/>
              </a:rPr>
              <a:t>).</a:t>
            </a:r>
          </a:p>
          <a:p>
            <a:pPr>
              <a:lnSpc>
                <a:spcPct val="150000"/>
              </a:lnSpc>
              <a:buFont typeface="Courier New" panose="02070309020205020404" pitchFamily="49" charset="0"/>
              <a:buChar char="o"/>
            </a:pPr>
            <a:r>
              <a:rPr lang="fr-FR" sz="2400" dirty="0">
                <a:latin typeface="Arial" panose="020B0604020202020204" pitchFamily="34" charset="0"/>
                <a:cs typeface="Arial" panose="020B0604020202020204" pitchFamily="34" charset="0"/>
              </a:rPr>
              <a:t>La politique sanitaire de la Côte d’Ivoire est décrite depuis 2011 dans </a:t>
            </a:r>
            <a:r>
              <a:rPr lang="fr-FR" sz="2400" b="1" dirty="0">
                <a:latin typeface="Arial" panose="020B0604020202020204" pitchFamily="34" charset="0"/>
                <a:cs typeface="Arial" panose="020B0604020202020204" pitchFamily="34" charset="0"/>
              </a:rPr>
              <a:t>un document </a:t>
            </a:r>
            <a:r>
              <a:rPr lang="fr-FR" sz="2400" b="1" dirty="0" smtClean="0">
                <a:latin typeface="Arial" panose="020B0604020202020204" pitchFamily="34" charset="0"/>
                <a:cs typeface="Arial" panose="020B0604020202020204" pitchFamily="34" charset="0"/>
              </a:rPr>
              <a:t>dit « </a:t>
            </a:r>
            <a:r>
              <a:rPr lang="fr-FR" sz="2400" b="1" dirty="0">
                <a:latin typeface="Arial" panose="020B0604020202020204" pitchFamily="34" charset="0"/>
                <a:cs typeface="Arial" panose="020B0604020202020204" pitchFamily="34" charset="0"/>
              </a:rPr>
              <a:t>Politique Nationale de Santé </a:t>
            </a:r>
            <a:r>
              <a:rPr lang="fr-FR" sz="2400" b="1" dirty="0" smtClean="0">
                <a:latin typeface="Arial" panose="020B0604020202020204" pitchFamily="34" charset="0"/>
                <a:cs typeface="Arial" panose="020B0604020202020204" pitchFamily="34" charset="0"/>
              </a:rPr>
              <a:t>( PNS )</a:t>
            </a:r>
          </a:p>
          <a:p>
            <a:pPr>
              <a:lnSpc>
                <a:spcPct val="150000"/>
              </a:lnSpc>
              <a:buFont typeface="Wingdings" panose="05000000000000000000" pitchFamily="2" charset="2"/>
              <a:buChar char="Ø"/>
            </a:pPr>
            <a:endParaRPr lang="fr-F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5613732"/>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436098" y="2225040"/>
            <a:ext cx="10689102" cy="4053840"/>
          </a:xfrm>
        </p:spPr>
        <p:txBody>
          <a:bodyPr>
            <a:normAutofit lnSpcReduction="10000"/>
          </a:bodyPr>
          <a:lstStyle/>
          <a:p>
            <a:pPr marL="400050" indent="-400050">
              <a:buFont typeface="+mj-lt"/>
              <a:buAutoNum type="romanUcPeriod"/>
            </a:pPr>
            <a:r>
              <a:rPr lang="fr-FR" sz="2400" b="1" dirty="0" smtClean="0">
                <a:latin typeface="Arial" panose="020B0604020202020204" pitchFamily="34" charset="0"/>
                <a:cs typeface="Arial" panose="020B0604020202020204" pitchFamily="34" charset="0"/>
              </a:rPr>
              <a:t>LA POLITIQUE NATIONALE DE SANTE</a:t>
            </a:r>
          </a:p>
          <a:p>
            <a:pPr marL="400050" indent="-400050">
              <a:buFont typeface="+mj-lt"/>
              <a:buAutoNum type="romanUcPeriod"/>
            </a:pPr>
            <a:endParaRPr lang="fr-FR" sz="2400" b="1" dirty="0" smtClean="0">
              <a:latin typeface="Arial" panose="020B0604020202020204" pitchFamily="34" charset="0"/>
              <a:cs typeface="Arial" panose="020B0604020202020204" pitchFamily="34" charset="0"/>
            </a:endParaRPr>
          </a:p>
          <a:p>
            <a:pPr marL="0" indent="0" algn="ctr">
              <a:lnSpc>
                <a:spcPct val="150000"/>
              </a:lnSpc>
              <a:buNone/>
            </a:pPr>
            <a:r>
              <a:rPr lang="fr-FR" sz="2400" i="1" dirty="0" smtClean="0">
                <a:latin typeface="Arial" panose="020B0604020202020204" pitchFamily="34" charset="0"/>
                <a:cs typeface="Arial" panose="020B0604020202020204" pitchFamily="34" charset="0"/>
              </a:rPr>
              <a:t>1. PRINCIPES </a:t>
            </a:r>
            <a:r>
              <a:rPr lang="fr-FR" sz="2400" i="1" dirty="0">
                <a:latin typeface="Arial" panose="020B0604020202020204" pitchFamily="34" charset="0"/>
                <a:cs typeface="Arial" panose="020B0604020202020204" pitchFamily="34" charset="0"/>
              </a:rPr>
              <a:t>DE LA POLITIQUE NATIONALE DE </a:t>
            </a:r>
            <a:r>
              <a:rPr lang="fr-FR" sz="2400" i="1" dirty="0" smtClean="0">
                <a:latin typeface="Arial" panose="020B0604020202020204" pitchFamily="34" charset="0"/>
                <a:cs typeface="Arial" panose="020B0604020202020204" pitchFamily="34" charset="0"/>
              </a:rPr>
              <a:t>SANTE</a:t>
            </a:r>
            <a:endParaRPr lang="fr-FR" sz="2400" dirty="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fr-FR" sz="2400" dirty="0">
                <a:latin typeface="Arial" panose="020B0604020202020204" pitchFamily="34" charset="0"/>
                <a:cs typeface="Arial" panose="020B0604020202020204" pitchFamily="34" charset="0"/>
              </a:rPr>
              <a:t>Principes </a:t>
            </a:r>
            <a:r>
              <a:rPr lang="fr-FR" sz="2400" b="1" dirty="0">
                <a:latin typeface="Arial" panose="020B0604020202020204" pitchFamily="34" charset="0"/>
                <a:cs typeface="Arial" panose="020B0604020202020204" pitchFamily="34" charset="0"/>
              </a:rPr>
              <a:t>d’équité</a:t>
            </a:r>
          </a:p>
          <a:p>
            <a:pPr>
              <a:lnSpc>
                <a:spcPct val="150000"/>
              </a:lnSpc>
              <a:buFont typeface="Wingdings" panose="05000000000000000000" pitchFamily="2" charset="2"/>
              <a:buChar char="Ø"/>
            </a:pPr>
            <a:r>
              <a:rPr lang="fr-FR" sz="2400" dirty="0">
                <a:latin typeface="Arial" panose="020B0604020202020204" pitchFamily="34" charset="0"/>
                <a:cs typeface="Arial" panose="020B0604020202020204" pitchFamily="34" charset="0"/>
              </a:rPr>
              <a:t>Principes </a:t>
            </a:r>
            <a:r>
              <a:rPr lang="fr-FR" sz="2400" b="1" dirty="0" smtClean="0">
                <a:latin typeface="Arial" panose="020B0604020202020204" pitchFamily="34" charset="0"/>
                <a:cs typeface="Arial" panose="020B0604020202020204" pitchFamily="34" charset="0"/>
              </a:rPr>
              <a:t>d’égalité</a:t>
            </a:r>
          </a:p>
          <a:p>
            <a:pPr>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Principes de </a:t>
            </a:r>
            <a:r>
              <a:rPr lang="fr-FR" sz="2400" b="1" dirty="0" smtClean="0">
                <a:latin typeface="Arial" panose="020B0604020202020204" pitchFamily="34" charset="0"/>
                <a:cs typeface="Arial" panose="020B0604020202020204" pitchFamily="34" charset="0"/>
              </a:rPr>
              <a:t>justice sociale</a:t>
            </a:r>
          </a:p>
          <a:p>
            <a:pPr>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Principes </a:t>
            </a:r>
            <a:r>
              <a:rPr lang="fr-FR" sz="2400" b="1" dirty="0" smtClean="0">
                <a:latin typeface="Arial" panose="020B0604020202020204" pitchFamily="34" charset="0"/>
                <a:cs typeface="Arial" panose="020B0604020202020204" pitchFamily="34" charset="0"/>
              </a:rPr>
              <a:t>d’éthique</a:t>
            </a:r>
          </a:p>
          <a:p>
            <a:pPr>
              <a:lnSpc>
                <a:spcPct val="150000"/>
              </a:lnSpc>
              <a:buFont typeface="Wingdings" panose="05000000000000000000" pitchFamily="2" charset="2"/>
              <a:buChar char="Ø"/>
            </a:pPr>
            <a:endParaRPr lang="fr-FR"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endParaRPr lang="fr-F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1847863"/>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436097" y="2225040"/>
            <a:ext cx="11324493" cy="4457114"/>
          </a:xfrm>
        </p:spPr>
        <p:txBody>
          <a:bodyPr>
            <a:normAutofit/>
          </a:bodyPr>
          <a:lstStyle/>
          <a:p>
            <a:pPr marL="400050" indent="-400050">
              <a:buFont typeface="+mj-lt"/>
              <a:buAutoNum type="romanUcPeriod"/>
            </a:pPr>
            <a:r>
              <a:rPr lang="fr-FR" sz="2400" b="1" dirty="0" smtClean="0">
                <a:latin typeface="Arial" panose="020B0604020202020204" pitchFamily="34" charset="0"/>
                <a:cs typeface="Arial" panose="020B0604020202020204" pitchFamily="34" charset="0"/>
              </a:rPr>
              <a:t>LA POLITIQUE NATIONALE DE SANTE</a:t>
            </a:r>
          </a:p>
          <a:p>
            <a:pPr marL="400050" indent="-400050">
              <a:buFont typeface="+mj-lt"/>
              <a:buAutoNum type="romanUcPeriod"/>
            </a:pPr>
            <a:endParaRPr lang="fr-FR" sz="2400" dirty="0" smtClean="0">
              <a:latin typeface="Arial" panose="020B0604020202020204" pitchFamily="34" charset="0"/>
              <a:cs typeface="Arial" panose="020B0604020202020204" pitchFamily="34" charset="0"/>
            </a:endParaRPr>
          </a:p>
          <a:p>
            <a:pPr marL="457200" indent="-457200" algn="ctr">
              <a:lnSpc>
                <a:spcPct val="150000"/>
              </a:lnSpc>
              <a:buFont typeface="+mj-lt"/>
              <a:buAutoNum type="arabicPeriod"/>
            </a:pPr>
            <a:r>
              <a:rPr lang="fr-FR" sz="2400" i="1" dirty="0" smtClean="0">
                <a:latin typeface="Arial" panose="020B0604020202020204" pitchFamily="34" charset="0"/>
                <a:cs typeface="Arial" panose="020B0604020202020204" pitchFamily="34" charset="0"/>
              </a:rPr>
              <a:t>PRINCIPES </a:t>
            </a:r>
            <a:r>
              <a:rPr lang="fr-FR" sz="2400" i="1" dirty="0">
                <a:latin typeface="Arial" panose="020B0604020202020204" pitchFamily="34" charset="0"/>
                <a:cs typeface="Arial" panose="020B0604020202020204" pitchFamily="34" charset="0"/>
              </a:rPr>
              <a:t>DE LA POLITIQUE NATIONALE DE SANTE</a:t>
            </a:r>
          </a:p>
          <a:p>
            <a:pPr>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Principes de </a:t>
            </a:r>
            <a:r>
              <a:rPr lang="fr-FR" sz="2400" b="1" dirty="0" smtClean="0">
                <a:latin typeface="Arial" panose="020B0604020202020204" pitchFamily="34" charset="0"/>
                <a:cs typeface="Arial" panose="020B0604020202020204" pitchFamily="34" charset="0"/>
              </a:rPr>
              <a:t>solidarité nationale</a:t>
            </a:r>
          </a:p>
          <a:p>
            <a:pPr>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Principe de </a:t>
            </a:r>
            <a:r>
              <a:rPr lang="fr-FR" sz="2400" b="1" dirty="0" smtClean="0">
                <a:latin typeface="Arial" panose="020B0604020202020204" pitchFamily="34" charset="0"/>
                <a:cs typeface="Arial" panose="020B0604020202020204" pitchFamily="34" charset="0"/>
              </a:rPr>
              <a:t>rigueur</a:t>
            </a:r>
          </a:p>
          <a:p>
            <a:pPr>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Principes de </a:t>
            </a:r>
            <a:r>
              <a:rPr lang="fr-FR" sz="2400" b="1" dirty="0" smtClean="0">
                <a:latin typeface="Arial" panose="020B0604020202020204" pitchFamily="34" charset="0"/>
                <a:cs typeface="Arial" panose="020B0604020202020204" pitchFamily="34" charset="0"/>
              </a:rPr>
              <a:t>transparence</a:t>
            </a:r>
          </a:p>
          <a:p>
            <a:pPr>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Principes </a:t>
            </a:r>
            <a:r>
              <a:rPr lang="fr-FR" sz="2400" b="1" dirty="0" smtClean="0">
                <a:latin typeface="Arial" panose="020B0604020202020204" pitchFamily="34" charset="0"/>
                <a:cs typeface="Arial" panose="020B0604020202020204" pitchFamily="34" charset="0"/>
              </a:rPr>
              <a:t>d’innovation</a:t>
            </a:r>
          </a:p>
          <a:p>
            <a:pPr>
              <a:lnSpc>
                <a:spcPct val="150000"/>
              </a:lnSpc>
              <a:buFont typeface="Wingdings" panose="05000000000000000000" pitchFamily="2" charset="2"/>
              <a:buChar char="Ø"/>
            </a:pPr>
            <a:endParaRPr lang="fr-FR"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endParaRPr lang="fr-FR"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endParaRPr lang="fr-F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0446293"/>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506437" y="2225040"/>
            <a:ext cx="10618763" cy="4053840"/>
          </a:xfrm>
        </p:spPr>
        <p:txBody>
          <a:bodyPr>
            <a:normAutofit/>
          </a:bodyPr>
          <a:lstStyle/>
          <a:p>
            <a:pPr marL="0" indent="0">
              <a:buNone/>
            </a:pPr>
            <a:r>
              <a:rPr lang="fr-FR" sz="2400" i="1" dirty="0" smtClean="0">
                <a:latin typeface="Arial" panose="020B0604020202020204" pitchFamily="34" charset="0"/>
                <a:cs typeface="Arial" panose="020B0604020202020204" pitchFamily="34" charset="0"/>
              </a:rPr>
              <a:t>2. BUT DE LA POLITIQUE NATIONALE DE SANTE</a:t>
            </a:r>
          </a:p>
          <a:p>
            <a:pPr marL="0" indent="0">
              <a:buNone/>
            </a:pPr>
            <a:endParaRPr lang="fr-FR" sz="2400"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garantir </a:t>
            </a:r>
            <a:r>
              <a:rPr lang="fr-FR" sz="2400" dirty="0">
                <a:latin typeface="Arial" panose="020B0604020202020204" pitchFamily="34" charset="0"/>
                <a:cs typeface="Arial" panose="020B0604020202020204" pitchFamily="34" charset="0"/>
              </a:rPr>
              <a:t>le </a:t>
            </a:r>
            <a:r>
              <a:rPr lang="fr-FR" sz="2400" b="1" dirty="0">
                <a:latin typeface="Arial" panose="020B0604020202020204" pitchFamily="34" charset="0"/>
                <a:cs typeface="Arial" panose="020B0604020202020204" pitchFamily="34" charset="0"/>
              </a:rPr>
              <a:t>droit à la santé </a:t>
            </a:r>
            <a:r>
              <a:rPr lang="fr-FR" sz="2400" dirty="0">
                <a:latin typeface="Arial" panose="020B0604020202020204" pitchFamily="34" charset="0"/>
                <a:cs typeface="Arial" panose="020B0604020202020204" pitchFamily="34" charset="0"/>
              </a:rPr>
              <a:t>à tout citoyen. </a:t>
            </a:r>
          </a:p>
          <a:p>
            <a:pPr>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donne les </a:t>
            </a:r>
            <a:r>
              <a:rPr lang="fr-FR" sz="2400" b="1" dirty="0">
                <a:latin typeface="Arial" panose="020B0604020202020204" pitchFamily="34" charset="0"/>
                <a:cs typeface="Arial" panose="020B0604020202020204" pitchFamily="34" charset="0"/>
              </a:rPr>
              <a:t>orientations sur la prévention et la promotion </a:t>
            </a:r>
            <a:r>
              <a:rPr lang="fr-FR" sz="2400" dirty="0">
                <a:latin typeface="Arial" panose="020B0604020202020204" pitchFamily="34" charset="0"/>
                <a:cs typeface="Arial" panose="020B0604020202020204" pitchFamily="34" charset="0"/>
              </a:rPr>
              <a:t>de la </a:t>
            </a:r>
            <a:r>
              <a:rPr lang="fr-FR" sz="2400" dirty="0" smtClean="0">
                <a:latin typeface="Arial" panose="020B0604020202020204" pitchFamily="34" charset="0"/>
                <a:cs typeface="Arial" panose="020B0604020202020204" pitchFamily="34" charset="0"/>
              </a:rPr>
              <a:t>santé</a:t>
            </a:r>
          </a:p>
          <a:p>
            <a:pPr>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Offrir de </a:t>
            </a:r>
            <a:r>
              <a:rPr lang="fr-FR" sz="2400" dirty="0">
                <a:latin typeface="Arial" panose="020B0604020202020204" pitchFamily="34" charset="0"/>
                <a:cs typeface="Arial" panose="020B0604020202020204" pitchFamily="34" charset="0"/>
              </a:rPr>
              <a:t>façon </a:t>
            </a:r>
            <a:r>
              <a:rPr lang="fr-FR" sz="2400" b="1" dirty="0">
                <a:latin typeface="Arial" panose="020B0604020202020204" pitchFamily="34" charset="0"/>
                <a:cs typeface="Arial" panose="020B0604020202020204" pitchFamily="34" charset="0"/>
              </a:rPr>
              <a:t>permanente des soins de santé de qualité acceptable </a:t>
            </a:r>
            <a:r>
              <a:rPr lang="fr-FR" sz="2400" dirty="0">
                <a:latin typeface="Arial" panose="020B0604020202020204" pitchFamily="34" charset="0"/>
                <a:cs typeface="Arial" panose="020B0604020202020204" pitchFamily="34" charset="0"/>
              </a:rPr>
              <a:t>par tous et accessibles à tous, géographiquement et économiquement.</a:t>
            </a:r>
          </a:p>
          <a:p>
            <a:pPr marL="0" indent="0">
              <a:lnSpc>
                <a:spcPct val="150000"/>
              </a:lnSpc>
              <a:buNone/>
            </a:pPr>
            <a:endParaRPr lang="fr-FR" sz="2400"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endParaRPr lang="fr-FR"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endParaRPr lang="fr-F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7920036"/>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618978" y="2225040"/>
            <a:ext cx="11099410" cy="4053840"/>
          </a:xfrm>
        </p:spPr>
        <p:txBody>
          <a:bodyPr>
            <a:normAutofit/>
          </a:bodyPr>
          <a:lstStyle/>
          <a:p>
            <a:pPr marL="0" indent="0">
              <a:buNone/>
            </a:pPr>
            <a:r>
              <a:rPr lang="fr-FR" sz="2400" i="1" dirty="0" smtClean="0">
                <a:latin typeface="Arial" panose="020B0604020202020204" pitchFamily="34" charset="0"/>
                <a:cs typeface="Arial" panose="020B0604020202020204" pitchFamily="34" charset="0"/>
              </a:rPr>
              <a:t>3. OBJECTIFS DE LA POLITIQUE NATIONALE DE SANTE</a:t>
            </a:r>
          </a:p>
          <a:p>
            <a:pPr marL="0" indent="0">
              <a:buNone/>
            </a:pPr>
            <a:endParaRPr lang="fr-FR" sz="2400" i="1" dirty="0" smtClean="0">
              <a:latin typeface="Arial" panose="020B0604020202020204" pitchFamily="34" charset="0"/>
              <a:cs typeface="Arial" panose="020B0604020202020204" pitchFamily="34" charset="0"/>
            </a:endParaRPr>
          </a:p>
          <a:p>
            <a:pPr lvl="0">
              <a:lnSpc>
                <a:spcPct val="150000"/>
              </a:lnSpc>
              <a:buFont typeface="Wingdings" panose="05000000000000000000" pitchFamily="2" charset="2"/>
              <a:buChar char="q"/>
            </a:pPr>
            <a:r>
              <a:rPr lang="fr-FR" sz="2400" dirty="0">
                <a:latin typeface="Arial" panose="020B0604020202020204" pitchFamily="34" charset="0"/>
                <a:cs typeface="Arial" panose="020B0604020202020204" pitchFamily="34" charset="0"/>
              </a:rPr>
              <a:t>La surveillance et l’observation de l’état de santé de la population et de ses déterminants ;</a:t>
            </a:r>
          </a:p>
          <a:p>
            <a:pPr lvl="0">
              <a:lnSpc>
                <a:spcPct val="150000"/>
              </a:lnSpc>
              <a:buFont typeface="Wingdings" panose="05000000000000000000" pitchFamily="2" charset="2"/>
              <a:buChar char="q"/>
            </a:pPr>
            <a:r>
              <a:rPr lang="fr-FR" sz="2400" dirty="0">
                <a:latin typeface="Arial" panose="020B0604020202020204" pitchFamily="34" charset="0"/>
                <a:cs typeface="Arial" panose="020B0604020202020204" pitchFamily="34" charset="0"/>
              </a:rPr>
              <a:t>La lutte contre les épidémies ;</a:t>
            </a:r>
          </a:p>
          <a:p>
            <a:pPr lvl="0">
              <a:lnSpc>
                <a:spcPct val="150000"/>
              </a:lnSpc>
              <a:buFont typeface="Wingdings" panose="05000000000000000000" pitchFamily="2" charset="2"/>
              <a:buChar char="q"/>
            </a:pPr>
            <a:r>
              <a:rPr lang="fr-FR" sz="2400" dirty="0">
                <a:latin typeface="Arial" panose="020B0604020202020204" pitchFamily="34" charset="0"/>
                <a:cs typeface="Arial" panose="020B0604020202020204" pitchFamily="34" charset="0"/>
              </a:rPr>
              <a:t>La prévention des maladies, des traumatismes et des incapacités ;</a:t>
            </a:r>
          </a:p>
          <a:p>
            <a:pPr>
              <a:lnSpc>
                <a:spcPct val="150000"/>
              </a:lnSpc>
              <a:buFont typeface="Wingdings" panose="05000000000000000000" pitchFamily="2" charset="2"/>
              <a:buChar char="Ø"/>
            </a:pPr>
            <a:endParaRPr lang="fr-F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6746918"/>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1066800" y="2225040"/>
            <a:ext cx="10058400" cy="4053840"/>
          </a:xfrm>
        </p:spPr>
        <p:txBody>
          <a:bodyPr>
            <a:normAutofit/>
          </a:bodyPr>
          <a:lstStyle/>
          <a:p>
            <a:pPr marL="0" indent="0">
              <a:buNone/>
            </a:pPr>
            <a:r>
              <a:rPr lang="fr-FR" sz="2400" i="1" dirty="0" smtClean="0">
                <a:latin typeface="Arial" panose="020B0604020202020204" pitchFamily="34" charset="0"/>
                <a:cs typeface="Arial" panose="020B0604020202020204" pitchFamily="34" charset="0"/>
              </a:rPr>
              <a:t>3. OBJECTIFS DE LA POLITIQUE NATIONALE DE SANTE</a:t>
            </a:r>
          </a:p>
          <a:p>
            <a:pPr marL="0" indent="0">
              <a:buNone/>
            </a:pPr>
            <a:endParaRPr lang="fr-FR" sz="2400" dirty="0" smtClean="0">
              <a:latin typeface="Arial" panose="020B0604020202020204" pitchFamily="34" charset="0"/>
              <a:cs typeface="Arial" panose="020B0604020202020204" pitchFamily="34" charset="0"/>
            </a:endParaRPr>
          </a:p>
          <a:p>
            <a:pPr lvl="0">
              <a:lnSpc>
                <a:spcPct val="150000"/>
              </a:lnSpc>
              <a:buFont typeface="Wingdings" panose="05000000000000000000" pitchFamily="2" charset="2"/>
              <a:buChar char="q"/>
            </a:pPr>
            <a:r>
              <a:rPr lang="fr-FR" sz="2400" dirty="0" smtClean="0">
                <a:latin typeface="Arial" panose="020B0604020202020204" pitchFamily="34" charset="0"/>
                <a:cs typeface="Arial" panose="020B0604020202020204" pitchFamily="34" charset="0"/>
              </a:rPr>
              <a:t>L’amélioration </a:t>
            </a:r>
            <a:r>
              <a:rPr lang="fr-FR" sz="2400" dirty="0">
                <a:latin typeface="Arial" panose="020B0604020202020204" pitchFamily="34" charset="0"/>
                <a:cs typeface="Arial" panose="020B0604020202020204" pitchFamily="34" charset="0"/>
              </a:rPr>
              <a:t>de l’état de santé des populations et de la qualité de vie des personnes malades </a:t>
            </a:r>
            <a:r>
              <a:rPr lang="fr-FR" sz="2400" dirty="0" smtClean="0">
                <a:latin typeface="Arial" panose="020B0604020202020204" pitchFamily="34" charset="0"/>
                <a:cs typeface="Arial" panose="020B0604020202020204" pitchFamily="34" charset="0"/>
              </a:rPr>
              <a:t>;</a:t>
            </a:r>
          </a:p>
          <a:p>
            <a:pPr lvl="0">
              <a:lnSpc>
                <a:spcPct val="150000"/>
              </a:lnSpc>
              <a:buFont typeface="Wingdings" panose="05000000000000000000" pitchFamily="2" charset="2"/>
              <a:buChar char="q"/>
            </a:pPr>
            <a:endParaRPr lang="fr-FR" sz="2400" dirty="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q"/>
            </a:pPr>
            <a:r>
              <a:rPr lang="fr-FR" sz="2400" dirty="0">
                <a:latin typeface="Arial" panose="020B0604020202020204" pitchFamily="34" charset="0"/>
                <a:cs typeface="Arial" panose="020B0604020202020204" pitchFamily="34" charset="0"/>
              </a:rPr>
              <a:t>Le renforcement de la gouvernance du secteur de la santé </a:t>
            </a:r>
            <a:endParaRPr lang="fr-FR" sz="2400"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endParaRPr lang="fr-F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6354548"/>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1066800" y="2225040"/>
            <a:ext cx="10058400" cy="4053840"/>
          </a:xfrm>
        </p:spPr>
        <p:txBody>
          <a:bodyPr>
            <a:noAutofit/>
          </a:bodyPr>
          <a:lstStyle/>
          <a:p>
            <a:pPr marL="0" indent="0">
              <a:buNone/>
            </a:pPr>
            <a:r>
              <a:rPr lang="fr-FR" sz="2400" i="1" dirty="0" smtClean="0">
                <a:latin typeface="Arial" panose="020B0604020202020204" pitchFamily="34" charset="0"/>
                <a:cs typeface="Arial" panose="020B0604020202020204" pitchFamily="34" charset="0"/>
              </a:rPr>
              <a:t>3.OBJECTIFS DE LA POLITIQUE NATIONALE DE SANTE</a:t>
            </a:r>
          </a:p>
          <a:p>
            <a:pPr marL="0" indent="0">
              <a:buNone/>
            </a:pPr>
            <a:endParaRPr lang="fr-FR" sz="2400" i="1" dirty="0" smtClean="0">
              <a:latin typeface="Arial" panose="020B0604020202020204" pitchFamily="34" charset="0"/>
              <a:cs typeface="Arial" panose="020B0604020202020204" pitchFamily="34" charset="0"/>
            </a:endParaRPr>
          </a:p>
          <a:p>
            <a:pPr lvl="0">
              <a:lnSpc>
                <a:spcPct val="150000"/>
              </a:lnSpc>
              <a:buFont typeface="Wingdings" panose="05000000000000000000" pitchFamily="2" charset="2"/>
              <a:buChar char="q"/>
            </a:pPr>
            <a:r>
              <a:rPr lang="fr-FR" sz="2400" dirty="0">
                <a:latin typeface="Arial" panose="020B0604020202020204" pitchFamily="34" charset="0"/>
                <a:cs typeface="Arial" panose="020B0604020202020204" pitchFamily="34" charset="0"/>
              </a:rPr>
              <a:t>L’amélioration de la performance du système sanitaire </a:t>
            </a:r>
            <a:r>
              <a:rPr lang="fr-FR" sz="2400" dirty="0" smtClean="0">
                <a:latin typeface="Arial" panose="020B0604020202020204" pitchFamily="34" charset="0"/>
                <a:cs typeface="Arial" panose="020B0604020202020204" pitchFamily="34" charset="0"/>
              </a:rPr>
              <a:t>;</a:t>
            </a:r>
          </a:p>
          <a:p>
            <a:pPr lvl="0">
              <a:lnSpc>
                <a:spcPct val="150000"/>
              </a:lnSpc>
              <a:buFont typeface="Wingdings" panose="05000000000000000000" pitchFamily="2" charset="2"/>
              <a:buChar char="q"/>
            </a:pPr>
            <a:endParaRPr lang="fr-FR" sz="2400" dirty="0">
              <a:latin typeface="Arial" panose="020B0604020202020204" pitchFamily="34" charset="0"/>
              <a:cs typeface="Arial" panose="020B0604020202020204" pitchFamily="34" charset="0"/>
            </a:endParaRPr>
          </a:p>
          <a:p>
            <a:pPr lvl="0">
              <a:lnSpc>
                <a:spcPct val="150000"/>
              </a:lnSpc>
              <a:buFont typeface="Wingdings" panose="05000000000000000000" pitchFamily="2" charset="2"/>
              <a:buChar char="q"/>
            </a:pPr>
            <a:r>
              <a:rPr lang="fr-FR" sz="2400" dirty="0">
                <a:latin typeface="Arial" panose="020B0604020202020204" pitchFamily="34" charset="0"/>
                <a:cs typeface="Arial" panose="020B0604020202020204" pitchFamily="34" charset="0"/>
              </a:rPr>
              <a:t>L’amélioration de l’offre et la qualité des services de santé </a:t>
            </a:r>
            <a:r>
              <a:rPr lang="fr-FR" sz="2400" dirty="0" smtClean="0">
                <a:latin typeface="Arial" panose="020B0604020202020204" pitchFamily="34" charset="0"/>
                <a:cs typeface="Arial" panose="020B0604020202020204" pitchFamily="34" charset="0"/>
              </a:rPr>
              <a:t>;</a:t>
            </a:r>
            <a:endParaRPr lang="fr-F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3990991"/>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1066800" y="2225040"/>
            <a:ext cx="10058400" cy="4053840"/>
          </a:xfrm>
        </p:spPr>
        <p:txBody>
          <a:bodyPr>
            <a:noAutofit/>
          </a:bodyPr>
          <a:lstStyle/>
          <a:p>
            <a:pPr marL="0" indent="0">
              <a:buNone/>
            </a:pPr>
            <a:r>
              <a:rPr lang="fr-FR" sz="2400" i="1" dirty="0" smtClean="0">
                <a:latin typeface="Arial" panose="020B0604020202020204" pitchFamily="34" charset="0"/>
                <a:cs typeface="Arial" panose="020B0604020202020204" pitchFamily="34" charset="0"/>
              </a:rPr>
              <a:t>3.OBJECTIFS DE LA POLITIQUE NATIONALE DE SANTE</a:t>
            </a:r>
          </a:p>
          <a:p>
            <a:pPr marL="0" indent="0">
              <a:buNone/>
            </a:pPr>
            <a:endParaRPr lang="fr-FR" sz="2400" i="1" dirty="0" smtClean="0">
              <a:latin typeface="Arial" panose="020B0604020202020204" pitchFamily="34" charset="0"/>
              <a:cs typeface="Arial" panose="020B0604020202020204" pitchFamily="34" charset="0"/>
            </a:endParaRPr>
          </a:p>
          <a:p>
            <a:pPr lvl="0">
              <a:lnSpc>
                <a:spcPct val="150000"/>
              </a:lnSpc>
              <a:buFont typeface="Wingdings" panose="05000000000000000000" pitchFamily="2" charset="2"/>
              <a:buChar char="q"/>
            </a:pPr>
            <a:r>
              <a:rPr lang="fr-FR" sz="2400" dirty="0" smtClean="0">
                <a:latin typeface="Arial" panose="020B0604020202020204" pitchFamily="34" charset="0"/>
                <a:cs typeface="Arial" panose="020B0604020202020204" pitchFamily="34" charset="0"/>
              </a:rPr>
              <a:t>La </a:t>
            </a:r>
            <a:r>
              <a:rPr lang="fr-FR" sz="2400" dirty="0">
                <a:latin typeface="Arial" panose="020B0604020202020204" pitchFamily="34" charset="0"/>
                <a:cs typeface="Arial" panose="020B0604020202020204" pitchFamily="34" charset="0"/>
              </a:rPr>
              <a:t>promotion de la santé et de la médecine de proximité </a:t>
            </a:r>
            <a:r>
              <a:rPr lang="fr-FR" sz="2400" dirty="0" smtClean="0">
                <a:latin typeface="Arial" panose="020B0604020202020204" pitchFamily="34" charset="0"/>
                <a:cs typeface="Arial" panose="020B0604020202020204" pitchFamily="34" charset="0"/>
              </a:rPr>
              <a:t>;</a:t>
            </a:r>
          </a:p>
          <a:p>
            <a:pPr lvl="0">
              <a:lnSpc>
                <a:spcPct val="150000"/>
              </a:lnSpc>
              <a:buFont typeface="Wingdings" panose="05000000000000000000" pitchFamily="2" charset="2"/>
              <a:buChar char="q"/>
            </a:pPr>
            <a:endParaRPr lang="fr-FR" sz="2400" dirty="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q"/>
            </a:pPr>
            <a:r>
              <a:rPr lang="fr-FR" sz="2400" dirty="0">
                <a:latin typeface="Arial" panose="020B0604020202020204" pitchFamily="34" charset="0"/>
                <a:cs typeface="Arial" panose="020B0604020202020204" pitchFamily="34" charset="0"/>
              </a:rPr>
              <a:t>L’information et l’éducation à la santé de la population et l’organisation des débats publics sur les questions de santé et de risques sanitaires ;</a:t>
            </a:r>
          </a:p>
        </p:txBody>
      </p:sp>
    </p:spTree>
    <p:extLst>
      <p:ext uri="{BB962C8B-B14F-4D97-AF65-F5344CB8AC3E}">
        <p14:creationId xmlns:p14="http://schemas.microsoft.com/office/powerpoint/2010/main" val="129001116"/>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464235" y="2225040"/>
            <a:ext cx="11451100" cy="4419600"/>
          </a:xfrm>
        </p:spPr>
        <p:txBody>
          <a:bodyPr>
            <a:normAutofit/>
          </a:bodyPr>
          <a:lstStyle/>
          <a:p>
            <a:pPr marL="0" indent="0">
              <a:buNone/>
            </a:pPr>
            <a:r>
              <a:rPr lang="fr-FR" sz="2400" i="1" dirty="0" smtClean="0">
                <a:latin typeface="Arial" panose="020B0604020202020204" pitchFamily="34" charset="0"/>
                <a:cs typeface="Arial" panose="020B0604020202020204" pitchFamily="34" charset="0"/>
              </a:rPr>
              <a:t>3. OBJECTIFS DE LA POLITIQUE NATIONALE DE SANTE</a:t>
            </a:r>
          </a:p>
          <a:p>
            <a:pPr marL="0" indent="0">
              <a:buNone/>
            </a:pPr>
            <a:endParaRPr lang="fr-FR" sz="2400" dirty="0" smtClean="0">
              <a:latin typeface="Arial" panose="020B0604020202020204" pitchFamily="34" charset="0"/>
              <a:cs typeface="Arial" panose="020B0604020202020204" pitchFamily="34" charset="0"/>
            </a:endParaRPr>
          </a:p>
          <a:p>
            <a:pPr lvl="0">
              <a:lnSpc>
                <a:spcPct val="150000"/>
              </a:lnSpc>
              <a:buFont typeface="Wingdings" panose="05000000000000000000" pitchFamily="2" charset="2"/>
              <a:buChar char="q"/>
            </a:pPr>
            <a:r>
              <a:rPr lang="fr-FR" sz="2400" dirty="0">
                <a:latin typeface="Arial" panose="020B0604020202020204" pitchFamily="34" charset="0"/>
                <a:cs typeface="Arial" panose="020B0604020202020204" pitchFamily="34" charset="0"/>
              </a:rPr>
              <a:t>La réduction des inégalités de santé, par la promotion de la santé, par le développement </a:t>
            </a:r>
            <a:r>
              <a:rPr lang="fr-FR" sz="2400" dirty="0" smtClean="0">
                <a:latin typeface="Arial" panose="020B0604020202020204" pitchFamily="34" charset="0"/>
                <a:cs typeface="Arial" panose="020B0604020202020204" pitchFamily="34" charset="0"/>
              </a:rPr>
              <a:t>de l’accès </a:t>
            </a:r>
            <a:r>
              <a:rPr lang="fr-FR" sz="2400" dirty="0">
                <a:latin typeface="Arial" panose="020B0604020202020204" pitchFamily="34" charset="0"/>
                <a:cs typeface="Arial" panose="020B0604020202020204" pitchFamily="34" charset="0"/>
              </a:rPr>
              <a:t>aux soins et aux diagnostics sur l’ensemble du territoire ;</a:t>
            </a:r>
          </a:p>
          <a:p>
            <a:pPr lvl="0">
              <a:lnSpc>
                <a:spcPct val="150000"/>
              </a:lnSpc>
              <a:buFont typeface="Wingdings" panose="05000000000000000000" pitchFamily="2" charset="2"/>
              <a:buChar char="q"/>
            </a:pPr>
            <a:r>
              <a:rPr lang="fr-FR" sz="2400" dirty="0">
                <a:latin typeface="Arial" panose="020B0604020202020204" pitchFamily="34" charset="0"/>
                <a:cs typeface="Arial" panose="020B0604020202020204" pitchFamily="34" charset="0"/>
              </a:rPr>
              <a:t>La qualité et la sécurité des soins et des produits de santé ;</a:t>
            </a:r>
          </a:p>
          <a:p>
            <a:pPr marL="0" indent="0">
              <a:lnSpc>
                <a:spcPct val="150000"/>
              </a:lnSpc>
              <a:buNone/>
            </a:pPr>
            <a:endParaRPr lang="fr-FR" sz="20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5760763"/>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568960" y="2152357"/>
            <a:ext cx="11121292" cy="4492283"/>
          </a:xfrm>
        </p:spPr>
        <p:txBody>
          <a:bodyPr>
            <a:normAutofit fontScale="92500"/>
          </a:bodyPr>
          <a:lstStyle/>
          <a:p>
            <a:pPr marL="0" indent="0">
              <a:buNone/>
            </a:pPr>
            <a:r>
              <a:rPr lang="fr-FR" sz="2400" i="1" dirty="0" smtClean="0">
                <a:latin typeface="Arial" panose="020B0604020202020204" pitchFamily="34" charset="0"/>
                <a:cs typeface="Arial" panose="020B0604020202020204" pitchFamily="34" charset="0"/>
              </a:rPr>
              <a:t>3. OBJECTIFS DE LA POLITIQUE NATIONALE DE SANTE</a:t>
            </a:r>
          </a:p>
          <a:p>
            <a:pPr marL="0" indent="0">
              <a:buNone/>
            </a:pPr>
            <a:endParaRPr lang="fr-FR" sz="2400" dirty="0" smtClean="0">
              <a:latin typeface="Arial" panose="020B0604020202020204" pitchFamily="34" charset="0"/>
              <a:cs typeface="Arial" panose="020B0604020202020204" pitchFamily="34" charset="0"/>
            </a:endParaRPr>
          </a:p>
          <a:p>
            <a:pPr lvl="0">
              <a:lnSpc>
                <a:spcPct val="150000"/>
              </a:lnSpc>
              <a:buFont typeface="Wingdings" panose="05000000000000000000" pitchFamily="2" charset="2"/>
              <a:buChar char="q"/>
            </a:pPr>
            <a:r>
              <a:rPr lang="fr-FR" sz="2400" dirty="0" smtClean="0">
                <a:latin typeface="Arial" panose="020B0604020202020204" pitchFamily="34" charset="0"/>
                <a:cs typeface="Arial" panose="020B0604020202020204" pitchFamily="34" charset="0"/>
              </a:rPr>
              <a:t>La </a:t>
            </a:r>
            <a:r>
              <a:rPr lang="fr-FR" sz="2400" dirty="0">
                <a:latin typeface="Arial" panose="020B0604020202020204" pitchFamily="34" charset="0"/>
                <a:cs typeface="Arial" panose="020B0604020202020204" pitchFamily="34" charset="0"/>
              </a:rPr>
              <a:t>lutte contre les médicaments faux ou falsifiés et contrefaits </a:t>
            </a:r>
            <a:r>
              <a:rPr lang="fr-FR" sz="2400" dirty="0" smtClean="0">
                <a:latin typeface="Arial" panose="020B0604020202020204" pitchFamily="34" charset="0"/>
                <a:cs typeface="Arial" panose="020B0604020202020204" pitchFamily="34" charset="0"/>
              </a:rPr>
              <a:t>;</a:t>
            </a:r>
          </a:p>
          <a:p>
            <a:pPr lvl="0">
              <a:lnSpc>
                <a:spcPct val="150000"/>
              </a:lnSpc>
              <a:buFont typeface="Wingdings" panose="05000000000000000000" pitchFamily="2" charset="2"/>
              <a:buChar char="q"/>
            </a:pPr>
            <a:endParaRPr lang="fr-FR" sz="2400" dirty="0">
              <a:latin typeface="Arial" panose="020B0604020202020204" pitchFamily="34" charset="0"/>
              <a:cs typeface="Arial" panose="020B0604020202020204" pitchFamily="34" charset="0"/>
            </a:endParaRPr>
          </a:p>
          <a:p>
            <a:pPr lvl="0">
              <a:lnSpc>
                <a:spcPct val="150000"/>
              </a:lnSpc>
              <a:buFont typeface="Wingdings" panose="05000000000000000000" pitchFamily="2" charset="2"/>
              <a:buChar char="q"/>
            </a:pPr>
            <a:r>
              <a:rPr lang="fr-FR" sz="2400" dirty="0">
                <a:latin typeface="Arial" panose="020B0604020202020204" pitchFamily="34" charset="0"/>
                <a:cs typeface="Arial" panose="020B0604020202020204" pitchFamily="34" charset="0"/>
              </a:rPr>
              <a:t>La démographie des professions de santé</a:t>
            </a:r>
            <a:r>
              <a:rPr lang="fr-FR" sz="2400" dirty="0" smtClean="0">
                <a:latin typeface="Arial" panose="020B0604020202020204" pitchFamily="34" charset="0"/>
                <a:cs typeface="Arial" panose="020B0604020202020204" pitchFamily="34" charset="0"/>
              </a:rPr>
              <a:t>.</a:t>
            </a:r>
          </a:p>
          <a:p>
            <a:pPr lvl="0">
              <a:lnSpc>
                <a:spcPct val="150000"/>
              </a:lnSpc>
              <a:buFont typeface="Wingdings" panose="05000000000000000000" pitchFamily="2" charset="2"/>
              <a:buChar char="q"/>
            </a:pPr>
            <a:endParaRPr lang="fr-FR" sz="2400" dirty="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q"/>
            </a:pPr>
            <a:r>
              <a:rPr lang="fr-FR" sz="2400" dirty="0">
                <a:latin typeface="Arial" panose="020B0604020202020204" pitchFamily="34" charset="0"/>
                <a:cs typeface="Arial" panose="020B0604020202020204" pitchFamily="34" charset="0"/>
              </a:rPr>
              <a:t>La disponibilité des médicaments de qualité, à moindre coût et accessibles à tous ;</a:t>
            </a:r>
          </a:p>
          <a:p>
            <a:pPr lvl="0">
              <a:lnSpc>
                <a:spcPct val="150000"/>
              </a:lnSpc>
              <a:buFont typeface="Wingdings" panose="05000000000000000000" pitchFamily="2" charset="2"/>
              <a:buChar char="q"/>
            </a:pPr>
            <a:endParaRPr lang="fr-FR" sz="2400" dirty="0">
              <a:latin typeface="Arial" panose="020B0604020202020204" pitchFamily="34" charset="0"/>
              <a:cs typeface="Arial" panose="020B0604020202020204" pitchFamily="34" charset="0"/>
            </a:endParaRPr>
          </a:p>
          <a:p>
            <a:pPr marL="0" indent="0">
              <a:lnSpc>
                <a:spcPct val="150000"/>
              </a:lnSpc>
              <a:buNone/>
            </a:pPr>
            <a:endParaRPr lang="fr-FR" sz="20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6292697"/>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568960" y="2225040"/>
            <a:ext cx="11054080" cy="4419600"/>
          </a:xfrm>
        </p:spPr>
        <p:txBody>
          <a:bodyPr>
            <a:normAutofit/>
          </a:bodyPr>
          <a:lstStyle/>
          <a:p>
            <a:pPr marL="0" indent="0" algn="ctr">
              <a:buNone/>
            </a:pPr>
            <a:r>
              <a:rPr lang="fr-FR" sz="2800" dirty="0" smtClean="0">
                <a:latin typeface="Arial" panose="020B0604020202020204" pitchFamily="34" charset="0"/>
                <a:cs typeface="Arial" panose="020B0604020202020204" pitchFamily="34" charset="0"/>
              </a:rPr>
              <a:t>4. MISE EN OEUVRE DE LA POLITIQUE NATIONALE DE SANTE</a:t>
            </a:r>
          </a:p>
          <a:p>
            <a:pPr marL="0" indent="0">
              <a:buNone/>
            </a:pPr>
            <a:endParaRPr lang="fr-FR" dirty="0" smtClean="0">
              <a:latin typeface="Arial Black" panose="020B0A04020102020204" pitchFamily="34" charset="0"/>
            </a:endParaRPr>
          </a:p>
          <a:p>
            <a:pPr marL="0" indent="0">
              <a:lnSpc>
                <a:spcPct val="200000"/>
              </a:lnSpc>
              <a:buNone/>
            </a:pPr>
            <a:r>
              <a:rPr lang="fr-FR" sz="2400" dirty="0" smtClean="0">
                <a:latin typeface="Arial" panose="020B0604020202020204" pitchFamily="34" charset="0"/>
                <a:cs typeface="Arial" panose="020B0604020202020204" pitchFamily="34" charset="0"/>
              </a:rPr>
              <a:t>La Politique Nationale de Santé est mise en œuvre à travers un </a:t>
            </a:r>
            <a:r>
              <a:rPr lang="fr-FR" sz="2400" b="1" dirty="0" smtClean="0">
                <a:latin typeface="Arial" panose="020B0604020202020204" pitchFamily="34" charset="0"/>
                <a:cs typeface="Arial" panose="020B0604020202020204" pitchFamily="34" charset="0"/>
              </a:rPr>
              <a:t>Plan National de Développement Sanitaire (en abrégé PNDS)</a:t>
            </a:r>
            <a:r>
              <a:rPr lang="fr-FR" sz="2400" dirty="0" smtClean="0">
                <a:latin typeface="Arial" panose="020B0604020202020204" pitchFamily="34" charset="0"/>
                <a:cs typeface="Arial" panose="020B0604020202020204" pitchFamily="34" charset="0"/>
              </a:rPr>
              <a:t> pour une période de </a:t>
            </a:r>
            <a:r>
              <a:rPr lang="fr-FR" sz="2400" b="1" dirty="0" smtClean="0">
                <a:latin typeface="Arial" panose="020B0604020202020204" pitchFamily="34" charset="0"/>
                <a:cs typeface="Arial" panose="020B0604020202020204" pitchFamily="34" charset="0"/>
              </a:rPr>
              <a:t>5 ans </a:t>
            </a:r>
            <a:r>
              <a:rPr lang="fr-FR" sz="2400" dirty="0" smtClean="0">
                <a:latin typeface="Arial" panose="020B0604020202020204" pitchFamily="34" charset="0"/>
                <a:cs typeface="Arial" panose="020B0604020202020204" pitchFamily="34" charset="0"/>
              </a:rPr>
              <a:t>dans le strict respect des principes de gestion rationnelle. </a:t>
            </a:r>
          </a:p>
        </p:txBody>
      </p:sp>
    </p:spTree>
    <p:extLst>
      <p:ext uri="{BB962C8B-B14F-4D97-AF65-F5344CB8AC3E}">
        <p14:creationId xmlns:p14="http://schemas.microsoft.com/office/powerpoint/2010/main" val="3963592931"/>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393895" y="2225040"/>
            <a:ext cx="11380763" cy="4419600"/>
          </a:xfrm>
        </p:spPr>
        <p:txBody>
          <a:bodyPr>
            <a:normAutofit/>
          </a:bodyPr>
          <a:lstStyle/>
          <a:p>
            <a:pPr marL="0" indent="0" algn="ctr">
              <a:buNone/>
            </a:pPr>
            <a:r>
              <a:rPr lang="fr-FR" sz="2400" dirty="0" smtClean="0">
                <a:latin typeface="Arial" panose="020B0604020202020204" pitchFamily="34" charset="0"/>
                <a:cs typeface="Arial" panose="020B0604020202020204" pitchFamily="34" charset="0"/>
              </a:rPr>
              <a:t>5. OBJECTIFS DU PLAN NATIONAL DE DEVELOPPEMENT SANITAIRE (PNDS)</a:t>
            </a:r>
          </a:p>
          <a:p>
            <a:pPr marL="0" indent="0">
              <a:buNone/>
            </a:pPr>
            <a:endParaRPr lang="fr-FR" dirty="0" smtClean="0">
              <a:latin typeface="Arial Black" panose="020B0A04020102020204" pitchFamily="34" charset="0"/>
            </a:endParaRPr>
          </a:p>
          <a:p>
            <a:pPr lvl="0">
              <a:lnSpc>
                <a:spcPct val="150000"/>
              </a:lnSpc>
              <a:buFont typeface="Wingdings" panose="05000000000000000000" pitchFamily="2" charset="2"/>
              <a:buChar char="Ø"/>
            </a:pPr>
            <a:r>
              <a:rPr lang="fr-FR" sz="2400" dirty="0">
                <a:latin typeface="Arial" panose="020B0604020202020204" pitchFamily="34" charset="0"/>
                <a:cs typeface="Arial" panose="020B0604020202020204" pitchFamily="34" charset="0"/>
              </a:rPr>
              <a:t>Une augmentation de l’espérance de vie de 57 ans en 2020 à 60 ans en 2025 </a:t>
            </a:r>
            <a:r>
              <a:rPr lang="fr-FR" sz="2400" dirty="0" smtClean="0">
                <a:latin typeface="Arial" panose="020B0604020202020204" pitchFamily="34" charset="0"/>
                <a:cs typeface="Arial" panose="020B0604020202020204" pitchFamily="34" charset="0"/>
              </a:rPr>
              <a:t>;</a:t>
            </a:r>
          </a:p>
          <a:p>
            <a:pPr lvl="0">
              <a:lnSpc>
                <a:spcPct val="150000"/>
              </a:lnSpc>
              <a:buFont typeface="Wingdings" panose="05000000000000000000" pitchFamily="2" charset="2"/>
              <a:buChar char="Ø"/>
            </a:pPr>
            <a:endParaRPr lang="fr-FR" sz="2400" dirty="0">
              <a:latin typeface="Arial" panose="020B0604020202020204" pitchFamily="34" charset="0"/>
              <a:cs typeface="Arial" panose="020B0604020202020204" pitchFamily="34" charset="0"/>
            </a:endParaRPr>
          </a:p>
          <a:p>
            <a:pPr lvl="0">
              <a:lnSpc>
                <a:spcPct val="150000"/>
              </a:lnSpc>
              <a:buFont typeface="Wingdings" panose="05000000000000000000" pitchFamily="2" charset="2"/>
              <a:buChar char="Ø"/>
            </a:pPr>
            <a:r>
              <a:rPr lang="fr-FR" sz="2400" dirty="0">
                <a:latin typeface="Arial" panose="020B0604020202020204" pitchFamily="34" charset="0"/>
                <a:cs typeface="Arial" panose="020B0604020202020204" pitchFamily="34" charset="0"/>
              </a:rPr>
              <a:t>Une réduction de la mortalité maternelle de 614 pour 100 000 NV en 2020 à 377 pour 100 000 NV en 2025 </a:t>
            </a:r>
            <a:r>
              <a:rPr lang="fr-FR" sz="2400" dirty="0" smtClean="0">
                <a:latin typeface="Arial" panose="020B0604020202020204" pitchFamily="34" charset="0"/>
                <a:cs typeface="Arial" panose="020B0604020202020204" pitchFamily="34" charset="0"/>
              </a:rPr>
              <a:t>;</a:t>
            </a:r>
            <a:endParaRPr lang="fr-F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5326080"/>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393895" y="2225039"/>
            <a:ext cx="11633982" cy="4485249"/>
          </a:xfrm>
        </p:spPr>
        <p:txBody>
          <a:bodyPr>
            <a:normAutofit/>
          </a:bodyPr>
          <a:lstStyle/>
          <a:p>
            <a:pPr marL="0" indent="0" algn="ctr">
              <a:buNone/>
            </a:pPr>
            <a:r>
              <a:rPr lang="fr-FR" sz="2400" dirty="0" smtClean="0">
                <a:latin typeface="Arial" panose="020B0604020202020204" pitchFamily="34" charset="0"/>
                <a:cs typeface="Arial" panose="020B0604020202020204" pitchFamily="34" charset="0"/>
              </a:rPr>
              <a:t>5. OBJECTIFS DU PLAN NATIONAL DE DEVELOPPEMENT SANITAIRE (PNDS)</a:t>
            </a:r>
          </a:p>
          <a:p>
            <a:pPr marL="0" indent="0">
              <a:buNone/>
            </a:pPr>
            <a:endParaRPr lang="fr-FR" dirty="0" smtClean="0">
              <a:latin typeface="Arial Black" panose="020B0A04020102020204" pitchFamily="34" charset="0"/>
            </a:endParaRPr>
          </a:p>
          <a:p>
            <a:pPr lvl="0">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Une </a:t>
            </a:r>
            <a:r>
              <a:rPr lang="fr-FR" sz="2400" dirty="0">
                <a:latin typeface="Arial" panose="020B0604020202020204" pitchFamily="34" charset="0"/>
                <a:cs typeface="Arial" panose="020B0604020202020204" pitchFamily="34" charset="0"/>
              </a:rPr>
              <a:t>réduction de la mortalité infanto-juvénile de 96 ‰ en 2020 à 60,5‰ en 2025 </a:t>
            </a:r>
            <a:r>
              <a:rPr lang="fr-FR" sz="2400" dirty="0" smtClean="0">
                <a:latin typeface="Arial" panose="020B0604020202020204" pitchFamily="34" charset="0"/>
                <a:cs typeface="Arial" panose="020B0604020202020204" pitchFamily="34" charset="0"/>
              </a:rPr>
              <a:t>;</a:t>
            </a:r>
          </a:p>
          <a:p>
            <a:pPr lvl="0">
              <a:lnSpc>
                <a:spcPct val="150000"/>
              </a:lnSpc>
              <a:buFont typeface="Wingdings" panose="05000000000000000000" pitchFamily="2" charset="2"/>
              <a:buChar char="Ø"/>
            </a:pPr>
            <a:endParaRPr lang="fr-FR" sz="2400" dirty="0">
              <a:latin typeface="Arial" panose="020B0604020202020204" pitchFamily="34" charset="0"/>
              <a:cs typeface="Arial" panose="020B0604020202020204" pitchFamily="34" charset="0"/>
            </a:endParaRPr>
          </a:p>
          <a:p>
            <a:pPr lvl="0">
              <a:lnSpc>
                <a:spcPct val="150000"/>
              </a:lnSpc>
              <a:buFont typeface="Wingdings" panose="05000000000000000000" pitchFamily="2" charset="2"/>
              <a:buChar char="Ø"/>
            </a:pPr>
            <a:r>
              <a:rPr lang="fr-FR" sz="2400" dirty="0">
                <a:latin typeface="Arial" panose="020B0604020202020204" pitchFamily="34" charset="0"/>
                <a:cs typeface="Arial" panose="020B0604020202020204" pitchFamily="34" charset="0"/>
              </a:rPr>
              <a:t>Une réduction de la mortalité néonatale de 33‰ en 2020 à 22,5‰ en 2025.</a:t>
            </a:r>
          </a:p>
          <a:p>
            <a:pPr marL="0" indent="0">
              <a:buNone/>
            </a:pPr>
            <a:endParaRPr lang="fr-FR" dirty="0" smtClean="0">
              <a:latin typeface="Arial Black" panose="020B0A04020102020204" pitchFamily="34" charset="0"/>
            </a:endParaRPr>
          </a:p>
        </p:txBody>
      </p:sp>
    </p:spTree>
    <p:extLst>
      <p:ext uri="{BB962C8B-B14F-4D97-AF65-F5344CB8AC3E}">
        <p14:creationId xmlns:p14="http://schemas.microsoft.com/office/powerpoint/2010/main" val="1409165713"/>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422031" y="2225040"/>
            <a:ext cx="11437034" cy="4471182"/>
          </a:xfrm>
        </p:spPr>
        <p:txBody>
          <a:bodyPr>
            <a:normAutofit/>
          </a:bodyPr>
          <a:lstStyle/>
          <a:p>
            <a:pPr marL="0" indent="0" algn="ctr">
              <a:buNone/>
            </a:pPr>
            <a:r>
              <a:rPr lang="fr-FR" sz="2400" dirty="0" smtClean="0">
                <a:latin typeface="Arial" panose="020B0604020202020204" pitchFamily="34" charset="0"/>
                <a:cs typeface="Arial" panose="020B0604020202020204" pitchFamily="34" charset="0"/>
              </a:rPr>
              <a:t>6. ORGANISATION DU SYSTÈME SANITAIRE IVOIRIEN</a:t>
            </a:r>
          </a:p>
          <a:p>
            <a:pPr marL="0" indent="0">
              <a:buNone/>
            </a:pPr>
            <a:endParaRPr lang="fr-FR" dirty="0" smtClean="0">
              <a:latin typeface="Arial Black" panose="020B0A04020102020204" pitchFamily="34" charset="0"/>
            </a:endParaRPr>
          </a:p>
          <a:p>
            <a:pPr marL="0" indent="0">
              <a:buNone/>
            </a:pPr>
            <a:endParaRPr lang="fr-FR" dirty="0">
              <a:latin typeface="Arial Black" panose="020B0A04020102020204" pitchFamily="34" charset="0"/>
            </a:endParaRPr>
          </a:p>
          <a:p>
            <a:pPr>
              <a:buFont typeface="Wingdings" panose="05000000000000000000" pitchFamily="2" charset="2"/>
              <a:buChar char="q"/>
            </a:pPr>
            <a:r>
              <a:rPr lang="fr-FR" sz="2400" dirty="0" smtClean="0">
                <a:latin typeface="Arial" panose="020B0604020202020204" pitchFamily="34" charset="0"/>
                <a:cs typeface="Arial" panose="020B0604020202020204" pitchFamily="34" charset="0"/>
              </a:rPr>
              <a:t>STRUCTURE DU SYSTÈME SANITAIRE IVOIRIEN</a:t>
            </a:r>
          </a:p>
          <a:p>
            <a:pPr marL="0" indent="0">
              <a:buNone/>
            </a:pPr>
            <a:endParaRPr lang="fr-FR" sz="2400" dirty="0">
              <a:latin typeface="Arial" panose="020B0604020202020204" pitchFamily="34" charset="0"/>
              <a:cs typeface="Arial" panose="020B0604020202020204" pitchFamily="34" charset="0"/>
            </a:endParaRPr>
          </a:p>
          <a:p>
            <a:pPr marL="0" indent="0">
              <a:lnSpc>
                <a:spcPct val="150000"/>
              </a:lnSpc>
              <a:buNone/>
            </a:pPr>
            <a:r>
              <a:rPr lang="fr-FR" sz="2400" dirty="0">
                <a:latin typeface="Arial" panose="020B0604020202020204" pitchFamily="34" charset="0"/>
                <a:cs typeface="Arial" panose="020B0604020202020204" pitchFamily="34" charset="0"/>
              </a:rPr>
              <a:t>Le système de santé ivoirien est de type</a:t>
            </a:r>
            <a:r>
              <a:rPr lang="fr-FR" sz="2400" b="1" dirty="0">
                <a:latin typeface="Arial" panose="020B0604020202020204" pitchFamily="34" charset="0"/>
                <a:cs typeface="Arial" panose="020B0604020202020204" pitchFamily="34" charset="0"/>
              </a:rPr>
              <a:t> pyramidal </a:t>
            </a:r>
            <a:r>
              <a:rPr lang="fr-FR" sz="2400" dirty="0">
                <a:latin typeface="Arial" panose="020B0604020202020204" pitchFamily="34" charset="0"/>
                <a:cs typeface="Arial" panose="020B0604020202020204" pitchFamily="34" charset="0"/>
              </a:rPr>
              <a:t>avec </a:t>
            </a:r>
            <a:r>
              <a:rPr lang="fr-FR" sz="2400" b="1" dirty="0">
                <a:latin typeface="Arial" panose="020B0604020202020204" pitchFamily="34" charset="0"/>
                <a:cs typeface="Arial" panose="020B0604020202020204" pitchFamily="34" charset="0"/>
              </a:rPr>
              <a:t>un versant administratif ou gestionnaire</a:t>
            </a:r>
            <a:r>
              <a:rPr lang="fr-FR" sz="2400" dirty="0">
                <a:latin typeface="Arial" panose="020B0604020202020204" pitchFamily="34" charset="0"/>
                <a:cs typeface="Arial" panose="020B0604020202020204" pitchFamily="34" charset="0"/>
              </a:rPr>
              <a:t> et </a:t>
            </a:r>
            <a:r>
              <a:rPr lang="fr-FR" sz="2400" b="1" dirty="0">
                <a:latin typeface="Arial" panose="020B0604020202020204" pitchFamily="34" charset="0"/>
                <a:cs typeface="Arial" panose="020B0604020202020204" pitchFamily="34" charset="0"/>
              </a:rPr>
              <a:t>un versant offre de soins ou prestataire</a:t>
            </a:r>
            <a:r>
              <a:rPr lang="fr-FR" sz="2400" dirty="0">
                <a:latin typeface="Arial" panose="020B0604020202020204" pitchFamily="34" charset="0"/>
                <a:cs typeface="Arial" panose="020B0604020202020204" pitchFamily="34" charset="0"/>
              </a:rPr>
              <a:t>, reparti chacun en </a:t>
            </a:r>
            <a:r>
              <a:rPr lang="fr-FR" sz="2400" b="1" dirty="0">
                <a:latin typeface="Arial" panose="020B0604020202020204" pitchFamily="34" charset="0"/>
                <a:cs typeface="Arial" panose="020B0604020202020204" pitchFamily="34" charset="0"/>
              </a:rPr>
              <a:t>trois échelons</a:t>
            </a:r>
            <a:r>
              <a:rPr lang="fr-FR" sz="2400" dirty="0">
                <a:latin typeface="Arial" panose="020B0604020202020204" pitchFamily="34" charset="0"/>
                <a:cs typeface="Arial" panose="020B0604020202020204" pitchFamily="34" charset="0"/>
              </a:rPr>
              <a:t>. Le versant administratif est composé comme suit </a:t>
            </a:r>
            <a:r>
              <a:rPr lang="fr-FR" sz="2400" dirty="0" smtClean="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692602550"/>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520505" y="2225040"/>
            <a:ext cx="11240086" cy="4632960"/>
          </a:xfrm>
        </p:spPr>
        <p:txBody>
          <a:bodyPr>
            <a:noAutofit/>
          </a:bodyPr>
          <a:lstStyle/>
          <a:p>
            <a:pPr marL="0" indent="0" algn="ctr">
              <a:buNone/>
            </a:pPr>
            <a:r>
              <a:rPr lang="fr-FR" sz="2400" dirty="0" smtClean="0">
                <a:latin typeface="Arial" panose="020B0604020202020204" pitchFamily="34" charset="0"/>
                <a:cs typeface="Arial" panose="020B0604020202020204" pitchFamily="34" charset="0"/>
              </a:rPr>
              <a:t>7. ORGANISATION </a:t>
            </a:r>
            <a:r>
              <a:rPr lang="fr-FR" sz="2400" dirty="0">
                <a:latin typeface="Arial" panose="020B0604020202020204" pitchFamily="34" charset="0"/>
                <a:cs typeface="Arial" panose="020B0604020202020204" pitchFamily="34" charset="0"/>
              </a:rPr>
              <a:t>ADMINISTRATIVE DU SYSTÈME SANITAIRE EN COTE </a:t>
            </a:r>
            <a:r>
              <a:rPr lang="fr-FR" sz="2400" dirty="0" smtClean="0">
                <a:latin typeface="Arial" panose="020B0604020202020204" pitchFamily="34" charset="0"/>
                <a:cs typeface="Arial" panose="020B0604020202020204" pitchFamily="34" charset="0"/>
              </a:rPr>
              <a:t>D’IVOIRE</a:t>
            </a:r>
          </a:p>
          <a:p>
            <a:pPr algn="ctr">
              <a:buFont typeface="Wingdings" panose="05000000000000000000" pitchFamily="2" charset="2"/>
              <a:buChar char="q"/>
            </a:pPr>
            <a:endParaRPr lang="fr-FR" sz="2400" dirty="0">
              <a:latin typeface="Arial" panose="020B0604020202020204" pitchFamily="34" charset="0"/>
              <a:cs typeface="Arial" panose="020B0604020202020204" pitchFamily="34" charset="0"/>
            </a:endParaRPr>
          </a:p>
          <a:p>
            <a:pPr lvl="1">
              <a:lnSpc>
                <a:spcPct val="150000"/>
              </a:lnSpc>
            </a:pPr>
            <a:r>
              <a:rPr lang="fr-FR" sz="2400" b="1" dirty="0">
                <a:latin typeface="Arial" panose="020B0604020202020204" pitchFamily="34" charset="0"/>
                <a:cs typeface="Arial" panose="020B0604020202020204" pitchFamily="34" charset="0"/>
              </a:rPr>
              <a:t>Le niveau central </a:t>
            </a:r>
            <a:r>
              <a:rPr lang="fr-FR" sz="2400" dirty="0">
                <a:latin typeface="Arial" panose="020B0604020202020204" pitchFamily="34" charset="0"/>
                <a:cs typeface="Arial" panose="020B0604020202020204" pitchFamily="34" charset="0"/>
              </a:rPr>
              <a:t>avec le </a:t>
            </a:r>
            <a:r>
              <a:rPr lang="fr-FR" sz="2400" b="1" dirty="0">
                <a:latin typeface="Arial" panose="020B0604020202020204" pitchFamily="34" charset="0"/>
                <a:cs typeface="Arial" panose="020B0604020202020204" pitchFamily="34" charset="0"/>
              </a:rPr>
              <a:t>Cabinet du Ministre, les Directions et Services centraux, les Programmes de santé,</a:t>
            </a:r>
            <a:r>
              <a:rPr lang="fr-FR" sz="2400" dirty="0">
                <a:latin typeface="Arial" panose="020B0604020202020204" pitchFamily="34" charset="0"/>
                <a:cs typeface="Arial" panose="020B0604020202020204" pitchFamily="34" charset="0"/>
              </a:rPr>
              <a:t> chargés de la définition de la Politique, de l’appui et de la coordination globale de la santé </a:t>
            </a:r>
            <a:r>
              <a:rPr lang="fr-FR" sz="2400" dirty="0" smtClean="0">
                <a:latin typeface="Arial" panose="020B0604020202020204" pitchFamily="34" charset="0"/>
                <a:cs typeface="Arial" panose="020B0604020202020204" pitchFamily="34" charset="0"/>
              </a:rPr>
              <a:t>;</a:t>
            </a:r>
          </a:p>
          <a:p>
            <a:pPr lvl="1">
              <a:lnSpc>
                <a:spcPct val="150000"/>
              </a:lnSpc>
            </a:pPr>
            <a:endParaRPr lang="fr-F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0917732"/>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520505" y="2225040"/>
            <a:ext cx="11240086" cy="4632960"/>
          </a:xfrm>
        </p:spPr>
        <p:txBody>
          <a:bodyPr>
            <a:noAutofit/>
          </a:bodyPr>
          <a:lstStyle/>
          <a:p>
            <a:pPr marL="0" indent="0" algn="ctr">
              <a:buNone/>
            </a:pPr>
            <a:r>
              <a:rPr lang="fr-FR" sz="2400" dirty="0" smtClean="0">
                <a:latin typeface="Arial" panose="020B0604020202020204" pitchFamily="34" charset="0"/>
                <a:cs typeface="Arial" panose="020B0604020202020204" pitchFamily="34" charset="0"/>
              </a:rPr>
              <a:t>7. ORGANISATION </a:t>
            </a:r>
            <a:r>
              <a:rPr lang="fr-FR" sz="2400" dirty="0">
                <a:latin typeface="Arial" panose="020B0604020202020204" pitchFamily="34" charset="0"/>
                <a:cs typeface="Arial" panose="020B0604020202020204" pitchFamily="34" charset="0"/>
              </a:rPr>
              <a:t>ADMINISTRATIVE DU SYSTÈME SANITAIRE EN COTE </a:t>
            </a:r>
            <a:r>
              <a:rPr lang="fr-FR" sz="2400" dirty="0" smtClean="0">
                <a:latin typeface="Arial" panose="020B0604020202020204" pitchFamily="34" charset="0"/>
                <a:cs typeface="Arial" panose="020B0604020202020204" pitchFamily="34" charset="0"/>
              </a:rPr>
              <a:t>D’IVOIRE</a:t>
            </a:r>
          </a:p>
          <a:p>
            <a:pPr algn="ctr">
              <a:buFont typeface="Wingdings" panose="05000000000000000000" pitchFamily="2" charset="2"/>
              <a:buChar char="q"/>
            </a:pPr>
            <a:endParaRPr lang="fr-FR" sz="2400" dirty="0">
              <a:latin typeface="Arial" panose="020B0604020202020204" pitchFamily="34" charset="0"/>
              <a:cs typeface="Arial" panose="020B0604020202020204" pitchFamily="34" charset="0"/>
            </a:endParaRPr>
          </a:p>
          <a:p>
            <a:pPr lvl="1">
              <a:lnSpc>
                <a:spcPct val="150000"/>
              </a:lnSpc>
            </a:pPr>
            <a:endParaRPr lang="fr-FR" sz="2400" dirty="0">
              <a:latin typeface="Arial" panose="020B0604020202020204" pitchFamily="34" charset="0"/>
              <a:cs typeface="Arial" panose="020B0604020202020204" pitchFamily="34" charset="0"/>
            </a:endParaRPr>
          </a:p>
          <a:p>
            <a:pPr lvl="1">
              <a:lnSpc>
                <a:spcPct val="150000"/>
              </a:lnSpc>
            </a:pPr>
            <a:r>
              <a:rPr lang="fr-FR" sz="2400" b="1" dirty="0">
                <a:latin typeface="Arial" panose="020B0604020202020204" pitchFamily="34" charset="0"/>
                <a:cs typeface="Arial" panose="020B0604020202020204" pitchFamily="34" charset="0"/>
              </a:rPr>
              <a:t>Le niveau intermédiaire </a:t>
            </a:r>
            <a:r>
              <a:rPr lang="fr-FR" sz="2400" dirty="0">
                <a:latin typeface="Arial" panose="020B0604020202020204" pitchFamily="34" charset="0"/>
                <a:cs typeface="Arial" panose="020B0604020202020204" pitchFamily="34" charset="0"/>
              </a:rPr>
              <a:t>composé de </a:t>
            </a:r>
            <a:r>
              <a:rPr lang="fr-FR" sz="2400" b="1" dirty="0">
                <a:latin typeface="Arial" panose="020B0604020202020204" pitchFamily="34" charset="0"/>
                <a:cs typeface="Arial" panose="020B0604020202020204" pitchFamily="34" charset="0"/>
              </a:rPr>
              <a:t>33 Directions Régionales de la Santé </a:t>
            </a:r>
            <a:r>
              <a:rPr lang="fr-FR" sz="2400" dirty="0">
                <a:latin typeface="Arial" panose="020B0604020202020204" pitchFamily="34" charset="0"/>
                <a:cs typeface="Arial" panose="020B0604020202020204" pitchFamily="34" charset="0"/>
              </a:rPr>
              <a:t>(contre 20 en 2015) qui ont une mission d’appui aux districts sanitaires pour la mise en œuvre de la politique sanitaire </a:t>
            </a:r>
            <a:r>
              <a:rPr lang="fr-FR" sz="2400" dirty="0" smtClean="0">
                <a:latin typeface="Arial" panose="020B0604020202020204" pitchFamily="34" charset="0"/>
                <a:cs typeface="Arial" panose="020B0604020202020204" pitchFamily="34" charset="0"/>
              </a:rPr>
              <a:t>;</a:t>
            </a:r>
            <a:endParaRPr lang="fr-F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6899385"/>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520505" y="2225040"/>
            <a:ext cx="11240086" cy="4632960"/>
          </a:xfrm>
        </p:spPr>
        <p:txBody>
          <a:bodyPr>
            <a:normAutofit/>
          </a:bodyPr>
          <a:lstStyle/>
          <a:p>
            <a:pPr marL="0" indent="0" algn="ctr">
              <a:buNone/>
            </a:pPr>
            <a:r>
              <a:rPr lang="fr-FR" sz="2400" dirty="0" smtClean="0">
                <a:latin typeface="Arial" panose="020B0604020202020204" pitchFamily="34" charset="0"/>
                <a:cs typeface="Arial" panose="020B0604020202020204" pitchFamily="34" charset="0"/>
              </a:rPr>
              <a:t>7. ORGANISATION </a:t>
            </a:r>
            <a:r>
              <a:rPr lang="fr-FR" sz="2400" dirty="0">
                <a:latin typeface="Arial" panose="020B0604020202020204" pitchFamily="34" charset="0"/>
                <a:cs typeface="Arial" panose="020B0604020202020204" pitchFamily="34" charset="0"/>
              </a:rPr>
              <a:t>ADMINISTRATIVE DU SYSTÈME SANITAIRE EN COTE </a:t>
            </a:r>
            <a:r>
              <a:rPr lang="fr-FR" sz="2400" dirty="0" smtClean="0">
                <a:latin typeface="Arial" panose="020B0604020202020204" pitchFamily="34" charset="0"/>
                <a:cs typeface="Arial" panose="020B0604020202020204" pitchFamily="34" charset="0"/>
              </a:rPr>
              <a:t>D’IVOIRE</a:t>
            </a:r>
          </a:p>
          <a:p>
            <a:pPr marL="0" indent="0">
              <a:buNone/>
            </a:pPr>
            <a:endParaRPr lang="fr-FR" sz="2400" dirty="0">
              <a:latin typeface="Arial" panose="020B0604020202020204" pitchFamily="34" charset="0"/>
              <a:cs typeface="Arial" panose="020B0604020202020204" pitchFamily="34" charset="0"/>
            </a:endParaRPr>
          </a:p>
          <a:p>
            <a:pPr>
              <a:lnSpc>
                <a:spcPct val="150000"/>
              </a:lnSpc>
              <a:buFont typeface="Courier New" panose="02070309020205020404" pitchFamily="49" charset="0"/>
              <a:buChar char="o"/>
            </a:pPr>
            <a:r>
              <a:rPr lang="fr-FR" sz="2400" b="1" dirty="0">
                <a:latin typeface="Arial" panose="020B0604020202020204" pitchFamily="34" charset="0"/>
                <a:cs typeface="Arial" panose="020B0604020202020204" pitchFamily="34" charset="0"/>
              </a:rPr>
              <a:t>Le niveau périphérique </a:t>
            </a:r>
            <a:r>
              <a:rPr lang="fr-FR" sz="2400" dirty="0">
                <a:latin typeface="Arial" panose="020B0604020202020204" pitchFamily="34" charset="0"/>
                <a:cs typeface="Arial" panose="020B0604020202020204" pitchFamily="34" charset="0"/>
              </a:rPr>
              <a:t>composé de </a:t>
            </a:r>
            <a:r>
              <a:rPr lang="fr-FR" sz="2400" b="1" dirty="0">
                <a:latin typeface="Arial" panose="020B0604020202020204" pitchFamily="34" charset="0"/>
                <a:cs typeface="Arial" panose="020B0604020202020204" pitchFamily="34" charset="0"/>
              </a:rPr>
              <a:t>113 Directions Départementales de la Santé ou Districts Sanitaires (contre 83 en 2015)</a:t>
            </a:r>
            <a:r>
              <a:rPr lang="fr-FR" sz="2400" dirty="0">
                <a:latin typeface="Arial" panose="020B0604020202020204" pitchFamily="34" charset="0"/>
                <a:cs typeface="Arial" panose="020B0604020202020204" pitchFamily="34" charset="0"/>
              </a:rPr>
              <a:t> qui sont chargés de coordonner l’action sanitaire dépendant de leur ressort territorial et de fournir un support opérationnel et logistique aux services de </a:t>
            </a:r>
            <a:r>
              <a:rPr lang="fr-FR" sz="2400" dirty="0" smtClean="0">
                <a:latin typeface="Arial" panose="020B0604020202020204" pitchFamily="34" charset="0"/>
                <a:cs typeface="Arial" panose="020B0604020202020204" pitchFamily="34" charset="0"/>
              </a:rPr>
              <a:t>santé</a:t>
            </a:r>
          </a:p>
        </p:txBody>
      </p:sp>
    </p:spTree>
    <p:extLst>
      <p:ext uri="{BB962C8B-B14F-4D97-AF65-F5344CB8AC3E}">
        <p14:creationId xmlns:p14="http://schemas.microsoft.com/office/powerpoint/2010/main" val="2827504178"/>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281354" y="2014195"/>
            <a:ext cx="11662117" cy="4843806"/>
          </a:xfrm>
        </p:spPr>
        <p:txBody>
          <a:bodyPr>
            <a:normAutofit/>
          </a:bodyPr>
          <a:lstStyle/>
          <a:p>
            <a:pPr marL="0" indent="0" algn="ctr">
              <a:buNone/>
            </a:pPr>
            <a:r>
              <a:rPr lang="fr-FR" sz="2600" dirty="0" smtClean="0">
                <a:latin typeface="Arial" panose="020B0604020202020204" pitchFamily="34" charset="0"/>
                <a:cs typeface="Arial" panose="020B0604020202020204" pitchFamily="34" charset="0"/>
              </a:rPr>
              <a:t>8. ORGANISATION DU VERSANT OFFRE DE SOINS OU PRESTATAIRE OU MEDICAL</a:t>
            </a:r>
          </a:p>
          <a:p>
            <a:pPr algn="ctr">
              <a:buFont typeface="Wingdings" panose="05000000000000000000" pitchFamily="2" charset="2"/>
              <a:buChar char="q"/>
            </a:pPr>
            <a:endParaRPr lang="fr-FR" sz="1900" dirty="0" smtClean="0">
              <a:latin typeface="Arial Black" panose="020B0A04020102020204" pitchFamily="34" charset="0"/>
            </a:endParaRPr>
          </a:p>
          <a:p>
            <a:pPr marL="0" indent="0">
              <a:buNone/>
            </a:pPr>
            <a:r>
              <a:rPr lang="fr-FR" sz="2600" dirty="0">
                <a:latin typeface="Arial" panose="020B0604020202020204" pitchFamily="34" charset="0"/>
                <a:cs typeface="Arial" panose="020B0604020202020204" pitchFamily="34" charset="0"/>
              </a:rPr>
              <a:t>Le versant offre de soins est composé du </a:t>
            </a:r>
            <a:r>
              <a:rPr lang="fr-FR" sz="2600" b="1" dirty="0">
                <a:latin typeface="Arial" panose="020B0604020202020204" pitchFamily="34" charset="0"/>
                <a:cs typeface="Arial" panose="020B0604020202020204" pitchFamily="34" charset="0"/>
              </a:rPr>
              <a:t>secteur public </a:t>
            </a:r>
            <a:r>
              <a:rPr lang="fr-FR" sz="2600" dirty="0">
                <a:latin typeface="Arial" panose="020B0604020202020204" pitchFamily="34" charset="0"/>
                <a:cs typeface="Arial" panose="020B0604020202020204" pitchFamily="34" charset="0"/>
              </a:rPr>
              <a:t>et du </a:t>
            </a:r>
            <a:r>
              <a:rPr lang="fr-FR" sz="2600" b="1" dirty="0">
                <a:latin typeface="Arial" panose="020B0604020202020204" pitchFamily="34" charset="0"/>
                <a:cs typeface="Arial" panose="020B0604020202020204" pitchFamily="34" charset="0"/>
              </a:rPr>
              <a:t>secteur privé</a:t>
            </a:r>
            <a:r>
              <a:rPr lang="fr-FR" sz="2600" b="1" dirty="0" smtClean="0">
                <a:latin typeface="Arial" panose="020B0604020202020204" pitchFamily="34" charset="0"/>
                <a:cs typeface="Arial" panose="020B0604020202020204" pitchFamily="34" charset="0"/>
              </a:rPr>
              <a:t>.</a:t>
            </a:r>
          </a:p>
          <a:p>
            <a:pPr marL="0" indent="0">
              <a:buNone/>
            </a:pPr>
            <a:endParaRPr lang="fr-FR" sz="2600" b="1"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fr-FR" sz="2600" b="1" dirty="0" smtClean="0">
                <a:solidFill>
                  <a:schemeClr val="tx2">
                    <a:lumMod val="75000"/>
                  </a:schemeClr>
                </a:solidFill>
                <a:latin typeface="Arial" panose="020B0604020202020204" pitchFamily="34" charset="0"/>
                <a:cs typeface="Arial" panose="020B0604020202020204" pitchFamily="34" charset="0"/>
              </a:rPr>
              <a:t>Le </a:t>
            </a:r>
            <a:r>
              <a:rPr lang="fr-FR" sz="2600" b="1" dirty="0">
                <a:solidFill>
                  <a:schemeClr val="tx2">
                    <a:lumMod val="75000"/>
                  </a:schemeClr>
                </a:solidFill>
                <a:latin typeface="Arial" panose="020B0604020202020204" pitchFamily="34" charset="0"/>
                <a:cs typeface="Arial" panose="020B0604020202020204" pitchFamily="34" charset="0"/>
              </a:rPr>
              <a:t>secteur public </a:t>
            </a:r>
            <a:r>
              <a:rPr lang="fr-FR" sz="2600" b="1" dirty="0" smtClean="0">
                <a:solidFill>
                  <a:schemeClr val="tx2">
                    <a:lumMod val="75000"/>
                  </a:schemeClr>
                </a:solidFill>
                <a:latin typeface="Arial" panose="020B0604020202020204" pitchFamily="34" charset="0"/>
                <a:cs typeface="Arial" panose="020B0604020202020204" pitchFamily="34" charset="0"/>
              </a:rPr>
              <a:t>sanitaire</a:t>
            </a:r>
          </a:p>
          <a:p>
            <a:pPr marL="0" indent="0" algn="ctr">
              <a:buNone/>
            </a:pPr>
            <a:r>
              <a:rPr lang="fr-FR" sz="2600" dirty="0" smtClean="0">
                <a:latin typeface="Arial" panose="020B0604020202020204" pitchFamily="34" charset="0"/>
                <a:cs typeface="Arial" panose="020B0604020202020204" pitchFamily="34" charset="0"/>
              </a:rPr>
              <a:t>Il est organisé en trois niveaux :</a:t>
            </a:r>
          </a:p>
          <a:p>
            <a:endParaRPr lang="fr-FR" sz="2600" dirty="0" smtClean="0">
              <a:latin typeface="Arial" panose="020B0604020202020204" pitchFamily="34" charset="0"/>
              <a:cs typeface="Arial" panose="020B0604020202020204" pitchFamily="34" charset="0"/>
            </a:endParaRPr>
          </a:p>
          <a:p>
            <a:pPr lvl="0"/>
            <a:r>
              <a:rPr lang="fr-FR" sz="2600" dirty="0" smtClean="0">
                <a:latin typeface="Arial" panose="020B0604020202020204" pitchFamily="34" charset="0"/>
                <a:cs typeface="Arial" panose="020B0604020202020204" pitchFamily="34" charset="0"/>
              </a:rPr>
              <a:t> </a:t>
            </a:r>
            <a:r>
              <a:rPr lang="fr-FR" sz="2600" b="1" dirty="0">
                <a:solidFill>
                  <a:srgbClr val="FF0000"/>
                </a:solidFill>
                <a:latin typeface="Arial" panose="020B0604020202020204" pitchFamily="34" charset="0"/>
                <a:cs typeface="Arial" panose="020B0604020202020204" pitchFamily="34" charset="0"/>
              </a:rPr>
              <a:t>3 311 </a:t>
            </a:r>
            <a:r>
              <a:rPr lang="fr-FR" sz="2600" b="1" dirty="0">
                <a:latin typeface="Arial" panose="020B0604020202020204" pitchFamily="34" charset="0"/>
                <a:cs typeface="Arial" panose="020B0604020202020204" pitchFamily="34" charset="0"/>
              </a:rPr>
              <a:t>Établissements Sanitaires Publics de Premier Contact (ESPC) (RASS 2020).</a:t>
            </a:r>
          </a:p>
          <a:p>
            <a:endParaRPr lang="fr-FR" sz="2600" b="1" dirty="0">
              <a:latin typeface="Arial" panose="020B0604020202020204" pitchFamily="34" charset="0"/>
              <a:cs typeface="Arial" panose="020B0604020202020204" pitchFamily="34" charset="0"/>
            </a:endParaRPr>
          </a:p>
          <a:p>
            <a:pPr marL="0" indent="0">
              <a:buNone/>
            </a:pPr>
            <a:endParaRPr lang="fr-FR" sz="2400" b="1" dirty="0">
              <a:latin typeface="Arial" panose="020B0604020202020204" pitchFamily="34" charset="0"/>
              <a:cs typeface="Arial" panose="020B0604020202020204" pitchFamily="34" charset="0"/>
            </a:endParaRPr>
          </a:p>
          <a:p>
            <a:pPr marL="0" indent="0">
              <a:buNone/>
            </a:pPr>
            <a:endParaRPr lang="fr-FR" dirty="0" smtClean="0">
              <a:latin typeface="Arial Black" panose="020B0A04020102020204" pitchFamily="34" charset="0"/>
            </a:endParaRPr>
          </a:p>
          <a:p>
            <a:pPr marL="0" indent="0">
              <a:buNone/>
            </a:pPr>
            <a:endParaRPr lang="fr-FR" dirty="0">
              <a:latin typeface="Arial Black" panose="020B0A04020102020204" pitchFamily="34" charset="0"/>
            </a:endParaRPr>
          </a:p>
        </p:txBody>
      </p:sp>
    </p:spTree>
    <p:extLst>
      <p:ext uri="{BB962C8B-B14F-4D97-AF65-F5344CB8AC3E}">
        <p14:creationId xmlns:p14="http://schemas.microsoft.com/office/powerpoint/2010/main" val="1278665705"/>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112542" y="2014195"/>
            <a:ext cx="11830929" cy="4843806"/>
          </a:xfrm>
        </p:spPr>
        <p:txBody>
          <a:bodyPr>
            <a:normAutofit fontScale="92500" lnSpcReduction="10000"/>
          </a:bodyPr>
          <a:lstStyle/>
          <a:p>
            <a:pPr marL="0" indent="0" algn="ctr">
              <a:buNone/>
            </a:pPr>
            <a:r>
              <a:rPr lang="fr-FR" sz="2600" dirty="0" smtClean="0">
                <a:latin typeface="Arial" panose="020B0604020202020204" pitchFamily="34" charset="0"/>
                <a:cs typeface="Arial" panose="020B0604020202020204" pitchFamily="34" charset="0"/>
              </a:rPr>
              <a:t>8. ORGANISATION DU VERSANT OFFRE DE SOINS OU PRESTATAIRE OU MEDICAL</a:t>
            </a:r>
          </a:p>
          <a:p>
            <a:pPr algn="ctr">
              <a:buFont typeface="Wingdings" panose="05000000000000000000" pitchFamily="2" charset="2"/>
              <a:buChar char="q"/>
            </a:pPr>
            <a:endParaRPr lang="fr-FR" sz="1900" dirty="0" smtClean="0">
              <a:latin typeface="Arial Black" panose="020B0A04020102020204" pitchFamily="34" charset="0"/>
            </a:endParaRPr>
          </a:p>
          <a:p>
            <a:pPr marL="0" indent="0">
              <a:buNone/>
            </a:pPr>
            <a:r>
              <a:rPr lang="fr-FR" sz="2600" dirty="0">
                <a:latin typeface="Arial" panose="020B0604020202020204" pitchFamily="34" charset="0"/>
                <a:cs typeface="Arial" panose="020B0604020202020204" pitchFamily="34" charset="0"/>
              </a:rPr>
              <a:t>Le versant offre de soins est composé du </a:t>
            </a:r>
            <a:r>
              <a:rPr lang="fr-FR" sz="2600" b="1" dirty="0">
                <a:latin typeface="Arial" panose="020B0604020202020204" pitchFamily="34" charset="0"/>
                <a:cs typeface="Arial" panose="020B0604020202020204" pitchFamily="34" charset="0"/>
              </a:rPr>
              <a:t>secteur public </a:t>
            </a:r>
            <a:r>
              <a:rPr lang="fr-FR" sz="2600" dirty="0">
                <a:latin typeface="Arial" panose="020B0604020202020204" pitchFamily="34" charset="0"/>
                <a:cs typeface="Arial" panose="020B0604020202020204" pitchFamily="34" charset="0"/>
              </a:rPr>
              <a:t>et du </a:t>
            </a:r>
            <a:r>
              <a:rPr lang="fr-FR" sz="2600" b="1" dirty="0">
                <a:latin typeface="Arial" panose="020B0604020202020204" pitchFamily="34" charset="0"/>
                <a:cs typeface="Arial" panose="020B0604020202020204" pitchFamily="34" charset="0"/>
              </a:rPr>
              <a:t>secteur privé</a:t>
            </a:r>
            <a:r>
              <a:rPr lang="fr-FR" sz="2600" b="1" dirty="0" smtClean="0">
                <a:latin typeface="Arial" panose="020B0604020202020204" pitchFamily="34" charset="0"/>
                <a:cs typeface="Arial" panose="020B0604020202020204" pitchFamily="34" charset="0"/>
              </a:rPr>
              <a:t>.</a:t>
            </a:r>
          </a:p>
          <a:p>
            <a:pPr marL="0" indent="0">
              <a:buNone/>
            </a:pPr>
            <a:endParaRPr lang="fr-FR" sz="2600" b="1" dirty="0" smtClean="0">
              <a:latin typeface="Arial" panose="020B0604020202020204" pitchFamily="34" charset="0"/>
              <a:cs typeface="Arial" panose="020B0604020202020204" pitchFamily="34" charset="0"/>
            </a:endParaRPr>
          </a:p>
          <a:p>
            <a:pPr>
              <a:buFont typeface="Wingdings" panose="05000000000000000000" pitchFamily="2" charset="2"/>
              <a:buChar char="v"/>
            </a:pPr>
            <a:r>
              <a:rPr lang="fr-FR" sz="2600" b="1" dirty="0" smtClean="0">
                <a:solidFill>
                  <a:schemeClr val="tx2">
                    <a:lumMod val="75000"/>
                  </a:schemeClr>
                </a:solidFill>
                <a:latin typeface="Arial" panose="020B0604020202020204" pitchFamily="34" charset="0"/>
                <a:cs typeface="Arial" panose="020B0604020202020204" pitchFamily="34" charset="0"/>
              </a:rPr>
              <a:t>Le </a:t>
            </a:r>
            <a:r>
              <a:rPr lang="fr-FR" sz="2600" b="1" dirty="0">
                <a:solidFill>
                  <a:schemeClr val="tx2">
                    <a:lumMod val="75000"/>
                  </a:schemeClr>
                </a:solidFill>
                <a:latin typeface="Arial" panose="020B0604020202020204" pitchFamily="34" charset="0"/>
                <a:cs typeface="Arial" panose="020B0604020202020204" pitchFamily="34" charset="0"/>
              </a:rPr>
              <a:t>secteur public </a:t>
            </a:r>
            <a:r>
              <a:rPr lang="fr-FR" sz="2600" b="1" dirty="0" smtClean="0">
                <a:solidFill>
                  <a:schemeClr val="tx2">
                    <a:lumMod val="75000"/>
                  </a:schemeClr>
                </a:solidFill>
                <a:latin typeface="Arial" panose="020B0604020202020204" pitchFamily="34" charset="0"/>
                <a:cs typeface="Arial" panose="020B0604020202020204" pitchFamily="34" charset="0"/>
              </a:rPr>
              <a:t>sanitaire</a:t>
            </a:r>
          </a:p>
          <a:p>
            <a:pPr marL="0" indent="0" algn="ctr">
              <a:buNone/>
            </a:pPr>
            <a:r>
              <a:rPr lang="fr-FR" sz="2600" dirty="0" smtClean="0">
                <a:latin typeface="Arial" panose="020B0604020202020204" pitchFamily="34" charset="0"/>
                <a:cs typeface="Arial" panose="020B0604020202020204" pitchFamily="34" charset="0"/>
              </a:rPr>
              <a:t>Il est organisé en </a:t>
            </a:r>
            <a:r>
              <a:rPr lang="fr-FR" sz="2600" b="1" dirty="0" smtClean="0">
                <a:latin typeface="Arial" panose="020B0604020202020204" pitchFamily="34" charset="0"/>
                <a:cs typeface="Arial" panose="020B0604020202020204" pitchFamily="34" charset="0"/>
              </a:rPr>
              <a:t>trois niveaux </a:t>
            </a:r>
            <a:r>
              <a:rPr lang="fr-FR" sz="2600" dirty="0" smtClean="0">
                <a:latin typeface="Arial" panose="020B0604020202020204" pitchFamily="34" charset="0"/>
                <a:cs typeface="Arial" panose="020B0604020202020204" pitchFamily="34" charset="0"/>
              </a:rPr>
              <a:t>:</a:t>
            </a:r>
            <a:endParaRPr lang="fr-FR" sz="2400" dirty="0" smtClean="0">
              <a:latin typeface="Arial" panose="020B0604020202020204" pitchFamily="34" charset="0"/>
              <a:cs typeface="Arial" panose="020B0604020202020204" pitchFamily="34" charset="0"/>
            </a:endParaRPr>
          </a:p>
          <a:p>
            <a:pPr>
              <a:lnSpc>
                <a:spcPct val="160000"/>
              </a:lnSpc>
              <a:buFont typeface="Wingdings" panose="05000000000000000000" pitchFamily="2" charset="2"/>
              <a:buChar char="ü"/>
            </a:pPr>
            <a:r>
              <a:rPr lang="fr-FR" sz="2600" b="1" dirty="0">
                <a:solidFill>
                  <a:srgbClr val="FF0000"/>
                </a:solidFill>
                <a:latin typeface="Arial" panose="020B0604020202020204" pitchFamily="34" charset="0"/>
                <a:cs typeface="Arial" panose="020B0604020202020204" pitchFamily="34" charset="0"/>
              </a:rPr>
              <a:t>131</a:t>
            </a:r>
            <a:r>
              <a:rPr lang="fr-FR" sz="2600" b="1" dirty="0">
                <a:latin typeface="Arial" panose="020B0604020202020204" pitchFamily="34" charset="0"/>
                <a:cs typeface="Arial" panose="020B0604020202020204" pitchFamily="34" charset="0"/>
              </a:rPr>
              <a:t> hôpitaux de référence du </a:t>
            </a:r>
            <a:r>
              <a:rPr lang="fr-FR" sz="2600" b="1" dirty="0">
                <a:solidFill>
                  <a:srgbClr val="FF0000"/>
                </a:solidFill>
                <a:latin typeface="Arial" panose="020B0604020202020204" pitchFamily="34" charset="0"/>
                <a:cs typeface="Arial" panose="020B0604020202020204" pitchFamily="34" charset="0"/>
              </a:rPr>
              <a:t>niveau secondaire </a:t>
            </a:r>
            <a:r>
              <a:rPr lang="fr-FR" sz="2600" b="1" dirty="0">
                <a:latin typeface="Arial" panose="020B0604020202020204" pitchFamily="34" charset="0"/>
                <a:cs typeface="Arial" panose="020B0604020202020204" pitchFamily="34" charset="0"/>
              </a:rPr>
              <a:t>recensés en 2020  dont 112 hôpitaux publics et confessionnels, ainsi que 19 Centres Hospitaliers Régionaux (CHR</a:t>
            </a:r>
            <a:r>
              <a:rPr lang="fr-FR" sz="2600" i="1" dirty="0">
                <a:latin typeface="Arial" panose="020B0604020202020204" pitchFamily="34" charset="0"/>
                <a:cs typeface="Arial" panose="020B0604020202020204" pitchFamily="34" charset="0"/>
              </a:rPr>
              <a:t>).(RASS 2020).</a:t>
            </a:r>
          </a:p>
          <a:p>
            <a:pPr marL="0" lvl="0" indent="0">
              <a:lnSpc>
                <a:spcPct val="160000"/>
              </a:lnSpc>
              <a:buNone/>
            </a:pPr>
            <a:endParaRPr lang="fr-FR" sz="2400" b="1" dirty="0">
              <a:latin typeface="Arial" panose="020B0604020202020204" pitchFamily="34" charset="0"/>
              <a:cs typeface="Arial" panose="020B0604020202020204" pitchFamily="34" charset="0"/>
            </a:endParaRPr>
          </a:p>
          <a:p>
            <a:endParaRPr lang="fr-FR" sz="2600" b="1" dirty="0">
              <a:latin typeface="Arial" panose="020B0604020202020204" pitchFamily="34" charset="0"/>
              <a:cs typeface="Arial" panose="020B0604020202020204" pitchFamily="34" charset="0"/>
            </a:endParaRPr>
          </a:p>
          <a:p>
            <a:pPr marL="0" indent="0">
              <a:buNone/>
            </a:pPr>
            <a:endParaRPr lang="fr-FR" sz="2400" b="1" dirty="0">
              <a:latin typeface="Arial" panose="020B0604020202020204" pitchFamily="34" charset="0"/>
              <a:cs typeface="Arial" panose="020B0604020202020204" pitchFamily="34" charset="0"/>
            </a:endParaRPr>
          </a:p>
          <a:p>
            <a:pPr marL="0" indent="0">
              <a:buNone/>
            </a:pPr>
            <a:endParaRPr lang="fr-FR" dirty="0" smtClean="0">
              <a:latin typeface="Arial Black" panose="020B0A04020102020204" pitchFamily="34" charset="0"/>
            </a:endParaRPr>
          </a:p>
          <a:p>
            <a:pPr marL="0" indent="0">
              <a:buNone/>
            </a:pPr>
            <a:endParaRPr lang="fr-FR" dirty="0">
              <a:latin typeface="Arial Black" panose="020B0A04020102020204" pitchFamily="34" charset="0"/>
            </a:endParaRPr>
          </a:p>
        </p:txBody>
      </p:sp>
    </p:spTree>
    <p:extLst>
      <p:ext uri="{BB962C8B-B14F-4D97-AF65-F5344CB8AC3E}">
        <p14:creationId xmlns:p14="http://schemas.microsoft.com/office/powerpoint/2010/main" val="1912799205"/>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281354" y="2014195"/>
            <a:ext cx="11662117" cy="4843806"/>
          </a:xfrm>
        </p:spPr>
        <p:txBody>
          <a:bodyPr>
            <a:noAutofit/>
          </a:bodyPr>
          <a:lstStyle/>
          <a:p>
            <a:pPr marL="0" indent="0" algn="ctr">
              <a:buNone/>
            </a:pPr>
            <a:r>
              <a:rPr lang="fr-FR" sz="2400" dirty="0" smtClean="0">
                <a:latin typeface="Arial" panose="020B0604020202020204" pitchFamily="34" charset="0"/>
                <a:cs typeface="Arial" panose="020B0604020202020204" pitchFamily="34" charset="0"/>
              </a:rPr>
              <a:t>8. ORGANISATION DU VERSANT OFFRE DE SOINS OU PRESTATAIRE OU MEDICAL</a:t>
            </a:r>
          </a:p>
          <a:p>
            <a:pPr algn="ctr">
              <a:lnSpc>
                <a:spcPct val="150000"/>
              </a:lnSpc>
              <a:buFont typeface="Wingdings" panose="05000000000000000000" pitchFamily="2" charset="2"/>
              <a:buChar char="q"/>
            </a:pPr>
            <a:endParaRPr lang="fr-FR" sz="2400" dirty="0" smtClean="0">
              <a:latin typeface="Arial" panose="020B0604020202020204" pitchFamily="34" charset="0"/>
              <a:cs typeface="Arial" panose="020B0604020202020204" pitchFamily="34" charset="0"/>
            </a:endParaRPr>
          </a:p>
          <a:p>
            <a:pPr lvl="0">
              <a:lnSpc>
                <a:spcPct val="150000"/>
              </a:lnSpc>
              <a:buFont typeface="Courier New" panose="02070309020205020404" pitchFamily="49" charset="0"/>
              <a:buChar char="o"/>
            </a:pPr>
            <a:r>
              <a:rPr lang="fr-FR" sz="2400" dirty="0">
                <a:latin typeface="Arial" panose="020B0604020202020204" pitchFamily="34" charset="0"/>
                <a:cs typeface="Arial" panose="020B0604020202020204" pitchFamily="34" charset="0"/>
              </a:rPr>
              <a:t>Le </a:t>
            </a:r>
            <a:r>
              <a:rPr lang="fr-FR" sz="2400" b="1" dirty="0">
                <a:solidFill>
                  <a:srgbClr val="FF0000"/>
                </a:solidFill>
                <a:latin typeface="Arial" panose="020B0604020202020204" pitchFamily="34" charset="0"/>
                <a:cs typeface="Arial" panose="020B0604020202020204" pitchFamily="34" charset="0"/>
              </a:rPr>
              <a:t>niveau tertiaire </a:t>
            </a:r>
            <a:r>
              <a:rPr lang="fr-FR" sz="2400" dirty="0">
                <a:latin typeface="Arial" panose="020B0604020202020204" pitchFamily="34" charset="0"/>
                <a:cs typeface="Arial" panose="020B0604020202020204" pitchFamily="34" charset="0"/>
              </a:rPr>
              <a:t>est constitué de </a:t>
            </a:r>
            <a:r>
              <a:rPr lang="fr-FR" sz="2400" b="1" dirty="0">
                <a:latin typeface="Arial" panose="020B0604020202020204" pitchFamily="34" charset="0"/>
                <a:cs typeface="Arial" panose="020B0604020202020204" pitchFamily="34" charset="0"/>
              </a:rPr>
              <a:t>toutes les structures sanitaires publiques </a:t>
            </a:r>
            <a:r>
              <a:rPr lang="fr-FR" sz="2400" dirty="0">
                <a:latin typeface="Arial" panose="020B0604020202020204" pitchFamily="34" charset="0"/>
                <a:cs typeface="Arial" panose="020B0604020202020204" pitchFamily="34" charset="0"/>
              </a:rPr>
              <a:t>assurant </a:t>
            </a:r>
            <a:r>
              <a:rPr lang="fr-FR" sz="2400" b="1" dirty="0">
                <a:latin typeface="Arial" panose="020B0604020202020204" pitchFamily="34" charset="0"/>
                <a:cs typeface="Arial" panose="020B0604020202020204" pitchFamily="34" charset="0"/>
              </a:rPr>
              <a:t>une fonction de second recours</a:t>
            </a:r>
            <a:r>
              <a:rPr lang="fr-FR" sz="2400" dirty="0">
                <a:latin typeface="Arial" panose="020B0604020202020204" pitchFamily="34" charset="0"/>
                <a:cs typeface="Arial" panose="020B0604020202020204" pitchFamily="34" charset="0"/>
              </a:rPr>
              <a:t> pour les cas ne pouvant pas être pris en charge par le niveau secondaire et possédant une capacité technique de diagnostic, de traitement, de formation et de recherche</a:t>
            </a:r>
            <a:r>
              <a:rPr lang="fr-FR" sz="2400" dirty="0" smtClean="0">
                <a:latin typeface="Arial" panose="020B0604020202020204" pitchFamily="34" charset="0"/>
                <a:cs typeface="Arial" panose="020B0604020202020204" pitchFamily="34" charset="0"/>
              </a:rPr>
              <a:t>.</a:t>
            </a:r>
          </a:p>
          <a:p>
            <a:pPr lvl="0">
              <a:lnSpc>
                <a:spcPct val="150000"/>
              </a:lnSpc>
              <a:buFont typeface="Courier New" panose="02070309020205020404" pitchFamily="49" charset="0"/>
              <a:buChar char="o"/>
            </a:pPr>
            <a:endParaRPr lang="fr-FR" sz="2400" b="1" dirty="0">
              <a:latin typeface="Arial" panose="020B0604020202020204" pitchFamily="34" charset="0"/>
              <a:cs typeface="Arial" panose="020B0604020202020204" pitchFamily="34" charset="0"/>
            </a:endParaRPr>
          </a:p>
          <a:p>
            <a:pPr marL="0" indent="0">
              <a:buNone/>
            </a:pPr>
            <a:endParaRPr lang="fr-FR" sz="2400" dirty="0" smtClean="0">
              <a:latin typeface="Arial Black" panose="020B0A04020102020204" pitchFamily="34" charset="0"/>
            </a:endParaRPr>
          </a:p>
          <a:p>
            <a:pPr marL="0" indent="0">
              <a:buNone/>
            </a:pPr>
            <a:endParaRPr lang="fr-FR" sz="2400" dirty="0">
              <a:latin typeface="Arial Black" panose="020B0A04020102020204" pitchFamily="34" charset="0"/>
            </a:endParaRPr>
          </a:p>
        </p:txBody>
      </p:sp>
    </p:spTree>
    <p:extLst>
      <p:ext uri="{BB962C8B-B14F-4D97-AF65-F5344CB8AC3E}">
        <p14:creationId xmlns:p14="http://schemas.microsoft.com/office/powerpoint/2010/main" val="2030299644"/>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281354" y="2014195"/>
            <a:ext cx="11662117" cy="4843806"/>
          </a:xfrm>
        </p:spPr>
        <p:txBody>
          <a:bodyPr>
            <a:noAutofit/>
          </a:bodyPr>
          <a:lstStyle/>
          <a:p>
            <a:pPr marL="0" indent="0" algn="ctr">
              <a:buNone/>
            </a:pPr>
            <a:r>
              <a:rPr lang="fr-FR" sz="2400" dirty="0" smtClean="0">
                <a:latin typeface="Arial" panose="020B0604020202020204" pitchFamily="34" charset="0"/>
                <a:cs typeface="Arial" panose="020B0604020202020204" pitchFamily="34" charset="0"/>
              </a:rPr>
              <a:t>8. ORGANISATION DU VERSANT OFFRE DE SOINS OU PRESTATAIRE OU MEDICAL</a:t>
            </a:r>
          </a:p>
          <a:p>
            <a:pPr marL="0" indent="0">
              <a:lnSpc>
                <a:spcPct val="150000"/>
              </a:lnSpc>
              <a:buNone/>
            </a:pPr>
            <a:r>
              <a:rPr lang="fr-FR" sz="2400" dirty="0">
                <a:latin typeface="Arial" panose="020B0604020202020204" pitchFamily="34" charset="0"/>
                <a:cs typeface="Arial" panose="020B0604020202020204" pitchFamily="34" charset="0"/>
              </a:rPr>
              <a:t>Il </a:t>
            </a:r>
            <a:r>
              <a:rPr lang="fr-FR" sz="2400" dirty="0" smtClean="0">
                <a:latin typeface="Arial" panose="020B0604020202020204" pitchFamily="34" charset="0"/>
                <a:cs typeface="Arial" panose="020B0604020202020204" pitchFamily="34" charset="0"/>
              </a:rPr>
              <a:t>comprend :</a:t>
            </a:r>
          </a:p>
          <a:p>
            <a:pPr>
              <a:lnSpc>
                <a:spcPct val="150000"/>
              </a:lnSpc>
              <a:buFont typeface="Wingdings" panose="05000000000000000000" pitchFamily="2" charset="2"/>
              <a:buChar char="ü"/>
            </a:pPr>
            <a:r>
              <a:rPr lang="fr-FR" sz="2400" dirty="0" smtClean="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les Centres Hospitaliers Universitaires (CHU), </a:t>
            </a:r>
            <a:endParaRPr lang="fr-FR" sz="2400"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ü"/>
            </a:pPr>
            <a:r>
              <a:rPr lang="fr-FR" sz="2400" dirty="0" smtClean="0">
                <a:latin typeface="Arial" panose="020B0604020202020204" pitchFamily="34" charset="0"/>
                <a:cs typeface="Arial" panose="020B0604020202020204" pitchFamily="34" charset="0"/>
              </a:rPr>
              <a:t>l’Institut </a:t>
            </a:r>
            <a:r>
              <a:rPr lang="fr-FR" sz="2400" dirty="0">
                <a:latin typeface="Arial" panose="020B0604020202020204" pitchFamily="34" charset="0"/>
                <a:cs typeface="Arial" panose="020B0604020202020204" pitchFamily="34" charset="0"/>
              </a:rPr>
              <a:t>de Cardiologie d’Abidjan (ICA), </a:t>
            </a:r>
            <a:endParaRPr lang="fr-FR" sz="2400"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ü"/>
            </a:pPr>
            <a:r>
              <a:rPr lang="fr-FR" sz="2400" dirty="0" smtClean="0">
                <a:latin typeface="Arial" panose="020B0604020202020204" pitchFamily="34" charset="0"/>
                <a:cs typeface="Arial" panose="020B0604020202020204" pitchFamily="34" charset="0"/>
              </a:rPr>
              <a:t>l’Institut </a:t>
            </a:r>
            <a:r>
              <a:rPr lang="fr-FR" sz="2400" dirty="0">
                <a:latin typeface="Arial" panose="020B0604020202020204" pitchFamily="34" charset="0"/>
                <a:cs typeface="Arial" panose="020B0604020202020204" pitchFamily="34" charset="0"/>
              </a:rPr>
              <a:t>Raoul Follereau de </a:t>
            </a:r>
            <a:r>
              <a:rPr lang="fr-FR" sz="2400" dirty="0" smtClean="0">
                <a:latin typeface="Arial" panose="020B0604020202020204" pitchFamily="34" charset="0"/>
                <a:cs typeface="Arial" panose="020B0604020202020204" pitchFamily="34" charset="0"/>
              </a:rPr>
              <a:t>C</a:t>
            </a:r>
            <a:r>
              <a:rPr lang="fr-FR" sz="2400" dirty="0">
                <a:latin typeface="Arial" panose="020B0604020202020204" pitchFamily="34" charset="0"/>
                <a:cs typeface="Arial" panose="020B0604020202020204" pitchFamily="34" charset="0"/>
              </a:rPr>
              <a:t>ôte d’Ivoire (IRFCI), </a:t>
            </a:r>
          </a:p>
          <a:p>
            <a:pPr>
              <a:lnSpc>
                <a:spcPct val="150000"/>
              </a:lnSpc>
              <a:buFont typeface="Wingdings" panose="05000000000000000000" pitchFamily="2" charset="2"/>
              <a:buChar char="ü"/>
            </a:pPr>
            <a:r>
              <a:rPr lang="fr-FR" sz="2400" dirty="0">
                <a:latin typeface="Arial" panose="020B0604020202020204" pitchFamily="34" charset="0"/>
                <a:cs typeface="Arial" panose="020B0604020202020204" pitchFamily="34" charset="0"/>
              </a:rPr>
              <a:t>le Centre National de Transfusion Sanguine (CNTS), </a:t>
            </a:r>
            <a:endParaRPr lang="fr-FR" sz="2400" b="1" dirty="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ü"/>
            </a:pPr>
            <a:r>
              <a:rPr lang="fr-FR" sz="2400" dirty="0" smtClean="0">
                <a:latin typeface="Arial" panose="020B0604020202020204" pitchFamily="34" charset="0"/>
                <a:cs typeface="Arial" panose="020B0604020202020204" pitchFamily="34" charset="0"/>
              </a:rPr>
              <a:t>l’Institut </a:t>
            </a:r>
            <a:r>
              <a:rPr lang="fr-FR" sz="2400" dirty="0">
                <a:latin typeface="Arial" panose="020B0604020202020204" pitchFamily="34" charset="0"/>
                <a:cs typeface="Arial" panose="020B0604020202020204" pitchFamily="34" charset="0"/>
              </a:rPr>
              <a:t>National d’Hygiène Publique (</a:t>
            </a:r>
            <a:r>
              <a:rPr lang="fr-FR" sz="2400" dirty="0" smtClean="0">
                <a:latin typeface="Arial" panose="020B0604020202020204" pitchFamily="34" charset="0"/>
                <a:cs typeface="Arial" panose="020B0604020202020204" pitchFamily="34" charset="0"/>
              </a:rPr>
              <a:t>INHP)</a:t>
            </a:r>
            <a:endParaRPr lang="fr-FR" sz="2400" dirty="0" smtClean="0">
              <a:latin typeface="Arial Black" panose="020B0A04020102020204" pitchFamily="34" charset="0"/>
            </a:endParaRPr>
          </a:p>
          <a:p>
            <a:pPr marL="0" indent="0">
              <a:buNone/>
            </a:pPr>
            <a:endParaRPr lang="fr-FR" sz="2400" dirty="0">
              <a:latin typeface="Arial Black" panose="020B0A04020102020204" pitchFamily="34" charset="0"/>
            </a:endParaRPr>
          </a:p>
        </p:txBody>
      </p:sp>
    </p:spTree>
    <p:extLst>
      <p:ext uri="{BB962C8B-B14F-4D97-AF65-F5344CB8AC3E}">
        <p14:creationId xmlns:p14="http://schemas.microsoft.com/office/powerpoint/2010/main" val="2125920883"/>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337624" y="1631852"/>
            <a:ext cx="11854375" cy="5226149"/>
          </a:xfrm>
        </p:spPr>
        <p:txBody>
          <a:bodyPr>
            <a:noAutofit/>
          </a:bodyPr>
          <a:lstStyle/>
          <a:p>
            <a:pPr marL="0" indent="0" algn="ctr">
              <a:buNone/>
            </a:pPr>
            <a:r>
              <a:rPr lang="fr-FR" sz="2400" dirty="0" smtClean="0">
                <a:latin typeface="Arial" panose="020B0604020202020204" pitchFamily="34" charset="0"/>
                <a:cs typeface="Arial" panose="020B0604020202020204" pitchFamily="34" charset="0"/>
              </a:rPr>
              <a:t>8. ORGANISATION DU VERSANT OFFRE DE SOINS OU PRESTATAIRE OU MEDICAL</a:t>
            </a:r>
          </a:p>
          <a:p>
            <a:pPr marL="0" indent="0">
              <a:lnSpc>
                <a:spcPct val="150000"/>
              </a:lnSpc>
              <a:buNone/>
            </a:pPr>
            <a:r>
              <a:rPr lang="fr-FR" sz="2400" dirty="0">
                <a:latin typeface="Arial" panose="020B0604020202020204" pitchFamily="34" charset="0"/>
                <a:cs typeface="Arial" panose="020B0604020202020204" pitchFamily="34" charset="0"/>
              </a:rPr>
              <a:t>Il </a:t>
            </a:r>
            <a:r>
              <a:rPr lang="fr-FR" sz="2400" dirty="0" smtClean="0">
                <a:latin typeface="Arial" panose="020B0604020202020204" pitchFamily="34" charset="0"/>
                <a:cs typeface="Arial" panose="020B0604020202020204" pitchFamily="34" charset="0"/>
              </a:rPr>
              <a:t>comprend :</a:t>
            </a:r>
          </a:p>
          <a:p>
            <a:pPr>
              <a:lnSpc>
                <a:spcPct val="150000"/>
              </a:lnSpc>
              <a:buFont typeface="Wingdings" panose="05000000000000000000" pitchFamily="2" charset="2"/>
              <a:buChar char="ü"/>
            </a:pPr>
            <a:r>
              <a:rPr lang="fr-FR" sz="2400" dirty="0" smtClean="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le Laboratoire National de Santé Publique (LNSP</a:t>
            </a:r>
            <a:r>
              <a:rPr lang="fr-FR" sz="2400" dirty="0" smtClean="0">
                <a:latin typeface="Arial" panose="020B0604020202020204" pitchFamily="34" charset="0"/>
                <a:cs typeface="Arial" panose="020B0604020202020204" pitchFamily="34" charset="0"/>
              </a:rPr>
              <a:t>) ;</a:t>
            </a:r>
          </a:p>
          <a:p>
            <a:pPr>
              <a:lnSpc>
                <a:spcPct val="150000"/>
              </a:lnSpc>
              <a:buFont typeface="Wingdings" panose="05000000000000000000" pitchFamily="2" charset="2"/>
              <a:buChar char="ü"/>
            </a:pPr>
            <a:r>
              <a:rPr lang="fr-FR" sz="2400" dirty="0" smtClean="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l’Institut National de la Santé Publique (INSP</a:t>
            </a:r>
            <a:r>
              <a:rPr lang="fr-FR" sz="2400" dirty="0" smtClean="0">
                <a:latin typeface="Arial" panose="020B0604020202020204" pitchFamily="34" charset="0"/>
                <a:cs typeface="Arial" panose="020B0604020202020204" pitchFamily="34" charset="0"/>
              </a:rPr>
              <a:t>) ; </a:t>
            </a:r>
          </a:p>
          <a:p>
            <a:pPr>
              <a:lnSpc>
                <a:spcPct val="150000"/>
              </a:lnSpc>
              <a:buFont typeface="Wingdings" panose="05000000000000000000" pitchFamily="2" charset="2"/>
              <a:buChar char="ü"/>
            </a:pPr>
            <a:r>
              <a:rPr lang="fr-FR" sz="2400" dirty="0" smtClean="0">
                <a:latin typeface="Arial" panose="020B0604020202020204" pitchFamily="34" charset="0"/>
                <a:cs typeface="Arial" panose="020B0604020202020204" pitchFamily="34" charset="0"/>
              </a:rPr>
              <a:t>le </a:t>
            </a:r>
            <a:r>
              <a:rPr lang="fr-FR" sz="2400" dirty="0">
                <a:latin typeface="Arial" panose="020B0604020202020204" pitchFamily="34" charset="0"/>
                <a:cs typeface="Arial" panose="020B0604020202020204" pitchFamily="34" charset="0"/>
              </a:rPr>
              <a:t>Centre National d’Oncologie et de Radiothérapie Alassane OUATTARA (CNRAO</a:t>
            </a:r>
            <a:r>
              <a:rPr lang="fr-FR" sz="2400" dirty="0" smtClean="0">
                <a:latin typeface="Arial" panose="020B0604020202020204" pitchFamily="34" charset="0"/>
                <a:cs typeface="Arial" panose="020B0604020202020204" pitchFamily="34" charset="0"/>
              </a:rPr>
              <a:t>) </a:t>
            </a:r>
          </a:p>
          <a:p>
            <a:pPr>
              <a:lnSpc>
                <a:spcPct val="150000"/>
              </a:lnSpc>
              <a:buFont typeface="Wingdings" panose="05000000000000000000" pitchFamily="2" charset="2"/>
              <a:buChar char="ü"/>
            </a:pPr>
            <a:r>
              <a:rPr lang="fr-FR" sz="2400" dirty="0" smtClean="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le Service d’Aide Médicale d’Urgence (SAMU) </a:t>
            </a:r>
            <a:r>
              <a:rPr lang="fr-FR" sz="2400" dirty="0" smtClean="0">
                <a:latin typeface="Arial" panose="020B0604020202020204" pitchFamily="34" charset="0"/>
                <a:cs typeface="Arial" panose="020B0604020202020204" pitchFamily="34" charset="0"/>
              </a:rPr>
              <a:t>; </a:t>
            </a:r>
            <a:endParaRPr lang="fr-FR" sz="2400" dirty="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ü"/>
            </a:pPr>
            <a:r>
              <a:rPr lang="fr-FR" sz="2400" dirty="0" smtClean="0">
                <a:latin typeface="Arial" panose="020B0604020202020204" pitchFamily="34" charset="0"/>
                <a:cs typeface="Arial" panose="020B0604020202020204" pitchFamily="34" charset="0"/>
              </a:rPr>
              <a:t>Le </a:t>
            </a:r>
            <a:r>
              <a:rPr lang="fr-FR" sz="2400" dirty="0">
                <a:latin typeface="Arial" panose="020B0604020202020204" pitchFamily="34" charset="0"/>
                <a:cs typeface="Arial" panose="020B0604020202020204" pitchFamily="34" charset="0"/>
              </a:rPr>
              <a:t>Centre National de Prévention et de Traitement de l'Insuffisance </a:t>
            </a:r>
            <a:r>
              <a:rPr lang="fr-FR" sz="2400" dirty="0" smtClean="0">
                <a:latin typeface="Arial" panose="020B0604020202020204" pitchFamily="34" charset="0"/>
                <a:cs typeface="Arial" panose="020B0604020202020204" pitchFamily="34" charset="0"/>
              </a:rPr>
              <a:t>Rénale(CNPTIR</a:t>
            </a:r>
            <a:endParaRPr lang="fr-FR" sz="2400" dirty="0">
              <a:latin typeface="Arial Black" panose="020B0A04020102020204" pitchFamily="34" charset="0"/>
            </a:endParaRPr>
          </a:p>
        </p:txBody>
      </p:sp>
    </p:spTree>
    <p:extLst>
      <p:ext uri="{BB962C8B-B14F-4D97-AF65-F5344CB8AC3E}">
        <p14:creationId xmlns:p14="http://schemas.microsoft.com/office/powerpoint/2010/main" val="494265064"/>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182880" y="2014195"/>
            <a:ext cx="11760591" cy="4843806"/>
          </a:xfrm>
        </p:spPr>
        <p:txBody>
          <a:bodyPr>
            <a:normAutofit fontScale="32500" lnSpcReduction="20000"/>
          </a:bodyPr>
          <a:lstStyle/>
          <a:p>
            <a:pPr marL="1143000" indent="-1143000" algn="ctr">
              <a:lnSpc>
                <a:spcPct val="170000"/>
              </a:lnSpc>
              <a:buAutoNum type="arabicPeriod" startAt="8"/>
            </a:pPr>
            <a:r>
              <a:rPr lang="fr-FR" sz="7400" dirty="0" smtClean="0">
                <a:latin typeface="Arial" panose="020B0604020202020204" pitchFamily="34" charset="0"/>
                <a:cs typeface="Arial" panose="020B0604020202020204" pitchFamily="34" charset="0"/>
              </a:rPr>
              <a:t>ORGANISATION </a:t>
            </a:r>
            <a:r>
              <a:rPr lang="fr-FR" sz="7400" dirty="0">
                <a:latin typeface="Arial" panose="020B0604020202020204" pitchFamily="34" charset="0"/>
                <a:cs typeface="Arial" panose="020B0604020202020204" pitchFamily="34" charset="0"/>
              </a:rPr>
              <a:t>DU VERSANT OFFRE DE SOINS OU PRESTATAIRE OU </a:t>
            </a:r>
            <a:r>
              <a:rPr lang="fr-FR" sz="7400" dirty="0" smtClean="0">
                <a:latin typeface="Arial" panose="020B0604020202020204" pitchFamily="34" charset="0"/>
                <a:cs typeface="Arial" panose="020B0604020202020204" pitchFamily="34" charset="0"/>
              </a:rPr>
              <a:t>MEDICAL</a:t>
            </a:r>
          </a:p>
          <a:p>
            <a:pPr marL="1143000" indent="-1143000" algn="ctr">
              <a:buAutoNum type="arabicPeriod" startAt="8"/>
            </a:pPr>
            <a:endParaRPr lang="fr-FR" sz="6000" dirty="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v"/>
            </a:pPr>
            <a:r>
              <a:rPr lang="fr-FR" sz="7400" dirty="0">
                <a:latin typeface="Arial" panose="020B0604020202020204" pitchFamily="34" charset="0"/>
                <a:cs typeface="Arial" panose="020B0604020202020204" pitchFamily="34" charset="0"/>
              </a:rPr>
              <a:t> </a:t>
            </a:r>
            <a:r>
              <a:rPr lang="fr-FR" sz="7400" b="1" dirty="0">
                <a:solidFill>
                  <a:schemeClr val="tx2">
                    <a:lumMod val="75000"/>
                  </a:schemeClr>
                </a:solidFill>
                <a:latin typeface="Arial" panose="020B0604020202020204" pitchFamily="34" charset="0"/>
                <a:cs typeface="Arial" panose="020B0604020202020204" pitchFamily="34" charset="0"/>
              </a:rPr>
              <a:t>LE SECTEUR PRIVE SANITAIRE</a:t>
            </a:r>
          </a:p>
          <a:p>
            <a:pPr marL="0" indent="0">
              <a:lnSpc>
                <a:spcPct val="150000"/>
              </a:lnSpc>
              <a:buNone/>
            </a:pPr>
            <a:endParaRPr lang="fr-FR" sz="7400" dirty="0">
              <a:latin typeface="Arial" panose="020B0604020202020204" pitchFamily="34" charset="0"/>
              <a:cs typeface="Arial" panose="020B0604020202020204" pitchFamily="34" charset="0"/>
            </a:endParaRPr>
          </a:p>
          <a:p>
            <a:pPr>
              <a:lnSpc>
                <a:spcPct val="150000"/>
              </a:lnSpc>
              <a:buFont typeface="Arial" panose="020B0604020202020204" pitchFamily="34" charset="0"/>
              <a:buChar char="•"/>
            </a:pPr>
            <a:r>
              <a:rPr lang="fr-FR" sz="7400" dirty="0">
                <a:latin typeface="Arial" panose="020B0604020202020204" pitchFamily="34" charset="0"/>
                <a:cs typeface="Arial" panose="020B0604020202020204" pitchFamily="34" charset="0"/>
              </a:rPr>
              <a:t>Le secteur privé de la santé est en plein essor et contribue au niveau national à environ </a:t>
            </a:r>
            <a:r>
              <a:rPr lang="fr-FR" sz="7400" b="1" dirty="0">
                <a:latin typeface="Arial" panose="020B0604020202020204" pitchFamily="34" charset="0"/>
                <a:cs typeface="Arial" panose="020B0604020202020204" pitchFamily="34" charset="0"/>
              </a:rPr>
              <a:t>40% de l’offre de soins de santé</a:t>
            </a:r>
          </a:p>
          <a:p>
            <a:pPr>
              <a:lnSpc>
                <a:spcPct val="150000"/>
              </a:lnSpc>
              <a:buFont typeface="Arial" panose="020B0604020202020204" pitchFamily="34" charset="0"/>
              <a:buChar char="•"/>
            </a:pPr>
            <a:endParaRPr lang="fr-FR" sz="9600" b="1" dirty="0">
              <a:latin typeface="Arial" panose="020B0604020202020204" pitchFamily="34" charset="0"/>
              <a:cs typeface="Arial" panose="020B0604020202020204" pitchFamily="34" charset="0"/>
            </a:endParaRPr>
          </a:p>
          <a:p>
            <a:pPr marL="0" indent="0" algn="ctr">
              <a:buNone/>
            </a:pPr>
            <a:r>
              <a:rPr lang="fr-FR" sz="3100" dirty="0" smtClean="0">
                <a:latin typeface="Arial Black" panose="020B0A04020102020204" pitchFamily="34" charset="0"/>
              </a:rPr>
              <a:t>. </a:t>
            </a:r>
            <a:endParaRPr lang="fr-FR" sz="9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3207601"/>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248530" y="2014194"/>
            <a:ext cx="11610536" cy="4843806"/>
          </a:xfrm>
        </p:spPr>
        <p:txBody>
          <a:bodyPr>
            <a:normAutofit fontScale="92500" lnSpcReduction="20000"/>
          </a:bodyPr>
          <a:lstStyle/>
          <a:p>
            <a:pPr algn="ctr">
              <a:buFont typeface="Wingdings" panose="05000000000000000000" pitchFamily="2" charset="2"/>
              <a:buChar char="q"/>
            </a:pPr>
            <a:r>
              <a:rPr lang="fr-FR" sz="2400" dirty="0" smtClean="0">
                <a:latin typeface="Arial Black" panose="020B0A04020102020204" pitchFamily="34" charset="0"/>
              </a:rPr>
              <a:t>ORGANISATION DU VERSANT OFFRE DE SOINS OU PRESTATAIRE OU MEDICAL</a:t>
            </a:r>
            <a:endParaRPr lang="fr-FR" sz="2400"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v"/>
            </a:pPr>
            <a:r>
              <a:rPr lang="fr-FR" sz="2400" dirty="0" smtClean="0">
                <a:latin typeface="Arial" panose="020B0604020202020204" pitchFamily="34" charset="0"/>
                <a:cs typeface="Arial" panose="020B0604020202020204" pitchFamily="34" charset="0"/>
              </a:rPr>
              <a:t> </a:t>
            </a:r>
            <a:r>
              <a:rPr lang="fr-FR" sz="2400" b="1" dirty="0" smtClean="0">
                <a:solidFill>
                  <a:schemeClr val="tx2">
                    <a:lumMod val="75000"/>
                  </a:schemeClr>
                </a:solidFill>
                <a:latin typeface="Arial" panose="020B0604020202020204" pitchFamily="34" charset="0"/>
                <a:cs typeface="Arial" panose="020B0604020202020204" pitchFamily="34" charset="0"/>
              </a:rPr>
              <a:t>LE SECTEUR PRIVE SANITAIRE</a:t>
            </a:r>
            <a:endParaRPr lang="fr-FR" sz="2400"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ü"/>
            </a:pPr>
            <a:r>
              <a:rPr lang="fr-FR" sz="2400" b="1" dirty="0" smtClean="0">
                <a:latin typeface="Arial" panose="020B0604020202020204" pitchFamily="34" charset="0"/>
                <a:cs typeface="Arial" panose="020B0604020202020204" pitchFamily="34" charset="0"/>
              </a:rPr>
              <a:t>1500 établissements privés de soins </a:t>
            </a:r>
            <a:r>
              <a:rPr lang="fr-FR" sz="2400" dirty="0" smtClean="0">
                <a:latin typeface="Arial" panose="020B0604020202020204" pitchFamily="34" charset="0"/>
                <a:cs typeface="Arial" panose="020B0604020202020204" pitchFamily="34" charset="0"/>
              </a:rPr>
              <a:t>(polycliniques, cliniques, centres et cabinets médicaux et infirmeries privées) et </a:t>
            </a:r>
            <a:r>
              <a:rPr lang="fr-FR" sz="2400" b="1" dirty="0" smtClean="0">
                <a:latin typeface="Arial" panose="020B0604020202020204" pitchFamily="34" charset="0"/>
                <a:cs typeface="Arial" panose="020B0604020202020204" pitchFamily="34" charset="0"/>
              </a:rPr>
              <a:t>1200 officines privées pharmaceutiques </a:t>
            </a:r>
            <a:r>
              <a:rPr lang="fr-FR" sz="2400" dirty="0" smtClean="0">
                <a:latin typeface="Arial" panose="020B0604020202020204" pitchFamily="34" charset="0"/>
                <a:cs typeface="Arial" panose="020B0604020202020204" pitchFamily="34" charset="0"/>
              </a:rPr>
              <a:t>dans ses registres </a:t>
            </a:r>
            <a:r>
              <a:rPr lang="fr-FR" sz="2400" b="1" dirty="0" smtClean="0">
                <a:latin typeface="Arial" panose="020B0604020202020204" pitchFamily="34" charset="0"/>
                <a:cs typeface="Arial" panose="020B0604020202020204" pitchFamily="34" charset="0"/>
              </a:rPr>
              <a:t>(AIRP 2021)</a:t>
            </a:r>
          </a:p>
          <a:p>
            <a:pPr marL="0" indent="0">
              <a:lnSpc>
                <a:spcPct val="150000"/>
              </a:lnSpc>
              <a:buNone/>
            </a:pPr>
            <a:endParaRPr lang="fr-FR" sz="2400"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ü"/>
            </a:pPr>
            <a:r>
              <a:rPr lang="fr-FR" sz="2400" dirty="0" smtClean="0">
                <a:latin typeface="Arial" panose="020B0604020202020204" pitchFamily="34" charset="0"/>
                <a:cs typeface="Arial" panose="020B0604020202020204" pitchFamily="34" charset="0"/>
              </a:rPr>
              <a:t> </a:t>
            </a:r>
            <a:r>
              <a:rPr lang="fr-FR" sz="2400" b="1" dirty="0" smtClean="0">
                <a:latin typeface="Arial" panose="020B0604020202020204" pitchFamily="34" charset="0"/>
                <a:cs typeface="Arial" panose="020B0604020202020204" pitchFamily="34" charset="0"/>
              </a:rPr>
              <a:t>1 100 ESPC privés </a:t>
            </a:r>
            <a:r>
              <a:rPr lang="fr-FR" sz="2400" dirty="0" smtClean="0">
                <a:latin typeface="Arial" panose="020B0604020202020204" pitchFamily="34" charset="0"/>
                <a:cs typeface="Arial" panose="020B0604020202020204" pitchFamily="34" charset="0"/>
              </a:rPr>
              <a:t>dont 760 établissements privés lucratifs de premier niveau, 96 privés confessionnels, 190 privés ONG et 54 privés d’entreprise qui fonctionne sur le territoire ivoirien </a:t>
            </a:r>
            <a:r>
              <a:rPr lang="fr-FR" sz="2400" b="1" dirty="0" smtClean="0">
                <a:latin typeface="Arial" panose="020B0604020202020204" pitchFamily="34" charset="0"/>
                <a:cs typeface="Arial" panose="020B0604020202020204" pitchFamily="34" charset="0"/>
              </a:rPr>
              <a:t>(RASS 2020).</a:t>
            </a:r>
          </a:p>
          <a:p>
            <a:pPr marL="0" indent="0">
              <a:lnSpc>
                <a:spcPct val="150000"/>
              </a:lnSpc>
              <a:buNone/>
            </a:pPr>
            <a:endParaRPr lang="fr-FR" sz="26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62427"/>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latin typeface="Arial Black" panose="020B0A04020102020204" pitchFamily="34" charset="0"/>
              </a:rPr>
              <a:t>LA POLITIQUE NATIONALE DE SANTE</a:t>
            </a:r>
          </a:p>
        </p:txBody>
      </p:sp>
      <p:sp>
        <p:nvSpPr>
          <p:cNvPr id="3" name="Espace réservé du contenu 2"/>
          <p:cNvSpPr>
            <a:spLocks noGrp="1"/>
          </p:cNvSpPr>
          <p:nvPr>
            <p:ph idx="1"/>
          </p:nvPr>
        </p:nvSpPr>
        <p:spPr>
          <a:xfrm>
            <a:off x="248530" y="2014194"/>
            <a:ext cx="11610536" cy="4843806"/>
          </a:xfrm>
        </p:spPr>
        <p:txBody>
          <a:bodyPr>
            <a:normAutofit/>
          </a:bodyPr>
          <a:lstStyle/>
          <a:p>
            <a:pPr algn="ctr">
              <a:buFont typeface="Wingdings" panose="05000000000000000000" pitchFamily="2" charset="2"/>
              <a:buChar char="q"/>
            </a:pPr>
            <a:r>
              <a:rPr lang="fr-FR" sz="2400" dirty="0" smtClean="0">
                <a:latin typeface="Arial Black" panose="020B0A04020102020204" pitchFamily="34" charset="0"/>
              </a:rPr>
              <a:t>SITUATION GENERALE DE LA SANTE EN CI</a:t>
            </a:r>
          </a:p>
          <a:p>
            <a:pPr marL="0" indent="0" algn="ctr">
              <a:buNone/>
            </a:pPr>
            <a:endParaRPr lang="fr-FR" sz="2400" dirty="0" smtClean="0">
              <a:latin typeface="Arial" panose="020B0604020202020204" pitchFamily="34" charset="0"/>
              <a:cs typeface="Arial" panose="020B0604020202020204" pitchFamily="34" charset="0"/>
            </a:endParaRPr>
          </a:p>
          <a:p>
            <a:pPr>
              <a:lnSpc>
                <a:spcPct val="150000"/>
              </a:lnSpc>
              <a:buFont typeface="Courier New" panose="02070309020205020404" pitchFamily="49" charset="0"/>
              <a:buChar char="o"/>
            </a:pPr>
            <a:r>
              <a:rPr lang="fr-FR" dirty="0" smtClean="0"/>
              <a:t> </a:t>
            </a:r>
            <a:r>
              <a:rPr lang="fr-FR" sz="2400" b="1" dirty="0">
                <a:latin typeface="Arial" panose="020B0604020202020204" pitchFamily="34" charset="0"/>
                <a:cs typeface="Arial" panose="020B0604020202020204" pitchFamily="34" charset="0"/>
              </a:rPr>
              <a:t>niveau de mortalité générale de 9,9 ‰ en </a:t>
            </a:r>
            <a:r>
              <a:rPr lang="fr-FR" sz="2400" b="1" dirty="0" smtClean="0">
                <a:latin typeface="Arial" panose="020B0604020202020204" pitchFamily="34" charset="0"/>
                <a:cs typeface="Arial" panose="020B0604020202020204" pitchFamily="34" charset="0"/>
              </a:rPr>
              <a:t>2020 en CI </a:t>
            </a:r>
            <a:r>
              <a:rPr lang="fr-FR" sz="2400" dirty="0">
                <a:latin typeface="Arial" panose="020B0604020202020204" pitchFamily="34" charset="0"/>
                <a:cs typeface="Arial" panose="020B0604020202020204" pitchFamily="34" charset="0"/>
              </a:rPr>
              <a:t>(niveau le plus élevé des pays de </a:t>
            </a:r>
            <a:r>
              <a:rPr lang="fr-FR" sz="2400" dirty="0" smtClean="0">
                <a:latin typeface="Arial" panose="020B0604020202020204" pitchFamily="34" charset="0"/>
                <a:cs typeface="Arial" panose="020B0604020202020204" pitchFamily="34" charset="0"/>
              </a:rPr>
              <a:t>l’UEMOA)</a:t>
            </a:r>
            <a:r>
              <a:rPr lang="fr-FR" sz="2400" baseline="30000" dirty="0" smtClean="0">
                <a:latin typeface="Arial" panose="020B0604020202020204" pitchFamily="34" charset="0"/>
                <a:cs typeface="Arial" panose="020B0604020202020204" pitchFamily="34" charset="0"/>
              </a:rPr>
              <a:t>1</a:t>
            </a:r>
            <a:r>
              <a:rPr lang="fr-FR" sz="2400" dirty="0" smtClean="0">
                <a:latin typeface="Arial" panose="020B0604020202020204" pitchFamily="34" charset="0"/>
                <a:cs typeface="Arial" panose="020B0604020202020204" pitchFamily="34" charset="0"/>
              </a:rPr>
              <a:t> (Banque mondiale).</a:t>
            </a:r>
          </a:p>
          <a:p>
            <a:pPr>
              <a:lnSpc>
                <a:spcPct val="150000"/>
              </a:lnSpc>
              <a:buFont typeface="Courier New" panose="02070309020205020404" pitchFamily="49" charset="0"/>
              <a:buChar char="o"/>
            </a:pPr>
            <a:endParaRPr lang="fr-FR" sz="2400" dirty="0" smtClean="0">
              <a:latin typeface="Arial" panose="020B0604020202020204" pitchFamily="34" charset="0"/>
              <a:cs typeface="Arial" panose="020B0604020202020204" pitchFamily="34" charset="0"/>
            </a:endParaRPr>
          </a:p>
          <a:p>
            <a:pPr>
              <a:lnSpc>
                <a:spcPct val="150000"/>
              </a:lnSpc>
            </a:pPr>
            <a:r>
              <a:rPr lang="fr-FR" sz="2400" dirty="0">
                <a:latin typeface="Arial" panose="020B0604020202020204" pitchFamily="34" charset="0"/>
                <a:cs typeface="Arial" panose="020B0604020202020204" pitchFamily="34" charset="0"/>
              </a:rPr>
              <a:t>taux de mortalité </a:t>
            </a:r>
            <a:r>
              <a:rPr lang="fr-FR" sz="2400" dirty="0" smtClean="0">
                <a:latin typeface="Arial" panose="020B0604020202020204" pitchFamily="34" charset="0"/>
                <a:cs typeface="Arial" panose="020B0604020202020204" pitchFamily="34" charset="0"/>
              </a:rPr>
              <a:t>maternelle </a:t>
            </a:r>
            <a:r>
              <a:rPr lang="fr-FR" sz="2400" b="1" dirty="0" smtClean="0">
                <a:latin typeface="Arial" panose="020B0604020202020204" pitchFamily="34" charset="0"/>
                <a:cs typeface="Arial" panose="020B0604020202020204" pitchFamily="34" charset="0"/>
              </a:rPr>
              <a:t>élevé</a:t>
            </a:r>
            <a:r>
              <a:rPr lang="fr-FR" sz="2400" dirty="0" smtClean="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et se situe à </a:t>
            </a:r>
            <a:r>
              <a:rPr lang="fr-FR" sz="2400" b="1" dirty="0">
                <a:latin typeface="Arial" panose="020B0604020202020204" pitchFamily="34" charset="0"/>
                <a:cs typeface="Arial" panose="020B0604020202020204" pitchFamily="34" charset="0"/>
              </a:rPr>
              <a:t>645 pour 100 000 naissances vivantes en </a:t>
            </a:r>
            <a:r>
              <a:rPr lang="fr-FR" sz="2400" b="1" dirty="0" smtClean="0">
                <a:latin typeface="Arial" panose="020B0604020202020204" pitchFamily="34" charset="0"/>
                <a:cs typeface="Arial" panose="020B0604020202020204" pitchFamily="34" charset="0"/>
              </a:rPr>
              <a:t>2018 </a:t>
            </a:r>
            <a:r>
              <a:rPr lang="fr-FR" sz="2400" dirty="0" smtClean="0">
                <a:latin typeface="Arial" panose="020B0604020202020204" pitchFamily="34" charset="0"/>
                <a:cs typeface="Arial" panose="020B0604020202020204" pitchFamily="34" charset="0"/>
              </a:rPr>
              <a:t>( PNUD 2018 )</a:t>
            </a:r>
            <a:endParaRPr lang="fr-FR" sz="2400" dirty="0">
              <a:latin typeface="Arial" panose="020B0604020202020204" pitchFamily="34" charset="0"/>
              <a:cs typeface="Arial" panose="020B0604020202020204" pitchFamily="34" charset="0"/>
            </a:endParaRPr>
          </a:p>
          <a:p>
            <a:pPr marL="0" indent="0">
              <a:lnSpc>
                <a:spcPct val="150000"/>
              </a:lnSpc>
              <a:buNone/>
            </a:pPr>
            <a:endParaRPr lang="fr-FR" sz="26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1019588"/>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30" y="2014194"/>
            <a:ext cx="11610536" cy="4843806"/>
          </a:xfrm>
        </p:spPr>
        <p:txBody>
          <a:bodyPr>
            <a:normAutofit/>
          </a:bodyPr>
          <a:lstStyle/>
          <a:p>
            <a:pPr marL="0" indent="0">
              <a:lnSpc>
                <a:spcPct val="150000"/>
              </a:lnSpc>
              <a:buNone/>
            </a:pPr>
            <a:endParaRPr lang="fr-FR" sz="2600" dirty="0">
              <a:latin typeface="Arial" panose="020B0604020202020204" pitchFamily="34" charset="0"/>
              <a:cs typeface="Arial" panose="020B0604020202020204" pitchFamily="34" charset="0"/>
            </a:endParaRPr>
          </a:p>
          <a:p>
            <a:pPr marL="0" indent="0">
              <a:lnSpc>
                <a:spcPct val="150000"/>
              </a:lnSpc>
              <a:buNone/>
            </a:pPr>
            <a:r>
              <a:rPr lang="fr-FR" sz="3200" dirty="0">
                <a:latin typeface="Arial Black" panose="020B0A04020102020204" pitchFamily="34" charset="0"/>
              </a:rPr>
              <a:t>II-LA POLITIQUE PHARMACEUTIQUE NATIONALE</a:t>
            </a:r>
            <a:endParaRPr lang="fr-FR" sz="32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3033991"/>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30" y="2014194"/>
            <a:ext cx="11610536" cy="4843806"/>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VISION</a:t>
            </a:r>
          </a:p>
          <a:p>
            <a:pPr marL="0" indent="0">
              <a:lnSpc>
                <a:spcPct val="150000"/>
              </a:lnSpc>
              <a:buNone/>
            </a:pPr>
            <a:r>
              <a:rPr lang="fr-FR" sz="2600" b="1" dirty="0" smtClean="0">
                <a:latin typeface="Arial" panose="020B0604020202020204" pitchFamily="34" charset="0"/>
                <a:cs typeface="Arial" panose="020B0604020202020204" pitchFamily="34" charset="0"/>
              </a:rPr>
              <a:t> </a:t>
            </a:r>
            <a:r>
              <a:rPr lang="fr-FR" sz="2400" i="1" dirty="0">
                <a:latin typeface="Arial" panose="020B0604020202020204" pitchFamily="34" charset="0"/>
                <a:cs typeface="Arial" panose="020B0604020202020204" pitchFamily="34" charset="0"/>
              </a:rPr>
              <a:t>« Un secteur pharmaceutique industrialisé, mature et performant pour un niveau élevé de protection de la santé et pour le bien-être des populations vivant en Côte d’Ivoire. »</a:t>
            </a:r>
            <a:endParaRPr lang="fr-FR" sz="2400" dirty="0">
              <a:latin typeface="Arial" panose="020B0604020202020204" pitchFamily="34" charset="0"/>
              <a:cs typeface="Arial" panose="020B0604020202020204" pitchFamily="34" charset="0"/>
            </a:endParaRPr>
          </a:p>
          <a:p>
            <a:pPr marL="0" indent="0">
              <a:lnSpc>
                <a:spcPct val="150000"/>
              </a:lnSpc>
              <a:buNone/>
            </a:pPr>
            <a:endParaRPr lang="fr-FR" sz="26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4485686"/>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30" y="2014194"/>
            <a:ext cx="11610536" cy="4843806"/>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FONDEMENTS</a:t>
            </a:r>
          </a:p>
          <a:p>
            <a:pPr>
              <a:lnSpc>
                <a:spcPct val="150000"/>
              </a:lnSpc>
              <a:buFont typeface="Wingdings" panose="05000000000000000000" pitchFamily="2" charset="2"/>
              <a:buChar char="Ø"/>
            </a:pPr>
            <a:r>
              <a:rPr lang="fr-FR" sz="2600" b="1" dirty="0" smtClean="0">
                <a:latin typeface="Arial" panose="020B0604020202020204" pitchFamily="34" charset="0"/>
                <a:cs typeface="Arial" panose="020B0604020202020204" pitchFamily="34" charset="0"/>
              </a:rPr>
              <a:t> </a:t>
            </a:r>
            <a:r>
              <a:rPr lang="fr-FR" sz="2400" b="1" dirty="0">
                <a:latin typeface="Arial" panose="020B0604020202020204" pitchFamily="34" charset="0"/>
                <a:cs typeface="Arial" panose="020B0604020202020204" pitchFamily="34" charset="0"/>
              </a:rPr>
              <a:t>Monopole </a:t>
            </a:r>
            <a:r>
              <a:rPr lang="fr-FR" sz="2400" b="1" dirty="0" smtClean="0">
                <a:latin typeface="Arial" panose="020B0604020202020204" pitchFamily="34" charset="0"/>
                <a:cs typeface="Arial" panose="020B0604020202020204" pitchFamily="34" charset="0"/>
              </a:rPr>
              <a:t>pharmaceutique</a:t>
            </a:r>
          </a:p>
          <a:p>
            <a:pPr>
              <a:lnSpc>
                <a:spcPct val="150000"/>
              </a:lnSpc>
            </a:pPr>
            <a:r>
              <a:rPr lang="fr-FR" sz="2400" dirty="0">
                <a:latin typeface="Arial" panose="020B0604020202020204" pitchFamily="34" charset="0"/>
                <a:cs typeface="Arial" panose="020B0604020202020204" pitchFamily="34" charset="0"/>
              </a:rPr>
              <a:t>La </a:t>
            </a:r>
            <a:r>
              <a:rPr lang="fr-FR" sz="2400" b="1" dirty="0">
                <a:latin typeface="Arial" panose="020B0604020202020204" pitchFamily="34" charset="0"/>
                <a:cs typeface="Arial" panose="020B0604020202020204" pitchFamily="34" charset="0"/>
              </a:rPr>
              <a:t>loi n°2015-533 du 20/07/2015 </a:t>
            </a:r>
            <a:r>
              <a:rPr lang="fr-FR" sz="2400" dirty="0">
                <a:latin typeface="Arial" panose="020B0604020202020204" pitchFamily="34" charset="0"/>
                <a:cs typeface="Arial" panose="020B0604020202020204" pitchFamily="34" charset="0"/>
              </a:rPr>
              <a:t>relative à l’exercice de la pharmacie en Côte d’Ivoire, consacre le </a:t>
            </a:r>
            <a:r>
              <a:rPr lang="fr-FR" sz="2400" b="1" dirty="0">
                <a:latin typeface="Arial" panose="020B0604020202020204" pitchFamily="34" charset="0"/>
                <a:cs typeface="Arial" panose="020B0604020202020204" pitchFamily="34" charset="0"/>
              </a:rPr>
              <a:t>monopole du pharmacien </a:t>
            </a:r>
            <a:r>
              <a:rPr lang="fr-FR" sz="2400" dirty="0">
                <a:latin typeface="Arial" panose="020B0604020202020204" pitchFamily="34" charset="0"/>
                <a:cs typeface="Arial" panose="020B0604020202020204" pitchFamily="34" charset="0"/>
              </a:rPr>
              <a:t>(sauf dérogation prévue par la loi) </a:t>
            </a:r>
            <a:r>
              <a:rPr lang="fr-FR" sz="2400" b="1" dirty="0">
                <a:latin typeface="Arial" panose="020B0604020202020204" pitchFamily="34" charset="0"/>
                <a:cs typeface="Arial" panose="020B0604020202020204" pitchFamily="34" charset="0"/>
              </a:rPr>
              <a:t>sur les activités </a:t>
            </a:r>
            <a:r>
              <a:rPr lang="fr-FR" sz="2400" dirty="0">
                <a:latin typeface="Arial" panose="020B0604020202020204" pitchFamily="34" charset="0"/>
                <a:cs typeface="Arial" panose="020B0604020202020204" pitchFamily="34" charset="0"/>
              </a:rPr>
              <a:t>liées aux médicaments et autres produits de santé.</a:t>
            </a:r>
          </a:p>
          <a:p>
            <a:pPr>
              <a:lnSpc>
                <a:spcPct val="150000"/>
              </a:lnSpc>
            </a:pPr>
            <a:r>
              <a:rPr lang="fr-FR" sz="2400" dirty="0">
                <a:latin typeface="Arial" panose="020B0604020202020204" pitchFamily="34" charset="0"/>
                <a:cs typeface="Arial" panose="020B0604020202020204" pitchFamily="34" charset="0"/>
              </a:rPr>
              <a:t>Il s’agit notamment de :</a:t>
            </a:r>
          </a:p>
          <a:p>
            <a:pPr marL="0" indent="0">
              <a:lnSpc>
                <a:spcPct val="150000"/>
              </a:lnSpc>
              <a:buNone/>
            </a:pPr>
            <a:endParaRPr lang="fr-FR" sz="2400" b="1"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endParaRPr lang="fr-FR" sz="24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3331673"/>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30" y="2014194"/>
            <a:ext cx="11610536" cy="4843806"/>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FONDEMENTS</a:t>
            </a:r>
          </a:p>
          <a:p>
            <a:pPr>
              <a:lnSpc>
                <a:spcPct val="150000"/>
              </a:lnSpc>
              <a:buFont typeface="Wingdings" panose="05000000000000000000" pitchFamily="2" charset="2"/>
              <a:buChar char="Ø"/>
            </a:pPr>
            <a:r>
              <a:rPr lang="fr-FR" sz="2600" b="1" dirty="0" smtClean="0">
                <a:latin typeface="Arial" panose="020B0604020202020204" pitchFamily="34" charset="0"/>
                <a:cs typeface="Arial" panose="020B0604020202020204" pitchFamily="34" charset="0"/>
              </a:rPr>
              <a:t> </a:t>
            </a:r>
            <a:r>
              <a:rPr lang="fr-FR" sz="2400" b="1" dirty="0">
                <a:latin typeface="Arial" panose="020B0604020202020204" pitchFamily="34" charset="0"/>
                <a:cs typeface="Arial" panose="020B0604020202020204" pitchFamily="34" charset="0"/>
              </a:rPr>
              <a:t>Monopole </a:t>
            </a:r>
            <a:r>
              <a:rPr lang="fr-FR" sz="2400" b="1" dirty="0" smtClean="0">
                <a:latin typeface="Arial" panose="020B0604020202020204" pitchFamily="34" charset="0"/>
                <a:cs typeface="Arial" panose="020B0604020202020204" pitchFamily="34" charset="0"/>
              </a:rPr>
              <a:t>pharmaceutique</a:t>
            </a:r>
          </a:p>
          <a:p>
            <a:pPr lvl="0">
              <a:lnSpc>
                <a:spcPct val="150000"/>
              </a:lnSpc>
            </a:pPr>
            <a:r>
              <a:rPr lang="fr-FR" sz="2400" dirty="0">
                <a:latin typeface="Arial" panose="020B0604020202020204" pitchFamily="34" charset="0"/>
                <a:cs typeface="Arial" panose="020B0604020202020204" pitchFamily="34" charset="0"/>
              </a:rPr>
              <a:t>la préparation, l’importation et l’exportation des médicaments destinés à l’usage de la </a:t>
            </a:r>
            <a:r>
              <a:rPr lang="fr-FR" sz="2400" dirty="0" smtClean="0">
                <a:latin typeface="Arial" panose="020B0604020202020204" pitchFamily="34" charset="0"/>
                <a:cs typeface="Arial" panose="020B0604020202020204" pitchFamily="34" charset="0"/>
              </a:rPr>
              <a:t>médecine humaine </a:t>
            </a:r>
            <a:r>
              <a:rPr lang="fr-FR" sz="2400" dirty="0">
                <a:latin typeface="Arial" panose="020B0604020202020204" pitchFamily="34" charset="0"/>
                <a:cs typeface="Arial" panose="020B0604020202020204" pitchFamily="34" charset="0"/>
              </a:rPr>
              <a:t>ou animale </a:t>
            </a:r>
            <a:r>
              <a:rPr lang="fr-FR" sz="2400" dirty="0" smtClean="0">
                <a:latin typeface="Arial" panose="020B0604020202020204" pitchFamily="34" charset="0"/>
                <a:cs typeface="Arial" panose="020B0604020202020204" pitchFamily="34" charset="0"/>
              </a:rPr>
              <a:t>;</a:t>
            </a:r>
          </a:p>
          <a:p>
            <a:pPr lvl="0">
              <a:lnSpc>
                <a:spcPct val="150000"/>
              </a:lnSpc>
            </a:pPr>
            <a:endParaRPr lang="fr-FR" sz="2400" dirty="0">
              <a:latin typeface="Arial" panose="020B0604020202020204" pitchFamily="34" charset="0"/>
              <a:cs typeface="Arial" panose="020B0604020202020204" pitchFamily="34" charset="0"/>
            </a:endParaRPr>
          </a:p>
          <a:p>
            <a:pPr lvl="0">
              <a:lnSpc>
                <a:spcPct val="150000"/>
              </a:lnSpc>
            </a:pPr>
            <a:r>
              <a:rPr lang="fr-FR" sz="2400" dirty="0">
                <a:latin typeface="Arial" panose="020B0604020202020204" pitchFamily="34" charset="0"/>
                <a:cs typeface="Arial" panose="020B0604020202020204" pitchFamily="34" charset="0"/>
              </a:rPr>
              <a:t>la vente en gros, la vente au détail et toute dispensation au public des médicaments et autres produits de santé ;</a:t>
            </a:r>
          </a:p>
          <a:p>
            <a:pPr marL="0" indent="0">
              <a:lnSpc>
                <a:spcPct val="150000"/>
              </a:lnSpc>
              <a:buNone/>
            </a:pPr>
            <a:endParaRPr lang="fr-FR" sz="2400" b="1"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endParaRPr lang="fr-FR" sz="24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9949853"/>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30" y="2014194"/>
            <a:ext cx="11610536" cy="4843806"/>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FONDEMENTS</a:t>
            </a:r>
          </a:p>
          <a:p>
            <a:pPr>
              <a:lnSpc>
                <a:spcPct val="150000"/>
              </a:lnSpc>
              <a:buFont typeface="Wingdings" panose="05000000000000000000" pitchFamily="2" charset="2"/>
              <a:buChar char="Ø"/>
            </a:pPr>
            <a:r>
              <a:rPr lang="fr-FR" sz="2600" b="1" dirty="0" smtClean="0">
                <a:latin typeface="Arial" panose="020B0604020202020204" pitchFamily="34" charset="0"/>
                <a:cs typeface="Arial" panose="020B0604020202020204" pitchFamily="34" charset="0"/>
              </a:rPr>
              <a:t> </a:t>
            </a:r>
            <a:r>
              <a:rPr lang="fr-FR" sz="2400" b="1" dirty="0">
                <a:latin typeface="Arial" panose="020B0604020202020204" pitchFamily="34" charset="0"/>
                <a:cs typeface="Arial" panose="020B0604020202020204" pitchFamily="34" charset="0"/>
              </a:rPr>
              <a:t>Monopole </a:t>
            </a:r>
            <a:r>
              <a:rPr lang="fr-FR" sz="2400" b="1" dirty="0" smtClean="0">
                <a:latin typeface="Arial" panose="020B0604020202020204" pitchFamily="34" charset="0"/>
                <a:cs typeface="Arial" panose="020B0604020202020204" pitchFamily="34" charset="0"/>
              </a:rPr>
              <a:t>pharmaceutique</a:t>
            </a:r>
          </a:p>
          <a:p>
            <a:pPr marL="0" indent="0">
              <a:lnSpc>
                <a:spcPct val="150000"/>
              </a:lnSpc>
              <a:buNone/>
            </a:pPr>
            <a:endParaRPr lang="fr-FR" sz="2400" b="1" dirty="0" smtClean="0">
              <a:latin typeface="Arial" panose="020B0604020202020204" pitchFamily="34" charset="0"/>
              <a:cs typeface="Arial" panose="020B0604020202020204" pitchFamily="34" charset="0"/>
            </a:endParaRPr>
          </a:p>
          <a:p>
            <a:pPr marL="0" indent="0">
              <a:lnSpc>
                <a:spcPct val="150000"/>
              </a:lnSpc>
              <a:buNone/>
            </a:pPr>
            <a:r>
              <a:rPr lang="fr-FR" sz="2400" dirty="0">
                <a:latin typeface="Arial" panose="020B0604020202020204" pitchFamily="34" charset="0"/>
                <a:cs typeface="Arial" panose="020B0604020202020204" pitchFamily="34" charset="0"/>
              </a:rPr>
              <a:t>la vente des plantes médicinales inscrites à une pharmacopée reconnue en Côte d’Ivoire ou figurant sur une liste établie par le ministère en charge de la santé, sous réserve d’une dérogation prévue par décret</a:t>
            </a:r>
            <a:endParaRPr lang="fr-FR" sz="24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2612621"/>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30" y="2014194"/>
            <a:ext cx="11610536" cy="4843806"/>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FONDEMENTS</a:t>
            </a:r>
          </a:p>
          <a:p>
            <a:pPr>
              <a:lnSpc>
                <a:spcPct val="150000"/>
              </a:lnSpc>
              <a:buFont typeface="Wingdings" panose="05000000000000000000" pitchFamily="2" charset="2"/>
              <a:buChar char="Ø"/>
            </a:pPr>
            <a:r>
              <a:rPr lang="fr-FR" sz="2600" b="1" dirty="0" smtClean="0">
                <a:latin typeface="Arial" panose="020B0604020202020204" pitchFamily="34" charset="0"/>
                <a:cs typeface="Arial" panose="020B0604020202020204" pitchFamily="34" charset="0"/>
              </a:rPr>
              <a:t> </a:t>
            </a:r>
            <a:r>
              <a:rPr lang="fr-FR" sz="2400" b="1" dirty="0">
                <a:latin typeface="Arial" panose="020B0604020202020204" pitchFamily="34" charset="0"/>
                <a:cs typeface="Arial" panose="020B0604020202020204" pitchFamily="34" charset="0"/>
              </a:rPr>
              <a:t>Éthique et déontologie </a:t>
            </a:r>
            <a:r>
              <a:rPr lang="fr-FR" sz="2400" b="1" dirty="0" smtClean="0">
                <a:latin typeface="Arial" panose="020B0604020202020204" pitchFamily="34" charset="0"/>
                <a:cs typeface="Arial" panose="020B0604020202020204" pitchFamily="34" charset="0"/>
              </a:rPr>
              <a:t>pharmaceutique</a:t>
            </a:r>
          </a:p>
          <a:p>
            <a:pPr>
              <a:lnSpc>
                <a:spcPct val="150000"/>
              </a:lnSpc>
              <a:buFont typeface="Wingdings" panose="05000000000000000000" pitchFamily="2" charset="2"/>
              <a:buChar char="Ø"/>
            </a:pPr>
            <a:endParaRPr lang="fr-FR" sz="2400" b="1" dirty="0" smtClean="0">
              <a:latin typeface="Arial" panose="020B0604020202020204" pitchFamily="34" charset="0"/>
              <a:cs typeface="Arial" panose="020B0604020202020204" pitchFamily="34" charset="0"/>
            </a:endParaRPr>
          </a:p>
          <a:p>
            <a:pPr marL="0" indent="0">
              <a:lnSpc>
                <a:spcPct val="150000"/>
              </a:lnSpc>
              <a:buNone/>
            </a:pPr>
            <a:r>
              <a:rPr lang="fr-FR" sz="2400" dirty="0">
                <a:latin typeface="Arial" panose="020B0604020202020204" pitchFamily="34" charset="0"/>
                <a:cs typeface="Arial" panose="020B0604020202020204" pitchFamily="34" charset="0"/>
              </a:rPr>
              <a:t>Les dispositions de loi N°2015-534 du 20 juillet 2015 portant code de déontologie pharmaceutique encadrent et précisent les règles et les devoirs, moraux et éthiques auxquelles tout pharmacien et l’ensemble du secteur pharmaceutique sont astreints</a:t>
            </a:r>
            <a:endParaRPr lang="fr-FR" sz="24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4201467"/>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30" y="2014194"/>
            <a:ext cx="11610536" cy="4843806"/>
          </a:xfrm>
        </p:spPr>
        <p:txBody>
          <a:bodyPr>
            <a:normAutofit lnSpcReduction="10000"/>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FONDEMENTS</a:t>
            </a:r>
          </a:p>
          <a:p>
            <a:pPr>
              <a:lnSpc>
                <a:spcPct val="150000"/>
              </a:lnSpc>
              <a:buFont typeface="Wingdings" panose="05000000000000000000" pitchFamily="2" charset="2"/>
              <a:buChar char="Ø"/>
            </a:pPr>
            <a:r>
              <a:rPr lang="fr-FR" sz="2400" b="1" dirty="0" smtClean="0">
                <a:latin typeface="Arial" panose="020B0604020202020204" pitchFamily="34" charset="0"/>
                <a:cs typeface="Arial" panose="020B0604020202020204" pitchFamily="34" charset="0"/>
              </a:rPr>
              <a:t>Régulation pharmaceutique</a:t>
            </a:r>
          </a:p>
          <a:p>
            <a:pPr>
              <a:lnSpc>
                <a:spcPct val="150000"/>
              </a:lnSpc>
              <a:buFont typeface="Wingdings" panose="05000000000000000000" pitchFamily="2" charset="2"/>
              <a:buChar char="Ø"/>
            </a:pPr>
            <a:endParaRPr lang="fr-FR" sz="2400" b="1" dirty="0" smtClean="0">
              <a:latin typeface="Arial" panose="020B0604020202020204" pitchFamily="34" charset="0"/>
              <a:cs typeface="Arial" panose="020B0604020202020204" pitchFamily="34" charset="0"/>
            </a:endParaRPr>
          </a:p>
          <a:p>
            <a:pPr>
              <a:lnSpc>
                <a:spcPct val="150000"/>
              </a:lnSpc>
            </a:pPr>
            <a:r>
              <a:rPr lang="fr-FR" sz="2400" dirty="0">
                <a:latin typeface="Arial" panose="020B0604020202020204" pitchFamily="34" charset="0"/>
                <a:cs typeface="Arial" panose="020B0604020202020204" pitchFamily="34" charset="0"/>
              </a:rPr>
              <a:t>La loi n°2017-541 du 03/08/2017 relative à la régulation du secteur pharmaceutique a pour objet de consacrer un cadre institutionnel et fonctionnel d’un système de régulation du secteur pharmaceutique qui garantisse la mise sur le marché et l’utilisation de produits homologués.</a:t>
            </a:r>
          </a:p>
          <a:p>
            <a:pPr>
              <a:lnSpc>
                <a:spcPct val="150000"/>
              </a:lnSpc>
            </a:pPr>
            <a:r>
              <a:rPr lang="fr-FR" sz="2400" dirty="0" smtClean="0">
                <a:latin typeface="Arial" panose="020B0604020202020204" pitchFamily="34" charset="0"/>
                <a:cs typeface="Arial" panose="020B0604020202020204" pitchFamily="34" charset="0"/>
              </a:rPr>
              <a:t>.</a:t>
            </a:r>
            <a:endParaRPr lang="fr-FR" sz="2400" dirty="0">
              <a:latin typeface="Arial" panose="020B0604020202020204" pitchFamily="34" charset="0"/>
              <a:cs typeface="Arial" panose="020B0604020202020204" pitchFamily="34" charset="0"/>
            </a:endParaRPr>
          </a:p>
          <a:p>
            <a:pPr marL="0" indent="0">
              <a:lnSpc>
                <a:spcPct val="150000"/>
              </a:lnSpc>
              <a:buNone/>
            </a:pPr>
            <a:endParaRPr lang="fr-FR" sz="20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0206275"/>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30" y="2014194"/>
            <a:ext cx="11610536" cy="4843806"/>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FONDEMENTS</a:t>
            </a:r>
          </a:p>
          <a:p>
            <a:pPr>
              <a:lnSpc>
                <a:spcPct val="150000"/>
              </a:lnSpc>
              <a:buFont typeface="Wingdings" panose="05000000000000000000" pitchFamily="2" charset="2"/>
              <a:buChar char="Ø"/>
            </a:pPr>
            <a:r>
              <a:rPr lang="fr-FR" sz="2400" b="1" dirty="0" smtClean="0">
                <a:latin typeface="Arial" panose="020B0604020202020204" pitchFamily="34" charset="0"/>
                <a:cs typeface="Arial" panose="020B0604020202020204" pitchFamily="34" charset="0"/>
              </a:rPr>
              <a:t>Régulation pharmaceutique</a:t>
            </a:r>
          </a:p>
          <a:p>
            <a:pPr>
              <a:lnSpc>
                <a:spcPct val="150000"/>
              </a:lnSpc>
            </a:pPr>
            <a:r>
              <a:rPr lang="fr-FR" sz="2400" dirty="0" smtClean="0">
                <a:latin typeface="Arial" panose="020B0604020202020204" pitchFamily="34" charset="0"/>
                <a:cs typeface="Arial" panose="020B0604020202020204" pitchFamily="34" charset="0"/>
              </a:rPr>
              <a:t>La </a:t>
            </a:r>
            <a:r>
              <a:rPr lang="fr-FR" sz="2400" dirty="0">
                <a:latin typeface="Arial" panose="020B0604020202020204" pitchFamily="34" charset="0"/>
                <a:cs typeface="Arial" panose="020B0604020202020204" pitchFamily="34" charset="0"/>
              </a:rPr>
              <a:t>régulation du secteur pharmaceutique vise à veiller au respect des bonnes pratiques pharmaceutiques à tous les niveaux du cycle de vie des produits de santé, afin de garantir un accès, sur toute l’étendue du territoire, à des produits de santé sûrs, efficaces, de qualité et à un prix abordable et à protéger les consommateurs contre les produits pharmaceutiques de qualité inférieure et falsifiés et le marché illicite de médicament.</a:t>
            </a:r>
          </a:p>
          <a:p>
            <a:pPr marL="0" indent="0">
              <a:lnSpc>
                <a:spcPct val="150000"/>
              </a:lnSpc>
              <a:buNone/>
            </a:pPr>
            <a:endParaRPr lang="fr-FR" sz="20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4900965"/>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30" y="2014194"/>
            <a:ext cx="11610536" cy="4843806"/>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FONDEMENTS</a:t>
            </a:r>
          </a:p>
          <a:p>
            <a:pPr marL="0" indent="0" algn="ctr">
              <a:lnSpc>
                <a:spcPct val="150000"/>
              </a:lnSpc>
              <a:buNone/>
            </a:pPr>
            <a:endParaRPr lang="fr-FR" sz="2600" b="1"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fr-FR" sz="2400" b="1" dirty="0">
                <a:latin typeface="Arial" panose="020B0604020202020204" pitchFamily="34" charset="0"/>
                <a:cs typeface="Arial" panose="020B0604020202020204" pitchFamily="34" charset="0"/>
              </a:rPr>
              <a:t>Liste nationale des médicaments </a:t>
            </a:r>
            <a:r>
              <a:rPr lang="fr-FR" sz="2400" b="1" dirty="0" smtClean="0">
                <a:latin typeface="Arial" panose="020B0604020202020204" pitchFamily="34" charset="0"/>
                <a:cs typeface="Arial" panose="020B0604020202020204" pitchFamily="34" charset="0"/>
              </a:rPr>
              <a:t>essentiels</a:t>
            </a:r>
            <a:endParaRPr lang="fr-FR" sz="2400" b="1" dirty="0">
              <a:latin typeface="Arial" panose="020B0604020202020204" pitchFamily="34" charset="0"/>
              <a:cs typeface="Arial" panose="020B0604020202020204" pitchFamily="34" charset="0"/>
            </a:endParaRPr>
          </a:p>
          <a:p>
            <a:pPr>
              <a:lnSpc>
                <a:spcPct val="150000"/>
              </a:lnSpc>
            </a:pPr>
            <a:r>
              <a:rPr lang="fr-FR" sz="2400" dirty="0">
                <a:latin typeface="Arial" panose="020B0604020202020204" pitchFamily="34" charset="0"/>
                <a:cs typeface="Arial" panose="020B0604020202020204" pitchFamily="34" charset="0"/>
              </a:rPr>
              <a:t>Le principe de la fixation périodique par voie règlementaire d’une liste nationale de médicaments essentiel (en abrégé LNME) est consacré par la loi n°2019-677 du 23/07/2019 portant orientation de la politique de santé publique en Côte d'Ivoire.</a:t>
            </a:r>
          </a:p>
          <a:p>
            <a:pPr>
              <a:lnSpc>
                <a:spcPct val="150000"/>
              </a:lnSpc>
              <a:buFont typeface="Wingdings" panose="05000000000000000000" pitchFamily="2" charset="2"/>
              <a:buChar char="Ø"/>
            </a:pPr>
            <a:endParaRPr lang="fr-FR" sz="2400" b="1" dirty="0" smtClean="0">
              <a:latin typeface="Arial" panose="020B0604020202020204" pitchFamily="34" charset="0"/>
              <a:cs typeface="Arial" panose="020B0604020202020204" pitchFamily="34" charset="0"/>
            </a:endParaRPr>
          </a:p>
          <a:p>
            <a:pPr marL="0" indent="0">
              <a:lnSpc>
                <a:spcPct val="150000"/>
              </a:lnSpc>
              <a:buNone/>
            </a:pPr>
            <a:endParaRPr lang="fr-FR" sz="2400" b="1" dirty="0" smtClean="0">
              <a:latin typeface="Arial" panose="020B0604020202020204" pitchFamily="34" charset="0"/>
              <a:cs typeface="Arial" panose="020B0604020202020204" pitchFamily="34" charset="0"/>
            </a:endParaRPr>
          </a:p>
          <a:p>
            <a:pPr marL="0" indent="0">
              <a:lnSpc>
                <a:spcPct val="150000"/>
              </a:lnSpc>
              <a:buNone/>
            </a:pPr>
            <a:endParaRPr lang="fr-FR" sz="20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426441"/>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30" y="2014194"/>
            <a:ext cx="11610536" cy="4843806"/>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FONDEMENTS</a:t>
            </a:r>
          </a:p>
          <a:p>
            <a:pPr marL="0" indent="0" algn="ctr">
              <a:lnSpc>
                <a:spcPct val="150000"/>
              </a:lnSpc>
              <a:buNone/>
            </a:pPr>
            <a:endParaRPr lang="fr-FR" sz="2600" b="1"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fr-FR" sz="2400" b="1" dirty="0">
                <a:latin typeface="Arial" panose="020B0604020202020204" pitchFamily="34" charset="0"/>
                <a:cs typeface="Arial" panose="020B0604020202020204" pitchFamily="34" charset="0"/>
              </a:rPr>
              <a:t>Liste nationale des médicaments </a:t>
            </a:r>
            <a:r>
              <a:rPr lang="fr-FR" sz="2400" b="1" dirty="0" smtClean="0">
                <a:latin typeface="Arial" panose="020B0604020202020204" pitchFamily="34" charset="0"/>
                <a:cs typeface="Arial" panose="020B0604020202020204" pitchFamily="34" charset="0"/>
              </a:rPr>
              <a:t>essentiels</a:t>
            </a:r>
            <a:endParaRPr lang="fr-FR" sz="2400" b="1" dirty="0">
              <a:latin typeface="Arial" panose="020B0604020202020204" pitchFamily="34" charset="0"/>
              <a:cs typeface="Arial" panose="020B0604020202020204" pitchFamily="34" charset="0"/>
            </a:endParaRPr>
          </a:p>
          <a:p>
            <a:pPr marL="0" indent="0">
              <a:lnSpc>
                <a:spcPct val="150000"/>
              </a:lnSpc>
              <a:buNone/>
            </a:pPr>
            <a:r>
              <a:rPr lang="fr-FR" sz="2400" dirty="0">
                <a:latin typeface="Arial" panose="020B0604020202020204" pitchFamily="34" charset="0"/>
                <a:cs typeface="Arial" panose="020B0604020202020204" pitchFamily="34" charset="0"/>
              </a:rPr>
              <a:t>La LNME est un outil de rationalisation de l’arsenal thérapeutique. Elle établit le lien entre les protocoles thérapeutiques nationalement admis, et les priorités de la chaine nationale d’approvisionnement en termes de produits de santé à rendre disponibles aux différents niveaux du système sanitaire national.</a:t>
            </a:r>
          </a:p>
          <a:p>
            <a:pPr marL="0" indent="0">
              <a:lnSpc>
                <a:spcPct val="150000"/>
              </a:lnSpc>
              <a:buNone/>
            </a:pPr>
            <a:endParaRPr lang="fr-FR" sz="2400" b="1" dirty="0" smtClean="0">
              <a:latin typeface="Arial" panose="020B0604020202020204" pitchFamily="34" charset="0"/>
              <a:cs typeface="Arial" panose="020B0604020202020204" pitchFamily="34" charset="0"/>
            </a:endParaRPr>
          </a:p>
          <a:p>
            <a:pPr marL="0" indent="0">
              <a:lnSpc>
                <a:spcPct val="150000"/>
              </a:lnSpc>
              <a:buNone/>
            </a:pPr>
            <a:endParaRPr lang="fr-FR" sz="20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332979"/>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30" y="2014194"/>
            <a:ext cx="11610536" cy="4843806"/>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FONDEMENTS</a:t>
            </a:r>
          </a:p>
          <a:p>
            <a:pPr marL="0" indent="0">
              <a:buNone/>
            </a:pPr>
            <a:r>
              <a:rPr lang="fr-FR" sz="2600" b="1" dirty="0" smtClean="0">
                <a:latin typeface="Arial" panose="020B0604020202020204" pitchFamily="34" charset="0"/>
                <a:cs typeface="Arial" panose="020B0604020202020204" pitchFamily="34" charset="0"/>
              </a:rPr>
              <a:t>La Prescription </a:t>
            </a:r>
            <a:r>
              <a:rPr lang="fr-FR" sz="2600" b="1" dirty="0">
                <a:latin typeface="Arial" panose="020B0604020202020204" pitchFamily="34" charset="0"/>
                <a:cs typeface="Arial" panose="020B0604020202020204" pitchFamily="34" charset="0"/>
              </a:rPr>
              <a:t>en Dénomination Commune Internationale (en abrégé DCI) :</a:t>
            </a:r>
          </a:p>
          <a:p>
            <a:pPr>
              <a:lnSpc>
                <a:spcPct val="150000"/>
              </a:lnSpc>
            </a:pPr>
            <a:r>
              <a:rPr lang="fr-FR" sz="2400" dirty="0">
                <a:latin typeface="Arial" panose="020B0604020202020204" pitchFamily="34" charset="0"/>
                <a:cs typeface="Arial" panose="020B0604020202020204" pitchFamily="34" charset="0"/>
              </a:rPr>
              <a:t>La prescription des produits de santé en DCI </a:t>
            </a:r>
            <a:r>
              <a:rPr lang="fr-FR" sz="2400" b="1" dirty="0">
                <a:latin typeface="Arial" panose="020B0604020202020204" pitchFamily="34" charset="0"/>
                <a:cs typeface="Arial" panose="020B0604020202020204" pitchFamily="34" charset="0"/>
              </a:rPr>
              <a:t>constitue une option fondamentale de la politique nationale de santé,</a:t>
            </a:r>
            <a:r>
              <a:rPr lang="fr-FR" sz="2400" dirty="0">
                <a:latin typeface="Arial" panose="020B0604020202020204" pitchFamily="34" charset="0"/>
                <a:cs typeface="Arial" panose="020B0604020202020204" pitchFamily="34" charset="0"/>
              </a:rPr>
              <a:t> telle que rappelée dans la loi n°2019-677 du 23/07/2019 portant orientation de la politique de santé publique en Côte d'Ivoire (art. 20</a:t>
            </a:r>
            <a:r>
              <a:rPr lang="fr-FR" sz="2400" dirty="0" smtClean="0">
                <a:latin typeface="Arial" panose="020B0604020202020204" pitchFamily="34" charset="0"/>
                <a:cs typeface="Arial" panose="020B0604020202020204" pitchFamily="34" charset="0"/>
              </a:rPr>
              <a:t>).</a:t>
            </a:r>
          </a:p>
          <a:p>
            <a:pPr>
              <a:lnSpc>
                <a:spcPct val="150000"/>
              </a:lnSpc>
            </a:pPr>
            <a:endParaRPr lang="fr-FR" sz="2400" dirty="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endParaRPr lang="fr-FR" sz="2400" b="1" dirty="0">
              <a:latin typeface="Arial" panose="020B0604020202020204" pitchFamily="34" charset="0"/>
              <a:cs typeface="Arial" panose="020B0604020202020204" pitchFamily="34" charset="0"/>
            </a:endParaRPr>
          </a:p>
          <a:p>
            <a:pPr marL="0" indent="0">
              <a:lnSpc>
                <a:spcPct val="150000"/>
              </a:lnSpc>
              <a:buNone/>
            </a:pPr>
            <a:endParaRPr lang="fr-FR" sz="2400" b="1" dirty="0" smtClean="0">
              <a:latin typeface="Arial" panose="020B0604020202020204" pitchFamily="34" charset="0"/>
              <a:cs typeface="Arial" panose="020B0604020202020204" pitchFamily="34" charset="0"/>
            </a:endParaRPr>
          </a:p>
          <a:p>
            <a:pPr marL="0" indent="0">
              <a:lnSpc>
                <a:spcPct val="150000"/>
              </a:lnSpc>
              <a:buNone/>
            </a:pPr>
            <a:endParaRPr lang="fr-FR" sz="20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6449562"/>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30" y="2014194"/>
            <a:ext cx="11610536" cy="4843806"/>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FONDEMENTS</a:t>
            </a:r>
          </a:p>
          <a:p>
            <a:pPr marL="0" indent="0">
              <a:buNone/>
            </a:pPr>
            <a:r>
              <a:rPr lang="fr-FR" sz="2600" b="1" dirty="0" smtClean="0">
                <a:latin typeface="Arial" panose="020B0604020202020204" pitchFamily="34" charset="0"/>
                <a:cs typeface="Arial" panose="020B0604020202020204" pitchFamily="34" charset="0"/>
              </a:rPr>
              <a:t>La Prescription </a:t>
            </a:r>
            <a:r>
              <a:rPr lang="fr-FR" sz="2600" b="1" dirty="0">
                <a:latin typeface="Arial" panose="020B0604020202020204" pitchFamily="34" charset="0"/>
                <a:cs typeface="Arial" panose="020B0604020202020204" pitchFamily="34" charset="0"/>
              </a:rPr>
              <a:t>en Dénomination Commune Internationale (en abrégé DCI) :</a:t>
            </a:r>
          </a:p>
          <a:p>
            <a:pPr>
              <a:lnSpc>
                <a:spcPct val="150000"/>
              </a:lnSpc>
            </a:pPr>
            <a:endParaRPr lang="fr-FR" sz="2400" dirty="0">
              <a:latin typeface="Arial" panose="020B0604020202020204" pitchFamily="34" charset="0"/>
              <a:cs typeface="Arial" panose="020B0604020202020204" pitchFamily="34" charset="0"/>
            </a:endParaRPr>
          </a:p>
          <a:p>
            <a:pPr>
              <a:lnSpc>
                <a:spcPct val="150000"/>
              </a:lnSpc>
            </a:pPr>
            <a:r>
              <a:rPr lang="fr-FR" sz="2400" dirty="0">
                <a:latin typeface="Arial" panose="020B0604020202020204" pitchFamily="34" charset="0"/>
                <a:cs typeface="Arial" panose="020B0604020202020204" pitchFamily="34" charset="0"/>
              </a:rPr>
              <a:t>Elle constitue un élément de renforcement de la disponibilité des produits de santé, et une garantie de sécurité de leur usage par les professionnels de santé et les patients.</a:t>
            </a:r>
          </a:p>
          <a:p>
            <a:pPr>
              <a:lnSpc>
                <a:spcPct val="150000"/>
              </a:lnSpc>
              <a:buFont typeface="Wingdings" panose="05000000000000000000" pitchFamily="2" charset="2"/>
              <a:buChar char="Ø"/>
            </a:pPr>
            <a:endParaRPr lang="fr-FR" sz="2400" b="1"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endParaRPr lang="fr-FR" sz="2400" b="1" dirty="0">
              <a:latin typeface="Arial" panose="020B0604020202020204" pitchFamily="34" charset="0"/>
              <a:cs typeface="Arial" panose="020B0604020202020204" pitchFamily="34" charset="0"/>
            </a:endParaRPr>
          </a:p>
          <a:p>
            <a:pPr marL="0" indent="0">
              <a:lnSpc>
                <a:spcPct val="150000"/>
              </a:lnSpc>
              <a:buNone/>
            </a:pPr>
            <a:endParaRPr lang="fr-FR" sz="2400" b="1" dirty="0" smtClean="0">
              <a:latin typeface="Arial" panose="020B0604020202020204" pitchFamily="34" charset="0"/>
              <a:cs typeface="Arial" panose="020B0604020202020204" pitchFamily="34" charset="0"/>
            </a:endParaRPr>
          </a:p>
          <a:p>
            <a:pPr marL="0" indent="0">
              <a:lnSpc>
                <a:spcPct val="150000"/>
              </a:lnSpc>
              <a:buNone/>
            </a:pPr>
            <a:endParaRPr lang="fr-FR" sz="20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8660439"/>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941342"/>
            <a:ext cx="11680873" cy="4916658"/>
          </a:xfrm>
        </p:spPr>
        <p:txBody>
          <a:bodyPr>
            <a:normAutofit lnSpcReduction="10000"/>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PRINCIPES ET VALEURS DE LA PPN</a:t>
            </a:r>
          </a:p>
          <a:p>
            <a:pPr marL="0" indent="0">
              <a:lnSpc>
                <a:spcPct val="150000"/>
              </a:lnSpc>
              <a:buNone/>
            </a:pPr>
            <a:r>
              <a:rPr lang="fr-FR" sz="2400" b="1" i="1" dirty="0" smtClean="0">
                <a:latin typeface="Arial" panose="020B0604020202020204" pitchFamily="34" charset="0"/>
                <a:cs typeface="Arial" panose="020B0604020202020204" pitchFamily="34" charset="0"/>
              </a:rPr>
              <a:t>1) Bonne </a:t>
            </a:r>
            <a:r>
              <a:rPr lang="fr-FR" sz="2400" b="1" i="1" dirty="0">
                <a:latin typeface="Arial" panose="020B0604020202020204" pitchFamily="34" charset="0"/>
                <a:cs typeface="Arial" panose="020B0604020202020204" pitchFamily="34" charset="0"/>
              </a:rPr>
              <a:t>gouvernance et leadership </a:t>
            </a:r>
            <a:r>
              <a:rPr lang="fr-FR" sz="2400" b="1" i="1" dirty="0" smtClean="0">
                <a:latin typeface="Arial" panose="020B0604020202020204" pitchFamily="34" charset="0"/>
                <a:cs typeface="Arial" panose="020B0604020202020204" pitchFamily="34" charset="0"/>
              </a:rPr>
              <a:t>fort</a:t>
            </a:r>
          </a:p>
          <a:p>
            <a:pPr>
              <a:lnSpc>
                <a:spcPct val="150000"/>
              </a:lnSpc>
              <a:buFont typeface="Wingdings" panose="05000000000000000000" pitchFamily="2" charset="2"/>
              <a:buChar char="§"/>
            </a:pPr>
            <a:r>
              <a:rPr lang="fr-FR" sz="2400" dirty="0" smtClean="0">
                <a:latin typeface="Arial" panose="020B0604020202020204" pitchFamily="34" charset="0"/>
                <a:cs typeface="Arial" panose="020B0604020202020204" pitchFamily="34" charset="0"/>
              </a:rPr>
              <a:t>La mise en œuvre de la politique pharmaceutique est placée sous le </a:t>
            </a:r>
            <a:r>
              <a:rPr lang="fr-FR" sz="2400" b="1" dirty="0" smtClean="0">
                <a:latin typeface="Arial" panose="020B0604020202020204" pitchFamily="34" charset="0"/>
                <a:cs typeface="Arial" panose="020B0604020202020204" pitchFamily="34" charset="0"/>
              </a:rPr>
              <a:t>leadership fort du Gouvernement en général et de la Primature en particulier</a:t>
            </a:r>
          </a:p>
          <a:p>
            <a:pPr>
              <a:lnSpc>
                <a:spcPct val="150000"/>
              </a:lnSpc>
              <a:buFont typeface="Wingdings" panose="05000000000000000000" pitchFamily="2" charset="2"/>
              <a:buChar char="§"/>
            </a:pPr>
            <a:endParaRPr lang="fr-FR" sz="2400" b="1" i="1"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
            </a:pPr>
            <a:r>
              <a:rPr lang="fr-FR" sz="2400" dirty="0">
                <a:latin typeface="Arial" panose="020B0604020202020204" pitchFamily="34" charset="0"/>
                <a:cs typeface="Arial" panose="020B0604020202020204" pitchFamily="34" charset="0"/>
              </a:rPr>
              <a:t>La Politique Pharmaceutique Nationale devra également confirmer et affirmer le </a:t>
            </a:r>
            <a:r>
              <a:rPr lang="fr-FR" sz="2400" b="1" dirty="0">
                <a:latin typeface="Arial" panose="020B0604020202020204" pitchFamily="34" charset="0"/>
                <a:cs typeface="Arial" panose="020B0604020202020204" pitchFamily="34" charset="0"/>
              </a:rPr>
              <a:t>leadership de la Côte d’Ivoire au niveau régional </a:t>
            </a:r>
            <a:r>
              <a:rPr lang="fr-FR" sz="2400" dirty="0">
                <a:latin typeface="Arial" panose="020B0604020202020204" pitchFamily="34" charset="0"/>
                <a:cs typeface="Arial" panose="020B0604020202020204" pitchFamily="34" charset="0"/>
              </a:rPr>
              <a:t>(UEMOA/CEDEAO) et continental (UA), dans le domaine pharmaceutique</a:t>
            </a:r>
            <a:endParaRPr lang="fr-FR" sz="2400" b="1" dirty="0">
              <a:latin typeface="Arial" panose="020B0604020202020204" pitchFamily="34" charset="0"/>
              <a:cs typeface="Arial" panose="020B0604020202020204" pitchFamily="34" charset="0"/>
            </a:endParaRPr>
          </a:p>
          <a:p>
            <a:pPr marL="0" indent="0">
              <a:lnSpc>
                <a:spcPct val="150000"/>
              </a:lnSpc>
              <a:buNone/>
            </a:pPr>
            <a:endParaRPr lang="fr-FR" sz="2400" b="1" dirty="0" smtClean="0">
              <a:latin typeface="Arial" panose="020B0604020202020204" pitchFamily="34" charset="0"/>
              <a:cs typeface="Arial" panose="020B0604020202020204" pitchFamily="34" charset="0"/>
            </a:endParaRPr>
          </a:p>
          <a:p>
            <a:pPr marL="0" indent="0">
              <a:lnSpc>
                <a:spcPct val="150000"/>
              </a:lnSpc>
              <a:buNone/>
            </a:pPr>
            <a:endParaRPr lang="fr-FR" sz="20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9526949"/>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941342"/>
            <a:ext cx="11680873" cy="4916658"/>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PRINCIPES ET VALEURS DE LA PPN</a:t>
            </a:r>
          </a:p>
          <a:p>
            <a:pPr marL="0" indent="0">
              <a:lnSpc>
                <a:spcPct val="150000"/>
              </a:lnSpc>
              <a:buNone/>
            </a:pPr>
            <a:r>
              <a:rPr lang="fr-FR" sz="2400" b="1" i="1" dirty="0">
                <a:latin typeface="Arial" panose="020B0604020202020204" pitchFamily="34" charset="0"/>
                <a:cs typeface="Arial" panose="020B0604020202020204" pitchFamily="34" charset="0"/>
              </a:rPr>
              <a:t>1) </a:t>
            </a:r>
            <a:r>
              <a:rPr lang="fr-FR" sz="2400" b="1" i="1" dirty="0" smtClean="0">
                <a:latin typeface="Arial" panose="020B0604020202020204" pitchFamily="34" charset="0"/>
                <a:cs typeface="Arial" panose="020B0604020202020204" pitchFamily="34" charset="0"/>
              </a:rPr>
              <a:t>Bonne </a:t>
            </a:r>
            <a:r>
              <a:rPr lang="fr-FR" sz="2400" b="1" i="1" dirty="0">
                <a:latin typeface="Arial" panose="020B0604020202020204" pitchFamily="34" charset="0"/>
                <a:cs typeface="Arial" panose="020B0604020202020204" pitchFamily="34" charset="0"/>
              </a:rPr>
              <a:t>gouvernance et leadership </a:t>
            </a:r>
            <a:r>
              <a:rPr lang="fr-FR" sz="2400" b="1" i="1" dirty="0" smtClean="0">
                <a:latin typeface="Arial" panose="020B0604020202020204" pitchFamily="34" charset="0"/>
                <a:cs typeface="Arial" panose="020B0604020202020204" pitchFamily="34" charset="0"/>
              </a:rPr>
              <a:t>fort</a:t>
            </a:r>
          </a:p>
          <a:p>
            <a:pPr marL="0" indent="0">
              <a:lnSpc>
                <a:spcPct val="150000"/>
              </a:lnSpc>
              <a:buNone/>
            </a:pPr>
            <a:r>
              <a:rPr lang="fr-FR" sz="2400" dirty="0">
                <a:latin typeface="Arial" panose="020B0604020202020204" pitchFamily="34" charset="0"/>
                <a:cs typeface="Arial" panose="020B0604020202020204" pitchFamily="34" charset="0"/>
              </a:rPr>
              <a:t>Une meilleure gouvernance du secteur pharmaceutique se traduit par </a:t>
            </a:r>
            <a:r>
              <a:rPr lang="fr-FR" sz="2400" b="1" dirty="0">
                <a:latin typeface="Arial" panose="020B0604020202020204" pitchFamily="34" charset="0"/>
                <a:cs typeface="Arial" panose="020B0604020202020204" pitchFamily="34" charset="0"/>
              </a:rPr>
              <a:t>la rigueur et la transparence dans la gestion et un contrôle permanent à tous les niveaux de la pyramide sanitaire. </a:t>
            </a:r>
            <a:endParaRPr lang="fr-FR" sz="2400" b="1" dirty="0" smtClean="0">
              <a:latin typeface="Arial" panose="020B0604020202020204" pitchFamily="34" charset="0"/>
              <a:cs typeface="Arial" panose="020B0604020202020204" pitchFamily="34" charset="0"/>
            </a:endParaRPr>
          </a:p>
          <a:p>
            <a:pPr marL="0" indent="0">
              <a:lnSpc>
                <a:spcPct val="150000"/>
              </a:lnSpc>
              <a:buNone/>
            </a:pPr>
            <a:endParaRPr lang="fr-FR" sz="24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2936918"/>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941342"/>
            <a:ext cx="11680873" cy="4916658"/>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PRINCIPES ET VALEURS DE LA PPN</a:t>
            </a:r>
          </a:p>
          <a:p>
            <a:pPr marL="0" indent="0">
              <a:lnSpc>
                <a:spcPct val="150000"/>
              </a:lnSpc>
              <a:buNone/>
            </a:pPr>
            <a:r>
              <a:rPr lang="fr-FR" sz="2400" b="1" i="1" dirty="0" smtClean="0">
                <a:latin typeface="Arial" panose="020B0604020202020204" pitchFamily="34" charset="0"/>
                <a:cs typeface="Arial" panose="020B0604020202020204" pitchFamily="34" charset="0"/>
              </a:rPr>
              <a:t>2) Processus </a:t>
            </a:r>
            <a:r>
              <a:rPr lang="fr-FR" sz="2400" b="1" i="1" dirty="0">
                <a:latin typeface="Arial" panose="020B0604020202020204" pitchFamily="34" charset="0"/>
                <a:cs typeface="Arial" panose="020B0604020202020204" pitchFamily="34" charset="0"/>
              </a:rPr>
              <a:t>inclusif et </a:t>
            </a:r>
            <a:r>
              <a:rPr lang="fr-FR" sz="2400" b="1" i="1" dirty="0" smtClean="0">
                <a:latin typeface="Arial" panose="020B0604020202020204" pitchFamily="34" charset="0"/>
                <a:cs typeface="Arial" panose="020B0604020202020204" pitchFamily="34" charset="0"/>
              </a:rPr>
              <a:t>participatif</a:t>
            </a:r>
          </a:p>
          <a:p>
            <a:pPr marL="0" indent="0">
              <a:lnSpc>
                <a:spcPct val="150000"/>
              </a:lnSpc>
              <a:buNone/>
            </a:pPr>
            <a:r>
              <a:rPr lang="fr-FR" sz="2400" dirty="0">
                <a:latin typeface="Arial" panose="020B0604020202020204" pitchFamily="34" charset="0"/>
                <a:cs typeface="Arial" panose="020B0604020202020204" pitchFamily="34" charset="0"/>
              </a:rPr>
              <a:t>L’élaboration </a:t>
            </a:r>
            <a:r>
              <a:rPr lang="fr-FR" sz="2400" b="1" dirty="0">
                <a:latin typeface="Arial" panose="020B0604020202020204" pitchFamily="34" charset="0"/>
                <a:cs typeface="Arial" panose="020B0604020202020204" pitchFamily="34" charset="0"/>
              </a:rPr>
              <a:t>du document de Politique Pharmaceutique Nationale </a:t>
            </a:r>
            <a:r>
              <a:rPr lang="fr-FR" sz="2400" dirty="0">
                <a:latin typeface="Arial" panose="020B0604020202020204" pitchFamily="34" charset="0"/>
                <a:cs typeface="Arial" panose="020B0604020202020204" pitchFamily="34" charset="0"/>
              </a:rPr>
              <a:t>a associé l’ensemble des </a:t>
            </a:r>
            <a:r>
              <a:rPr lang="fr-FR" sz="2400" b="1" dirty="0">
                <a:latin typeface="Arial" panose="020B0604020202020204" pitchFamily="34" charset="0"/>
                <a:cs typeface="Arial" panose="020B0604020202020204" pitchFamily="34" charset="0"/>
              </a:rPr>
              <a:t>acteurs et des bénéficiaires </a:t>
            </a:r>
            <a:r>
              <a:rPr lang="fr-FR" sz="2400" dirty="0">
                <a:latin typeface="Arial" panose="020B0604020202020204" pitchFamily="34" charset="0"/>
                <a:cs typeface="Arial" panose="020B0604020202020204" pitchFamily="34" charset="0"/>
              </a:rPr>
              <a:t>du secteur sanitaire public, privé, parapublic. </a:t>
            </a:r>
            <a:endParaRPr lang="fr-FR" sz="2400" dirty="0" smtClean="0">
              <a:latin typeface="Arial" panose="020B0604020202020204" pitchFamily="34" charset="0"/>
              <a:cs typeface="Arial" panose="020B0604020202020204" pitchFamily="34" charset="0"/>
            </a:endParaRPr>
          </a:p>
          <a:p>
            <a:pPr marL="0" indent="0">
              <a:lnSpc>
                <a:spcPct val="150000"/>
              </a:lnSpc>
              <a:buNone/>
            </a:pPr>
            <a:r>
              <a:rPr lang="fr-FR" sz="2400" dirty="0" smtClean="0">
                <a:latin typeface="Arial" panose="020B0604020202020204" pitchFamily="34" charset="0"/>
                <a:cs typeface="Arial" panose="020B0604020202020204" pitchFamily="34" charset="0"/>
              </a:rPr>
              <a:t>Ce </a:t>
            </a:r>
            <a:r>
              <a:rPr lang="fr-FR" sz="2400" dirty="0">
                <a:latin typeface="Arial" panose="020B0604020202020204" pitchFamily="34" charset="0"/>
                <a:cs typeface="Arial" panose="020B0604020202020204" pitchFamily="34" charset="0"/>
              </a:rPr>
              <a:t>processus a permis l’intégration des attentes, des contraintes et des ambitions des parties-prenantes clés du secteur pharmaceutique</a:t>
            </a:r>
            <a:endParaRPr lang="fr-FR" sz="2400" b="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2512264"/>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PRINCIPES ET VALEURS DE LA PPN</a:t>
            </a:r>
          </a:p>
          <a:p>
            <a:pPr marL="457200" indent="-457200">
              <a:lnSpc>
                <a:spcPct val="150000"/>
              </a:lnSpc>
              <a:buAutoNum type="arabicParenR" startAt="3"/>
            </a:pPr>
            <a:r>
              <a:rPr lang="fr-FR" sz="2400" b="1" i="1" dirty="0" smtClean="0">
                <a:latin typeface="Arial" panose="020B0604020202020204" pitchFamily="34" charset="0"/>
                <a:cs typeface="Arial" panose="020B0604020202020204" pitchFamily="34" charset="0"/>
              </a:rPr>
              <a:t>REDEVABILITE</a:t>
            </a:r>
          </a:p>
          <a:p>
            <a:pPr>
              <a:lnSpc>
                <a:spcPct val="150000"/>
              </a:lnSpc>
              <a:buFont typeface="Wingdings" panose="05000000000000000000" pitchFamily="2" charset="2"/>
              <a:buChar char="Ø"/>
            </a:pPr>
            <a:r>
              <a:rPr lang="fr-FR" sz="2400" dirty="0">
                <a:latin typeface="Arial" panose="020B0604020202020204" pitchFamily="34" charset="0"/>
                <a:cs typeface="Arial" panose="020B0604020202020204" pitchFamily="34" charset="0"/>
              </a:rPr>
              <a:t>Le secteur pharmaceutique est astreint </a:t>
            </a:r>
            <a:r>
              <a:rPr lang="fr-FR" sz="2400" b="1" dirty="0">
                <a:latin typeface="Arial" panose="020B0604020202020204" pitchFamily="34" charset="0"/>
                <a:cs typeface="Arial" panose="020B0604020202020204" pitchFamily="34" charset="0"/>
              </a:rPr>
              <a:t>au principe de redevabilité vis-à-vis de l’Etat en ses institutions et en sa population</a:t>
            </a:r>
            <a:r>
              <a:rPr lang="fr-FR" sz="2400" b="1" dirty="0" smtClean="0">
                <a:latin typeface="Arial" panose="020B0604020202020204" pitchFamily="34" charset="0"/>
                <a:cs typeface="Arial" panose="020B0604020202020204" pitchFamily="34" charset="0"/>
              </a:rPr>
              <a:t>.</a:t>
            </a:r>
          </a:p>
          <a:p>
            <a:pPr>
              <a:lnSpc>
                <a:spcPct val="150000"/>
              </a:lnSpc>
              <a:buFont typeface="Wingdings" panose="05000000000000000000" pitchFamily="2" charset="2"/>
              <a:buChar char="Ø"/>
            </a:pPr>
            <a:endParaRPr lang="fr-FR" sz="2400" b="1"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fr-FR" sz="2400" b="1" dirty="0" smtClean="0">
                <a:latin typeface="Arial" panose="020B0604020202020204" pitchFamily="34" charset="0"/>
                <a:cs typeface="Arial" panose="020B0604020202020204" pitchFamily="34" charset="0"/>
              </a:rPr>
              <a:t> </a:t>
            </a:r>
            <a:r>
              <a:rPr lang="fr-FR" sz="2400" dirty="0" smtClean="0">
                <a:latin typeface="Arial" panose="020B0604020202020204" pitchFamily="34" charset="0"/>
                <a:cs typeface="Arial" panose="020B0604020202020204" pitchFamily="34" charset="0"/>
              </a:rPr>
              <a:t>le </a:t>
            </a:r>
            <a:r>
              <a:rPr lang="fr-FR" sz="2400" dirty="0">
                <a:latin typeface="Arial" panose="020B0604020202020204" pitchFamily="34" charset="0"/>
                <a:cs typeface="Arial" panose="020B0604020202020204" pitchFamily="34" charset="0"/>
              </a:rPr>
              <a:t>monopole pharmaceutique conféré par la loi </a:t>
            </a:r>
            <a:r>
              <a:rPr lang="fr-FR" sz="2400" b="1" dirty="0">
                <a:latin typeface="Arial" panose="020B0604020202020204" pitchFamily="34" charset="0"/>
                <a:cs typeface="Arial" panose="020B0604020202020204" pitchFamily="34" charset="0"/>
              </a:rPr>
              <a:t>induit la responsabilité des acteurs du secteur pharmaceutique à réaliser les objectifs assignés audit secteur par l’État</a:t>
            </a:r>
            <a:r>
              <a:rPr lang="fr-FR" sz="2400" dirty="0">
                <a:latin typeface="Arial" panose="020B0604020202020204" pitchFamily="34" charset="0"/>
                <a:cs typeface="Arial" panose="020B0604020202020204" pitchFamily="34" charset="0"/>
              </a:rPr>
              <a:t>, et son engagement à rendre compte.</a:t>
            </a:r>
            <a:endParaRPr lang="fr-FR" sz="2400" b="1" i="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11539056"/>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PRINCIPES ET VALEURS DE LA PPN</a:t>
            </a:r>
          </a:p>
          <a:p>
            <a:pPr marL="0" indent="0" algn="ctr">
              <a:lnSpc>
                <a:spcPct val="150000"/>
              </a:lnSpc>
              <a:buNone/>
            </a:pPr>
            <a:endParaRPr lang="fr-FR" sz="2600" b="1" dirty="0" smtClean="0">
              <a:latin typeface="Arial" panose="020B0604020202020204" pitchFamily="34" charset="0"/>
              <a:cs typeface="Arial" panose="020B0604020202020204" pitchFamily="34" charset="0"/>
            </a:endParaRPr>
          </a:p>
          <a:p>
            <a:pPr marL="457200" indent="-457200">
              <a:lnSpc>
                <a:spcPct val="150000"/>
              </a:lnSpc>
              <a:buAutoNum type="arabicParenR" startAt="3"/>
            </a:pPr>
            <a:r>
              <a:rPr lang="fr-FR" sz="2400" b="1" i="1" dirty="0" smtClean="0">
                <a:latin typeface="Arial" panose="020B0604020202020204" pitchFamily="34" charset="0"/>
                <a:cs typeface="Arial" panose="020B0604020202020204" pitchFamily="34" charset="0"/>
              </a:rPr>
              <a:t>REDEVABILITE</a:t>
            </a:r>
          </a:p>
          <a:p>
            <a:pPr marL="457200" indent="-457200">
              <a:lnSpc>
                <a:spcPct val="150000"/>
              </a:lnSpc>
              <a:buAutoNum type="arabicParenR" startAt="3"/>
            </a:pPr>
            <a:endParaRPr lang="fr-FR" sz="2400" b="1" i="1"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Rendre </a:t>
            </a:r>
            <a:r>
              <a:rPr lang="fr-FR" sz="2400" dirty="0">
                <a:latin typeface="Arial" panose="020B0604020202020204" pitchFamily="34" charset="0"/>
                <a:cs typeface="Arial" panose="020B0604020202020204" pitchFamily="34" charset="0"/>
              </a:rPr>
              <a:t>compte tant des </a:t>
            </a:r>
            <a:r>
              <a:rPr lang="fr-FR" sz="2400" b="1" dirty="0">
                <a:latin typeface="Arial" panose="020B0604020202020204" pitchFamily="34" charset="0"/>
                <a:cs typeface="Arial" panose="020B0604020202020204" pitchFamily="34" charset="0"/>
              </a:rPr>
              <a:t>résultats obtenus</a:t>
            </a:r>
            <a:r>
              <a:rPr lang="fr-FR" sz="2400" dirty="0">
                <a:latin typeface="Arial" panose="020B0604020202020204" pitchFamily="34" charset="0"/>
                <a:cs typeface="Arial" panose="020B0604020202020204" pitchFamily="34" charset="0"/>
              </a:rPr>
              <a:t>, que de </a:t>
            </a:r>
            <a:r>
              <a:rPr lang="fr-FR" sz="2400" b="1" dirty="0">
                <a:latin typeface="Arial" panose="020B0604020202020204" pitchFamily="34" charset="0"/>
                <a:cs typeface="Arial" panose="020B0604020202020204" pitchFamily="34" charset="0"/>
              </a:rPr>
              <a:t>l’utilisation des </a:t>
            </a:r>
            <a:r>
              <a:rPr lang="fr-FR" sz="2400" b="1" dirty="0" smtClean="0">
                <a:latin typeface="Arial" panose="020B0604020202020204" pitchFamily="34" charset="0"/>
                <a:cs typeface="Arial" panose="020B0604020202020204" pitchFamily="34" charset="0"/>
              </a:rPr>
              <a:t>moyen</a:t>
            </a:r>
            <a:endParaRPr lang="fr-FR" sz="2400" b="1" i="1" dirty="0" smtClean="0">
              <a:latin typeface="Arial" panose="020B0604020202020204" pitchFamily="34" charset="0"/>
              <a:cs typeface="Arial" panose="020B0604020202020204" pitchFamily="34" charset="0"/>
            </a:endParaRPr>
          </a:p>
          <a:p>
            <a:pPr marL="0" indent="0">
              <a:lnSpc>
                <a:spcPct val="150000"/>
              </a:lnSpc>
              <a:buNone/>
            </a:pPr>
            <a:endParaRPr lang="fr-FR" sz="2400" b="1"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7827849"/>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PRINCIPES ET VALEURS DE LA PPN</a:t>
            </a:r>
            <a:endParaRPr lang="fr-FR" sz="2400" b="1" dirty="0" smtClean="0">
              <a:latin typeface="Arial" panose="020B0604020202020204" pitchFamily="34" charset="0"/>
              <a:cs typeface="Arial" panose="020B0604020202020204" pitchFamily="34" charset="0"/>
            </a:endParaRPr>
          </a:p>
          <a:p>
            <a:pPr marL="0" indent="0">
              <a:lnSpc>
                <a:spcPct val="150000"/>
              </a:lnSpc>
              <a:buNone/>
            </a:pPr>
            <a:r>
              <a:rPr lang="fr-FR" sz="2400" b="1" i="1" dirty="0" smtClean="0">
                <a:latin typeface="Arial" panose="020B0604020202020204" pitchFamily="34" charset="0"/>
                <a:cs typeface="Arial" panose="020B0604020202020204" pitchFamily="34" charset="0"/>
              </a:rPr>
              <a:t>4) </a:t>
            </a:r>
            <a:r>
              <a:rPr lang="fr-FR" sz="2000" b="1" i="1" dirty="0" smtClean="0">
                <a:latin typeface="Arial" panose="020B0604020202020204" pitchFamily="34" charset="0"/>
                <a:cs typeface="Arial" panose="020B0604020202020204" pitchFamily="34" charset="0"/>
              </a:rPr>
              <a:t>ÉQUITÉ ET RESPECT DES DROITS HUMAINS ET ENVIRONNEMENTAUX</a:t>
            </a:r>
          </a:p>
          <a:p>
            <a:pPr marL="0" indent="0">
              <a:lnSpc>
                <a:spcPct val="150000"/>
              </a:lnSpc>
              <a:buNone/>
            </a:pPr>
            <a:endParaRPr lang="fr-FR" sz="2000" b="1" i="1" dirty="0" smtClean="0">
              <a:latin typeface="Arial" panose="020B0604020202020204" pitchFamily="34" charset="0"/>
              <a:cs typeface="Arial" panose="020B0604020202020204" pitchFamily="34" charset="0"/>
            </a:endParaRPr>
          </a:p>
          <a:p>
            <a:pPr>
              <a:lnSpc>
                <a:spcPct val="200000"/>
              </a:lnSpc>
              <a:buFont typeface="Wingdings" panose="05000000000000000000" pitchFamily="2" charset="2"/>
              <a:buChar char="Ø"/>
            </a:pPr>
            <a:r>
              <a:rPr lang="fr-FR" sz="2400" dirty="0">
                <a:latin typeface="Arial" panose="020B0604020202020204" pitchFamily="34" charset="0"/>
                <a:cs typeface="Arial" panose="020B0604020202020204" pitchFamily="34" charset="0"/>
              </a:rPr>
              <a:t>la Politique Pharmaceutique Nationale concourt à satisfaire les droits fondamentaux reconnus à la population. Il s’agit notamment </a:t>
            </a:r>
            <a:r>
              <a:rPr lang="fr-FR" sz="2400" b="1" dirty="0">
                <a:latin typeface="Arial" panose="020B0604020202020204" pitchFamily="34" charset="0"/>
                <a:cs typeface="Arial" panose="020B0604020202020204" pitchFamily="34" charset="0"/>
              </a:rPr>
              <a:t>du droit à la vie, à la santé, à un environnement sain, à l’information et à la liberté d’expression. </a:t>
            </a:r>
            <a:r>
              <a:rPr lang="fr-FR" sz="2400" dirty="0">
                <a:latin typeface="Arial" panose="020B0604020202020204" pitchFamily="34" charset="0"/>
                <a:cs typeface="Arial" panose="020B0604020202020204" pitchFamily="34" charset="0"/>
              </a:rPr>
              <a:t>Elle s’aligne sur le principe de « </a:t>
            </a:r>
            <a:r>
              <a:rPr lang="fr-FR" sz="2400" b="1" dirty="0">
                <a:latin typeface="Arial" panose="020B0604020202020204" pitchFamily="34" charset="0"/>
                <a:cs typeface="Arial" panose="020B0604020202020204" pitchFamily="34" charset="0"/>
              </a:rPr>
              <a:t>ne laisser personne pour compte ».</a:t>
            </a:r>
          </a:p>
          <a:p>
            <a:pPr marL="0" indent="0">
              <a:lnSpc>
                <a:spcPct val="150000"/>
              </a:lnSpc>
              <a:buNone/>
            </a:pPr>
            <a:endParaRPr lang="fr-FR" sz="2400" b="1"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8781886"/>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PRINCIPES ET VALEURS DE LA PPN</a:t>
            </a:r>
            <a:endParaRPr lang="fr-FR" sz="2400" b="1" dirty="0" smtClean="0">
              <a:latin typeface="Arial" panose="020B0604020202020204" pitchFamily="34" charset="0"/>
              <a:cs typeface="Arial" panose="020B0604020202020204" pitchFamily="34" charset="0"/>
            </a:endParaRPr>
          </a:p>
          <a:p>
            <a:pPr marL="0" indent="0">
              <a:lnSpc>
                <a:spcPct val="150000"/>
              </a:lnSpc>
              <a:buNone/>
            </a:pPr>
            <a:r>
              <a:rPr lang="fr-FR" sz="2400" b="1" i="1" dirty="0" smtClean="0">
                <a:latin typeface="Arial" panose="020B0604020202020204" pitchFamily="34" charset="0"/>
                <a:cs typeface="Arial" panose="020B0604020202020204" pitchFamily="34" charset="0"/>
              </a:rPr>
              <a:t>4) </a:t>
            </a:r>
            <a:r>
              <a:rPr lang="fr-FR" sz="2000" b="1" i="1" dirty="0" smtClean="0">
                <a:latin typeface="Arial" panose="020B0604020202020204" pitchFamily="34" charset="0"/>
                <a:cs typeface="Arial" panose="020B0604020202020204" pitchFamily="34" charset="0"/>
              </a:rPr>
              <a:t>ÉQUITÉ ET RESPECT DES DROITS HUMAINS ET ENVIRONNEMENTAUX</a:t>
            </a:r>
          </a:p>
          <a:p>
            <a:pPr marL="0" indent="0">
              <a:lnSpc>
                <a:spcPct val="150000"/>
              </a:lnSpc>
              <a:buNone/>
            </a:pPr>
            <a:endParaRPr lang="fr-FR" sz="2000" b="1" i="1" dirty="0" smtClean="0">
              <a:latin typeface="Arial" panose="020B0604020202020204" pitchFamily="34" charset="0"/>
              <a:cs typeface="Arial" panose="020B0604020202020204" pitchFamily="34" charset="0"/>
            </a:endParaRPr>
          </a:p>
          <a:p>
            <a:pPr>
              <a:lnSpc>
                <a:spcPct val="200000"/>
              </a:lnSpc>
              <a:buFont typeface="Wingdings" panose="05000000000000000000" pitchFamily="2" charset="2"/>
              <a:buChar char="Ø"/>
            </a:pPr>
            <a:r>
              <a:rPr lang="fr-FR" sz="2400" dirty="0">
                <a:latin typeface="Arial" panose="020B0604020202020204" pitchFamily="34" charset="0"/>
                <a:cs typeface="Arial" panose="020B0604020202020204" pitchFamily="34" charset="0"/>
              </a:rPr>
              <a:t>Le renforcement du secteur pharmaceutique doit aussi intégrer </a:t>
            </a:r>
            <a:r>
              <a:rPr lang="fr-FR" sz="2400" b="1" dirty="0">
                <a:latin typeface="Arial" panose="020B0604020202020204" pitchFamily="34" charset="0"/>
                <a:cs typeface="Arial" panose="020B0604020202020204" pitchFamily="34" charset="0"/>
              </a:rPr>
              <a:t>la protection de </a:t>
            </a:r>
            <a:r>
              <a:rPr lang="fr-FR" sz="2400" b="1" dirty="0" smtClean="0">
                <a:latin typeface="Arial" panose="020B0604020202020204" pitchFamily="34" charset="0"/>
                <a:cs typeface="Arial" panose="020B0604020202020204" pitchFamily="34" charset="0"/>
              </a:rPr>
              <a:t>l'environnement </a:t>
            </a:r>
            <a:r>
              <a:rPr lang="fr-FR" sz="2400" dirty="0" smtClean="0">
                <a:latin typeface="Arial" panose="020B0604020202020204" pitchFamily="34" charset="0"/>
                <a:cs typeface="Arial" panose="020B0604020202020204" pitchFamily="34" charset="0"/>
              </a:rPr>
              <a:t>notamment </a:t>
            </a:r>
            <a:r>
              <a:rPr lang="fr-FR" sz="2400" dirty="0">
                <a:latin typeface="Arial" panose="020B0604020202020204" pitchFamily="34" charset="0"/>
                <a:cs typeface="Arial" panose="020B0604020202020204" pitchFamily="34" charset="0"/>
              </a:rPr>
              <a:t>dans un contexte d’industrialisation pharmaceutique.</a:t>
            </a:r>
          </a:p>
          <a:p>
            <a:pPr marL="0" indent="0">
              <a:lnSpc>
                <a:spcPct val="150000"/>
              </a:lnSpc>
              <a:buNone/>
            </a:pPr>
            <a:endParaRPr lang="fr-FR" sz="2000" b="1" i="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1034925"/>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OBJECTIF GENERAL  DE LA PPN</a:t>
            </a:r>
            <a:endParaRPr lang="fr-FR" sz="2400" b="1" dirty="0" smtClean="0">
              <a:latin typeface="Arial" panose="020B0604020202020204" pitchFamily="34" charset="0"/>
              <a:cs typeface="Arial" panose="020B0604020202020204" pitchFamily="34" charset="0"/>
            </a:endParaRPr>
          </a:p>
          <a:p>
            <a:pPr marL="0" indent="0">
              <a:lnSpc>
                <a:spcPct val="150000"/>
              </a:lnSpc>
              <a:buNone/>
            </a:pPr>
            <a:endParaRPr lang="fr-FR" sz="2400" dirty="0">
              <a:latin typeface="Arial" panose="020B0604020202020204" pitchFamily="34" charset="0"/>
              <a:cs typeface="Arial" panose="020B0604020202020204" pitchFamily="34" charset="0"/>
            </a:endParaRPr>
          </a:p>
          <a:p>
            <a:pPr>
              <a:lnSpc>
                <a:spcPct val="200000"/>
              </a:lnSpc>
              <a:buFont typeface="Wingdings" panose="05000000000000000000" pitchFamily="2" charset="2"/>
              <a:buChar char="q"/>
            </a:pPr>
            <a:r>
              <a:rPr lang="fr-FR" sz="2400" dirty="0" smtClean="0">
                <a:latin typeface="Arial" panose="020B0604020202020204" pitchFamily="34" charset="0"/>
                <a:cs typeface="Arial" panose="020B0604020202020204" pitchFamily="34" charset="0"/>
              </a:rPr>
              <a:t>améliorer </a:t>
            </a:r>
            <a:r>
              <a:rPr lang="fr-FR" sz="2400" dirty="0">
                <a:latin typeface="Arial" panose="020B0604020202020204" pitchFamily="34" charset="0"/>
                <a:cs typeface="Arial" panose="020B0604020202020204" pitchFamily="34" charset="0"/>
              </a:rPr>
              <a:t>la </a:t>
            </a:r>
            <a:r>
              <a:rPr lang="fr-FR" sz="2400" b="1" dirty="0">
                <a:latin typeface="Arial" panose="020B0604020202020204" pitchFamily="34" charset="0"/>
                <a:cs typeface="Arial" panose="020B0604020202020204" pitchFamily="34" charset="0"/>
              </a:rPr>
              <a:t>disponibilité, l’accessibilité géographique et financière </a:t>
            </a:r>
            <a:r>
              <a:rPr lang="fr-FR" sz="2400" dirty="0">
                <a:latin typeface="Arial" panose="020B0604020202020204" pitchFamily="34" charset="0"/>
                <a:cs typeface="Arial" panose="020B0604020202020204" pitchFamily="34" charset="0"/>
              </a:rPr>
              <a:t>des médicaments essentiels, vaccins et autres intrants stratégiques </a:t>
            </a:r>
            <a:r>
              <a:rPr lang="fr-FR" sz="2400" b="1" dirty="0">
                <a:latin typeface="Arial" panose="020B0604020202020204" pitchFamily="34" charset="0"/>
                <a:cs typeface="Arial" panose="020B0604020202020204" pitchFamily="34" charset="0"/>
              </a:rPr>
              <a:t>de qualité </a:t>
            </a:r>
            <a:r>
              <a:rPr lang="fr-FR" sz="2400" dirty="0">
                <a:latin typeface="Arial" panose="020B0604020202020204" pitchFamily="34" charset="0"/>
                <a:cs typeface="Arial" panose="020B0604020202020204" pitchFamily="34" charset="0"/>
              </a:rPr>
              <a:t>à l’ensemble de la population vivant en Côte d’Ivoire</a:t>
            </a:r>
            <a:endParaRPr lang="fr-FR" sz="2400" b="1" i="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0284566"/>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STRATEGIES ET OBJECTIFS SPECIFIQUES DE LA PPN</a:t>
            </a:r>
          </a:p>
          <a:p>
            <a:pPr marL="0" indent="0" algn="ctr">
              <a:lnSpc>
                <a:spcPct val="150000"/>
              </a:lnSpc>
              <a:buNone/>
            </a:pPr>
            <a:endParaRPr lang="fr-FR" sz="2400" b="1" dirty="0" smtClean="0">
              <a:latin typeface="Arial" panose="020B0604020202020204" pitchFamily="34" charset="0"/>
              <a:cs typeface="Arial" panose="020B0604020202020204" pitchFamily="34" charset="0"/>
            </a:endParaRPr>
          </a:p>
          <a:p>
            <a:pPr marL="457200" indent="-457200">
              <a:lnSpc>
                <a:spcPct val="150000"/>
              </a:lnSpc>
              <a:buFont typeface="+mj-lt"/>
              <a:buAutoNum type="arabicParenR"/>
            </a:pPr>
            <a:r>
              <a:rPr lang="fr-FR" sz="2400" b="1" dirty="0">
                <a:latin typeface="Arial" panose="020B0604020202020204" pitchFamily="34" charset="0"/>
                <a:cs typeface="Arial" panose="020B0604020202020204" pitchFamily="34" charset="0"/>
              </a:rPr>
              <a:t>: Assurer au secteur pharmaceutique un niveau de maturité en adéquation avec ses enjeux de santé publique et de </a:t>
            </a:r>
            <a:r>
              <a:rPr lang="fr-FR" sz="2400" b="1" dirty="0" smtClean="0">
                <a:latin typeface="Arial" panose="020B0604020202020204" pitchFamily="34" charset="0"/>
                <a:cs typeface="Arial" panose="020B0604020202020204" pitchFamily="34" charset="0"/>
              </a:rPr>
              <a:t>performances</a:t>
            </a:r>
          </a:p>
          <a:p>
            <a:pPr marL="457200" indent="-457200">
              <a:lnSpc>
                <a:spcPct val="150000"/>
              </a:lnSpc>
              <a:buFont typeface="+mj-lt"/>
              <a:buAutoNum type="arabicParenR"/>
            </a:pPr>
            <a:endParaRPr lang="fr-FR" sz="2400" b="1" dirty="0" smtClean="0">
              <a:latin typeface="Arial" panose="020B0604020202020204" pitchFamily="34" charset="0"/>
              <a:cs typeface="Arial" panose="020B0604020202020204" pitchFamily="34" charset="0"/>
            </a:endParaRPr>
          </a:p>
          <a:p>
            <a:pPr lvl="0">
              <a:lnSpc>
                <a:spcPct val="150000"/>
              </a:lnSpc>
            </a:pPr>
            <a:r>
              <a:rPr lang="fr-FR" sz="2400" dirty="0">
                <a:latin typeface="Arial" panose="020B0604020202020204" pitchFamily="34" charset="0"/>
                <a:cs typeface="Arial" panose="020B0604020202020204" pitchFamily="34" charset="0"/>
              </a:rPr>
              <a:t>L’amélioration de la gouvernance du secteur pharmaceutique basé sur l’établissement d’un leadership fort, la redevabilité, l’éthique et la déontologie pharmaceutique, ainsi que la compétence des animateurs du secteur ;</a:t>
            </a:r>
          </a:p>
          <a:p>
            <a:pPr marL="0" indent="0">
              <a:lnSpc>
                <a:spcPct val="150000"/>
              </a:lnSpc>
              <a:buNone/>
            </a:pPr>
            <a:endParaRPr lang="fr-FR"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1683610"/>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STRATEGIES ET OBJECTIFS SPECIFIQUES DE LA PPN</a:t>
            </a:r>
          </a:p>
          <a:p>
            <a:pPr marL="0" indent="0" algn="ctr">
              <a:lnSpc>
                <a:spcPct val="150000"/>
              </a:lnSpc>
              <a:buNone/>
            </a:pPr>
            <a:endParaRPr lang="fr-FR" sz="2400" b="1" dirty="0" smtClean="0">
              <a:latin typeface="Arial" panose="020B0604020202020204" pitchFamily="34" charset="0"/>
              <a:cs typeface="Arial" panose="020B0604020202020204" pitchFamily="34" charset="0"/>
            </a:endParaRPr>
          </a:p>
          <a:p>
            <a:pPr marL="457200" indent="-457200">
              <a:lnSpc>
                <a:spcPct val="150000"/>
              </a:lnSpc>
              <a:buFont typeface="+mj-lt"/>
              <a:buAutoNum type="arabicParenR"/>
            </a:pPr>
            <a:r>
              <a:rPr lang="fr-FR" sz="2400" b="1" dirty="0">
                <a:latin typeface="Arial" panose="020B0604020202020204" pitchFamily="34" charset="0"/>
                <a:cs typeface="Arial" panose="020B0604020202020204" pitchFamily="34" charset="0"/>
              </a:rPr>
              <a:t>: Assurer au secteur pharmaceutique un niveau de maturité en adéquation avec ses enjeux de santé publique et de </a:t>
            </a:r>
            <a:r>
              <a:rPr lang="fr-FR" sz="2400" b="1" dirty="0" smtClean="0">
                <a:latin typeface="Arial" panose="020B0604020202020204" pitchFamily="34" charset="0"/>
                <a:cs typeface="Arial" panose="020B0604020202020204" pitchFamily="34" charset="0"/>
              </a:rPr>
              <a:t>performances</a:t>
            </a:r>
          </a:p>
          <a:p>
            <a:pPr marL="457200" indent="-457200">
              <a:lnSpc>
                <a:spcPct val="150000"/>
              </a:lnSpc>
              <a:buFont typeface="+mj-lt"/>
              <a:buAutoNum type="arabicParenR"/>
            </a:pPr>
            <a:endParaRPr lang="fr-FR" sz="2400" b="1" dirty="0" smtClean="0">
              <a:latin typeface="Arial" panose="020B0604020202020204" pitchFamily="34" charset="0"/>
              <a:cs typeface="Arial" panose="020B0604020202020204" pitchFamily="34" charset="0"/>
            </a:endParaRPr>
          </a:p>
          <a:p>
            <a:pPr lvl="0">
              <a:lnSpc>
                <a:spcPct val="150000"/>
              </a:lnSpc>
            </a:pPr>
            <a:r>
              <a:rPr lang="fr-FR" sz="2400" dirty="0" smtClean="0">
                <a:latin typeface="Arial" panose="020B0604020202020204" pitchFamily="34" charset="0"/>
                <a:cs typeface="Arial" panose="020B0604020202020204" pitchFamily="34" charset="0"/>
              </a:rPr>
              <a:t>L’amélioration </a:t>
            </a:r>
            <a:r>
              <a:rPr lang="fr-FR" sz="2400" dirty="0">
                <a:latin typeface="Arial" panose="020B0604020202020204" pitchFamily="34" charset="0"/>
                <a:cs typeface="Arial" panose="020B0604020202020204" pitchFamily="34" charset="0"/>
              </a:rPr>
              <a:t>du cadre juridique et réglementaire, ainsi que du cadre institutionnel du secteur pharmaceutique basée sur le principe d’établissement d’interactions systémiques entre entités du secteur ;</a:t>
            </a:r>
          </a:p>
          <a:p>
            <a:pPr marL="0" indent="0">
              <a:lnSpc>
                <a:spcPct val="150000"/>
              </a:lnSpc>
              <a:buNone/>
            </a:pPr>
            <a:endParaRPr lang="fr-FR"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664311"/>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lnSpcReduction="10000"/>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STRATEGIES ET OBJECTIFS SPECIFIQUES DE LA PPN</a:t>
            </a:r>
          </a:p>
          <a:p>
            <a:pPr marL="0" indent="0" algn="ctr">
              <a:lnSpc>
                <a:spcPct val="150000"/>
              </a:lnSpc>
              <a:buNone/>
            </a:pPr>
            <a:endParaRPr lang="fr-FR" sz="2400" b="1" dirty="0" smtClean="0">
              <a:latin typeface="Arial" panose="020B0604020202020204" pitchFamily="34" charset="0"/>
              <a:cs typeface="Arial" panose="020B0604020202020204" pitchFamily="34" charset="0"/>
            </a:endParaRPr>
          </a:p>
          <a:p>
            <a:pPr marL="457200" indent="-457200">
              <a:lnSpc>
                <a:spcPct val="150000"/>
              </a:lnSpc>
              <a:buFont typeface="+mj-lt"/>
              <a:buAutoNum type="arabicParenR"/>
            </a:pPr>
            <a:r>
              <a:rPr lang="fr-FR" sz="2400" b="1" dirty="0">
                <a:latin typeface="Arial" panose="020B0604020202020204" pitchFamily="34" charset="0"/>
                <a:cs typeface="Arial" panose="020B0604020202020204" pitchFamily="34" charset="0"/>
              </a:rPr>
              <a:t>: Assurer au secteur pharmaceutique un niveau de maturité en adéquation avec ses enjeux de santé publique et de </a:t>
            </a:r>
            <a:r>
              <a:rPr lang="fr-FR" sz="2400" b="1" dirty="0" smtClean="0">
                <a:latin typeface="Arial" panose="020B0604020202020204" pitchFamily="34" charset="0"/>
                <a:cs typeface="Arial" panose="020B0604020202020204" pitchFamily="34" charset="0"/>
              </a:rPr>
              <a:t>performances</a:t>
            </a:r>
          </a:p>
          <a:p>
            <a:pPr lvl="0">
              <a:lnSpc>
                <a:spcPct val="150000"/>
              </a:lnSpc>
            </a:pPr>
            <a:r>
              <a:rPr lang="fr-FR" sz="2400" dirty="0">
                <a:latin typeface="Arial" panose="020B0604020202020204" pitchFamily="34" charset="0"/>
                <a:cs typeface="Arial" panose="020B0604020202020204" pitchFamily="34" charset="0"/>
              </a:rPr>
              <a:t>Le renforcement de la performance dans la mise en œuvre de la PPN </a:t>
            </a:r>
            <a:r>
              <a:rPr lang="fr-FR" sz="2400" dirty="0" smtClean="0">
                <a:latin typeface="Arial" panose="020B0604020202020204" pitchFamily="34" charset="0"/>
                <a:cs typeface="Arial" panose="020B0604020202020204" pitchFamily="34" charset="0"/>
              </a:rPr>
              <a:t>;</a:t>
            </a:r>
          </a:p>
          <a:p>
            <a:pPr lvl="0">
              <a:lnSpc>
                <a:spcPct val="150000"/>
              </a:lnSpc>
            </a:pPr>
            <a:endParaRPr lang="fr-FR" sz="2400" dirty="0">
              <a:latin typeface="Arial" panose="020B0604020202020204" pitchFamily="34" charset="0"/>
              <a:cs typeface="Arial" panose="020B0604020202020204" pitchFamily="34" charset="0"/>
            </a:endParaRPr>
          </a:p>
          <a:p>
            <a:pPr lvl="0">
              <a:lnSpc>
                <a:spcPct val="150000"/>
              </a:lnSpc>
            </a:pPr>
            <a:r>
              <a:rPr lang="fr-FR" sz="2400" dirty="0">
                <a:latin typeface="Arial" panose="020B0604020202020204" pitchFamily="34" charset="0"/>
                <a:cs typeface="Arial" panose="020B0604020202020204" pitchFamily="34" charset="0"/>
              </a:rPr>
              <a:t>La mise à disposition de Ressources Humaines Pharmaceutiques qualifiées, motivées et </a:t>
            </a:r>
            <a:r>
              <a:rPr lang="fr-FR" sz="2400" dirty="0" smtClean="0">
                <a:latin typeface="Arial" panose="020B0604020202020204" pitchFamily="34" charset="0"/>
                <a:cs typeface="Arial" panose="020B0604020202020204" pitchFamily="34" charset="0"/>
              </a:rPr>
              <a:t>équitablement réparties </a:t>
            </a:r>
            <a:r>
              <a:rPr lang="fr-FR" sz="2400" dirty="0">
                <a:latin typeface="Arial" panose="020B0604020202020204" pitchFamily="34" charset="0"/>
                <a:cs typeface="Arial" panose="020B0604020202020204" pitchFamily="34" charset="0"/>
              </a:rPr>
              <a:t>sur toute l’étendue du territoire ;</a:t>
            </a:r>
          </a:p>
          <a:p>
            <a:pPr marL="457200" indent="-457200">
              <a:lnSpc>
                <a:spcPct val="150000"/>
              </a:lnSpc>
              <a:buFont typeface="+mj-lt"/>
              <a:buAutoNum type="arabicParenR"/>
            </a:pPr>
            <a:endParaRPr lang="fr-FR" sz="2400" b="1" dirty="0" smtClean="0">
              <a:latin typeface="Arial" panose="020B0604020202020204" pitchFamily="34" charset="0"/>
              <a:cs typeface="Arial" panose="020B0604020202020204" pitchFamily="34" charset="0"/>
            </a:endParaRPr>
          </a:p>
          <a:p>
            <a:pPr marL="0" indent="0">
              <a:lnSpc>
                <a:spcPct val="150000"/>
              </a:lnSpc>
              <a:buNone/>
            </a:pPr>
            <a:endParaRPr lang="fr-FR"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4684345"/>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a:bodyPr>
          <a:lstStyle/>
          <a:p>
            <a:pPr marL="0" indent="0" algn="ctr">
              <a:lnSpc>
                <a:spcPct val="150000"/>
              </a:lnSpc>
              <a:buNone/>
            </a:pPr>
            <a:r>
              <a:rPr lang="fr-FR" sz="2600" b="1" dirty="0" smtClean="0">
                <a:latin typeface="Arial" panose="020B0604020202020204" pitchFamily="34" charset="0"/>
                <a:cs typeface="Arial" panose="020B0604020202020204" pitchFamily="34" charset="0"/>
              </a:rPr>
              <a:t>STRATEGIES ET OBJECTIFS SPECIFIQUES DE LA PPN</a:t>
            </a:r>
          </a:p>
          <a:p>
            <a:pPr marL="0" indent="0" algn="ctr">
              <a:lnSpc>
                <a:spcPct val="150000"/>
              </a:lnSpc>
              <a:buNone/>
            </a:pPr>
            <a:endParaRPr lang="fr-FR" sz="2400" b="1" dirty="0" smtClean="0">
              <a:latin typeface="Arial" panose="020B0604020202020204" pitchFamily="34" charset="0"/>
              <a:cs typeface="Arial" panose="020B0604020202020204" pitchFamily="34" charset="0"/>
            </a:endParaRPr>
          </a:p>
          <a:p>
            <a:pPr marL="457200" indent="-457200">
              <a:lnSpc>
                <a:spcPct val="150000"/>
              </a:lnSpc>
              <a:buFont typeface="+mj-lt"/>
              <a:buAutoNum type="arabicParenR"/>
            </a:pPr>
            <a:r>
              <a:rPr lang="fr-FR" sz="2400" b="1" dirty="0" smtClean="0">
                <a:latin typeface="Arial" panose="020B0604020202020204" pitchFamily="34" charset="0"/>
                <a:cs typeface="Arial" panose="020B0604020202020204" pitchFamily="34" charset="0"/>
              </a:rPr>
              <a:t>: Assurer au secteur pharmaceutique un niveau de maturité en adéquation avec ses enjeux de santé publique et de performances</a:t>
            </a:r>
          </a:p>
          <a:p>
            <a:pPr marL="0" lvl="0" indent="0">
              <a:lnSpc>
                <a:spcPct val="150000"/>
              </a:lnSpc>
              <a:buNone/>
            </a:pPr>
            <a:endParaRPr lang="fr-FR" sz="2400" dirty="0" smtClean="0">
              <a:latin typeface="Arial" panose="020B0604020202020204" pitchFamily="34" charset="0"/>
              <a:cs typeface="Arial" panose="020B0604020202020204" pitchFamily="34" charset="0"/>
            </a:endParaRPr>
          </a:p>
          <a:p>
            <a:pPr marL="0" lvl="0" indent="0">
              <a:lnSpc>
                <a:spcPct val="150000"/>
              </a:lnSpc>
              <a:buNone/>
            </a:pPr>
            <a:r>
              <a:rPr lang="fr-FR" sz="2400" b="1" dirty="0" smtClean="0">
                <a:latin typeface="Arial" panose="020B0604020202020204" pitchFamily="34" charset="0"/>
                <a:cs typeface="Arial" panose="020B0604020202020204" pitchFamily="34" charset="0"/>
              </a:rPr>
              <a:t>L’encadrement de collaborations technique et scientifique entre les différentes entités publiques et privées du secteur pharmaceutique national </a:t>
            </a:r>
            <a:r>
              <a:rPr lang="fr-FR" sz="2400" dirty="0" smtClean="0">
                <a:latin typeface="Arial" panose="020B0604020202020204" pitchFamily="34" charset="0"/>
                <a:cs typeface="Arial" panose="020B0604020202020204" pitchFamily="34" charset="0"/>
              </a:rPr>
              <a:t>d’une part, et entre les entités nationales et les entités régionales et internationales d’autre part ;</a:t>
            </a:r>
          </a:p>
          <a:p>
            <a:pPr marL="0" indent="0">
              <a:lnSpc>
                <a:spcPct val="150000"/>
              </a:lnSpc>
              <a:buNone/>
            </a:pPr>
            <a:endParaRPr lang="fr-FR" sz="2400" b="1" dirty="0" smtClean="0">
              <a:latin typeface="Arial" panose="020B0604020202020204" pitchFamily="34" charset="0"/>
              <a:cs typeface="Arial" panose="020B0604020202020204" pitchFamily="34" charset="0"/>
            </a:endParaRPr>
          </a:p>
          <a:p>
            <a:pPr marL="0" indent="0">
              <a:lnSpc>
                <a:spcPct val="150000"/>
              </a:lnSpc>
              <a:buNone/>
            </a:pPr>
            <a:endParaRPr lang="fr-FR"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701580"/>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fontScale="25000" lnSpcReduction="20000"/>
          </a:bodyPr>
          <a:lstStyle/>
          <a:p>
            <a:pPr marL="0" indent="0" algn="ctr">
              <a:lnSpc>
                <a:spcPct val="150000"/>
              </a:lnSpc>
              <a:buNone/>
            </a:pPr>
            <a:r>
              <a:rPr lang="fr-FR" sz="9600" b="1" dirty="0" smtClean="0">
                <a:latin typeface="Arial" panose="020B0604020202020204" pitchFamily="34" charset="0"/>
                <a:cs typeface="Arial" panose="020B0604020202020204" pitchFamily="34" charset="0"/>
              </a:rPr>
              <a:t>STRATEGIES ET OBJECTIFS SPECIFIQUES DE LA PPN</a:t>
            </a:r>
          </a:p>
          <a:p>
            <a:pPr marL="457200" indent="-457200">
              <a:lnSpc>
                <a:spcPct val="150000"/>
              </a:lnSpc>
              <a:buFont typeface="+mj-lt"/>
              <a:buAutoNum type="arabicParenR"/>
            </a:pPr>
            <a:r>
              <a:rPr lang="fr-FR" sz="9600" b="1" dirty="0" smtClean="0">
                <a:latin typeface="Arial" panose="020B0604020202020204" pitchFamily="34" charset="0"/>
                <a:cs typeface="Arial" panose="020B0604020202020204" pitchFamily="34" charset="0"/>
              </a:rPr>
              <a:t>: Assurer au secteur pharmaceutique un niveau de maturité en adéquation avec ses enjeux de santé publique et de performances</a:t>
            </a:r>
          </a:p>
          <a:p>
            <a:pPr marL="0" indent="0">
              <a:lnSpc>
                <a:spcPct val="150000"/>
              </a:lnSpc>
              <a:buNone/>
            </a:pPr>
            <a:endParaRPr lang="fr-FR" sz="9600" dirty="0" smtClean="0">
              <a:latin typeface="Arial" panose="020B0604020202020204" pitchFamily="34" charset="0"/>
              <a:cs typeface="Arial" panose="020B0604020202020204" pitchFamily="34" charset="0"/>
            </a:endParaRPr>
          </a:p>
          <a:p>
            <a:pPr lvl="0">
              <a:lnSpc>
                <a:spcPct val="150000"/>
              </a:lnSpc>
            </a:pPr>
            <a:r>
              <a:rPr lang="fr-FR" sz="9600" dirty="0">
                <a:latin typeface="Arial" panose="020B0604020202020204" pitchFamily="34" charset="0"/>
                <a:cs typeface="Arial" panose="020B0604020202020204" pitchFamily="34" charset="0"/>
              </a:rPr>
              <a:t>L’intégration systématique des structures pharmaceutiques dans une démarche d’assurance qualité </a:t>
            </a:r>
            <a:r>
              <a:rPr lang="fr-FR" sz="9600" dirty="0" smtClean="0">
                <a:latin typeface="Arial" panose="020B0604020202020204" pitchFamily="34" charset="0"/>
                <a:cs typeface="Arial" panose="020B0604020202020204" pitchFamily="34" charset="0"/>
              </a:rPr>
              <a:t>;</a:t>
            </a:r>
          </a:p>
          <a:p>
            <a:pPr marL="0" lvl="0" indent="0">
              <a:lnSpc>
                <a:spcPct val="150000"/>
              </a:lnSpc>
              <a:buNone/>
            </a:pPr>
            <a:endParaRPr lang="fr-FR" sz="9600" dirty="0">
              <a:latin typeface="Arial" panose="020B0604020202020204" pitchFamily="34" charset="0"/>
              <a:cs typeface="Arial" panose="020B0604020202020204" pitchFamily="34" charset="0"/>
            </a:endParaRPr>
          </a:p>
          <a:p>
            <a:pPr lvl="0">
              <a:lnSpc>
                <a:spcPct val="150000"/>
              </a:lnSpc>
            </a:pPr>
            <a:r>
              <a:rPr lang="fr-FR" sz="9600" dirty="0">
                <a:latin typeface="Arial" panose="020B0604020202020204" pitchFamily="34" charset="0"/>
                <a:cs typeface="Arial" panose="020B0604020202020204" pitchFamily="34" charset="0"/>
              </a:rPr>
              <a:t>La redynamisation du cadre de gouvernance pour le développement de la recherche et de </a:t>
            </a:r>
            <a:r>
              <a:rPr lang="fr-FR" sz="9600" dirty="0" smtClean="0">
                <a:latin typeface="Arial" panose="020B0604020202020204" pitchFamily="34" charset="0"/>
                <a:cs typeface="Arial" panose="020B0604020202020204" pitchFamily="34" charset="0"/>
              </a:rPr>
              <a:t>l’innovation dans </a:t>
            </a:r>
            <a:r>
              <a:rPr lang="fr-FR" sz="9600" dirty="0">
                <a:latin typeface="Arial" panose="020B0604020202020204" pitchFamily="34" charset="0"/>
                <a:cs typeface="Arial" panose="020B0604020202020204" pitchFamily="34" charset="0"/>
              </a:rPr>
              <a:t>le secteur pharmaceutique.</a:t>
            </a:r>
          </a:p>
          <a:p>
            <a:pPr marL="0" indent="0">
              <a:lnSpc>
                <a:spcPct val="150000"/>
              </a:lnSpc>
              <a:buNone/>
            </a:pPr>
            <a:r>
              <a:rPr lang="fr-FR" sz="9600" dirty="0">
                <a:latin typeface="Arial" panose="020B0604020202020204" pitchFamily="34" charset="0"/>
                <a:cs typeface="Arial" panose="020B0604020202020204" pitchFamily="34" charset="0"/>
              </a:rPr>
              <a:t> </a:t>
            </a:r>
          </a:p>
          <a:p>
            <a:pPr marL="0" indent="0">
              <a:lnSpc>
                <a:spcPct val="150000"/>
              </a:lnSpc>
              <a:buNone/>
            </a:pPr>
            <a:endParaRPr lang="fr-FR" sz="2400" b="1" dirty="0" smtClean="0">
              <a:latin typeface="Arial" panose="020B0604020202020204" pitchFamily="34" charset="0"/>
              <a:cs typeface="Arial" panose="020B0604020202020204" pitchFamily="34" charset="0"/>
            </a:endParaRPr>
          </a:p>
          <a:p>
            <a:pPr marL="0" indent="0">
              <a:lnSpc>
                <a:spcPct val="150000"/>
              </a:lnSpc>
              <a:buNone/>
            </a:pPr>
            <a:endParaRPr lang="fr-FR"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1189077"/>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a:bodyPr>
          <a:lstStyle/>
          <a:p>
            <a:pPr marL="0" indent="0" algn="ctr">
              <a:lnSpc>
                <a:spcPct val="150000"/>
              </a:lnSpc>
              <a:buNone/>
            </a:pPr>
            <a:r>
              <a:rPr lang="fr-FR" sz="2400" b="1" dirty="0" smtClean="0">
                <a:latin typeface="Arial" panose="020B0604020202020204" pitchFamily="34" charset="0"/>
                <a:cs typeface="Arial" panose="020B0604020202020204" pitchFamily="34" charset="0"/>
              </a:rPr>
              <a:t>STRATEGIES ET OBJECTIFS SPECIFIQUES DE LA PPN</a:t>
            </a:r>
          </a:p>
          <a:p>
            <a:pPr marL="0" indent="0">
              <a:lnSpc>
                <a:spcPct val="150000"/>
              </a:lnSpc>
              <a:buNone/>
            </a:pPr>
            <a:r>
              <a:rPr lang="fr-FR" sz="2400" b="1" dirty="0" smtClean="0">
                <a:latin typeface="Arial" panose="020B0604020202020204" pitchFamily="34" charset="0"/>
                <a:cs typeface="Arial" panose="020B0604020202020204" pitchFamily="34" charset="0"/>
              </a:rPr>
              <a:t>2) : </a:t>
            </a:r>
            <a:r>
              <a:rPr lang="fr-FR" sz="2400" dirty="0">
                <a:latin typeface="Arial" panose="020B0604020202020204" pitchFamily="34" charset="0"/>
                <a:cs typeface="Arial" panose="020B0604020202020204" pitchFamily="34" charset="0"/>
              </a:rPr>
              <a:t> </a:t>
            </a:r>
            <a:r>
              <a:rPr lang="fr-FR" sz="2400" b="1" dirty="0">
                <a:latin typeface="Arial" panose="020B0604020202020204" pitchFamily="34" charset="0"/>
                <a:cs typeface="Arial" panose="020B0604020202020204" pitchFamily="34" charset="0"/>
              </a:rPr>
              <a:t>Assurer l’émergence d’un tissu industriel pharmaceutique local compétitif, de qualité et résilient orienté vers la satisfaction des besoins nationaux prioritaires en produits de </a:t>
            </a:r>
            <a:r>
              <a:rPr lang="fr-FR" sz="2400" b="1" dirty="0" smtClean="0">
                <a:latin typeface="Arial" panose="020B0604020202020204" pitchFamily="34" charset="0"/>
                <a:cs typeface="Arial" panose="020B0604020202020204" pitchFamily="34" charset="0"/>
              </a:rPr>
              <a:t>santé</a:t>
            </a:r>
          </a:p>
          <a:p>
            <a:pPr marL="0" indent="0">
              <a:lnSpc>
                <a:spcPct val="150000"/>
              </a:lnSpc>
              <a:buNone/>
            </a:pPr>
            <a:endParaRPr lang="fr-FR" sz="2400" b="1" dirty="0">
              <a:latin typeface="Arial" panose="020B0604020202020204" pitchFamily="34" charset="0"/>
              <a:cs typeface="Arial" panose="020B0604020202020204" pitchFamily="34" charset="0"/>
            </a:endParaRPr>
          </a:p>
          <a:p>
            <a:pPr marL="0" indent="0">
              <a:lnSpc>
                <a:spcPct val="150000"/>
              </a:lnSpc>
              <a:buNone/>
            </a:pPr>
            <a:r>
              <a:rPr lang="fr-FR" sz="2400" b="1" dirty="0" smtClean="0">
                <a:latin typeface="Arial" panose="020B0604020202020204" pitchFamily="34" charset="0"/>
                <a:cs typeface="Arial" panose="020B0604020202020204" pitchFamily="34" charset="0"/>
              </a:rPr>
              <a:t>Objectif </a:t>
            </a:r>
            <a:r>
              <a:rPr lang="fr-FR" sz="2400" dirty="0" smtClean="0">
                <a:latin typeface="Arial" panose="020B0604020202020204" pitchFamily="34" charset="0"/>
                <a:cs typeface="Arial" panose="020B0604020202020204" pitchFamily="34" charset="0"/>
              </a:rPr>
              <a:t>: réduire </a:t>
            </a:r>
            <a:r>
              <a:rPr lang="fr-FR" sz="2400" dirty="0">
                <a:latin typeface="Arial" panose="020B0604020202020204" pitchFamily="34" charset="0"/>
                <a:cs typeface="Arial" panose="020B0604020202020204" pitchFamily="34" charset="0"/>
              </a:rPr>
              <a:t>la dépendance aux importations des produits de santé et répondre efficacement aux enjeux de santé publique nationaux </a:t>
            </a:r>
            <a:r>
              <a:rPr lang="fr-FR" sz="2400" dirty="0" smtClean="0">
                <a:latin typeface="Arial" panose="020B0604020202020204" pitchFamily="34" charset="0"/>
                <a:cs typeface="Arial" panose="020B0604020202020204" pitchFamily="34" charset="0"/>
              </a:rPr>
              <a:t>voir régionaux</a:t>
            </a:r>
            <a:endParaRPr lang="fr-FR" sz="2400" dirty="0">
              <a:latin typeface="Arial" panose="020B0604020202020204" pitchFamily="34" charset="0"/>
              <a:cs typeface="Arial" panose="020B0604020202020204" pitchFamily="34" charset="0"/>
            </a:endParaRPr>
          </a:p>
          <a:p>
            <a:pPr marL="0" indent="0">
              <a:lnSpc>
                <a:spcPct val="150000"/>
              </a:lnSpc>
              <a:buNone/>
            </a:pPr>
            <a:endParaRPr lang="fr-FR" sz="2400" b="1" dirty="0" smtClean="0">
              <a:latin typeface="Arial" panose="020B0604020202020204" pitchFamily="34" charset="0"/>
              <a:cs typeface="Arial" panose="020B0604020202020204" pitchFamily="34" charset="0"/>
            </a:endParaRPr>
          </a:p>
          <a:p>
            <a:pPr marL="0" indent="0">
              <a:lnSpc>
                <a:spcPct val="150000"/>
              </a:lnSpc>
              <a:buNone/>
            </a:pPr>
            <a:endParaRPr lang="fr-FR"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1549469"/>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a:bodyPr>
          <a:lstStyle/>
          <a:p>
            <a:pPr marL="0" indent="0" algn="ctr">
              <a:lnSpc>
                <a:spcPct val="150000"/>
              </a:lnSpc>
              <a:buNone/>
            </a:pPr>
            <a:r>
              <a:rPr lang="fr-FR" sz="2400" b="1" dirty="0" smtClean="0">
                <a:latin typeface="Arial" panose="020B0604020202020204" pitchFamily="34" charset="0"/>
                <a:cs typeface="Arial" panose="020B0604020202020204" pitchFamily="34" charset="0"/>
              </a:rPr>
              <a:t>STRATEGIES ET OBJECTIFS SPECIFIQUES DE LA PPN</a:t>
            </a:r>
          </a:p>
          <a:p>
            <a:pPr marL="0" indent="0">
              <a:lnSpc>
                <a:spcPct val="150000"/>
              </a:lnSpc>
              <a:buNone/>
            </a:pPr>
            <a:r>
              <a:rPr lang="fr-FR" sz="2400" b="1" dirty="0">
                <a:latin typeface="Arial" panose="020B0604020202020204" pitchFamily="34" charset="0"/>
                <a:cs typeface="Arial" panose="020B0604020202020204" pitchFamily="34" charset="0"/>
              </a:rPr>
              <a:t>3</a:t>
            </a:r>
            <a:r>
              <a:rPr lang="fr-FR" sz="2400" b="1" dirty="0" smtClean="0">
                <a:latin typeface="Arial" panose="020B0604020202020204" pitchFamily="34" charset="0"/>
                <a:cs typeface="Arial" panose="020B0604020202020204" pitchFamily="34" charset="0"/>
              </a:rPr>
              <a:t>) </a:t>
            </a:r>
            <a:r>
              <a:rPr lang="fr-FR" sz="2400" b="1" dirty="0">
                <a:latin typeface="Arial" panose="020B0604020202020204" pitchFamily="34" charset="0"/>
                <a:cs typeface="Arial" panose="020B0604020202020204" pitchFamily="34" charset="0"/>
              </a:rPr>
              <a:t>Garantir la disponibilité et l'accessibilité des produits de santé </a:t>
            </a:r>
            <a:r>
              <a:rPr lang="fr-FR" sz="2400" b="1" dirty="0" smtClean="0">
                <a:latin typeface="Arial" panose="020B0604020202020204" pitchFamily="34" charset="0"/>
                <a:cs typeface="Arial" panose="020B0604020202020204" pitchFamily="34" charset="0"/>
              </a:rPr>
              <a:t>jusqu'au dernier kilomètre</a:t>
            </a:r>
            <a:endParaRPr lang="fr-FR" sz="2400" b="1" dirty="0">
              <a:latin typeface="Arial" panose="020B0604020202020204" pitchFamily="34" charset="0"/>
              <a:cs typeface="Arial" panose="020B0604020202020204" pitchFamily="34" charset="0"/>
            </a:endParaRPr>
          </a:p>
          <a:p>
            <a:pPr marL="0" indent="0">
              <a:lnSpc>
                <a:spcPct val="150000"/>
              </a:lnSpc>
              <a:buNone/>
            </a:pPr>
            <a:endParaRPr lang="fr-FR" sz="2400" dirty="0" smtClean="0">
              <a:latin typeface="Arial" panose="020B0604020202020204" pitchFamily="34" charset="0"/>
              <a:cs typeface="Arial" panose="020B0604020202020204" pitchFamily="34" charset="0"/>
            </a:endParaRPr>
          </a:p>
          <a:p>
            <a:pPr marL="0" indent="0">
              <a:lnSpc>
                <a:spcPct val="150000"/>
              </a:lnSpc>
              <a:buNone/>
            </a:pPr>
            <a:r>
              <a:rPr lang="fr-FR" sz="2400" dirty="0">
                <a:latin typeface="Arial" panose="020B0604020202020204" pitchFamily="34" charset="0"/>
                <a:cs typeface="Arial" panose="020B0604020202020204" pitchFamily="34" charset="0"/>
              </a:rPr>
              <a:t>(</a:t>
            </a:r>
            <a:r>
              <a:rPr lang="fr-FR" sz="2400" dirty="0" smtClean="0">
                <a:latin typeface="Arial" panose="020B0604020202020204" pitchFamily="34" charset="0"/>
                <a:cs typeface="Arial" panose="020B0604020202020204" pitchFamily="34" charset="0"/>
              </a:rPr>
              <a:t>Le </a:t>
            </a:r>
            <a:r>
              <a:rPr lang="fr-FR" sz="2400" b="1" dirty="0" smtClean="0">
                <a:latin typeface="Arial" panose="020B0604020202020204" pitchFamily="34" charset="0"/>
                <a:cs typeface="Arial" panose="020B0604020202020204" pitchFamily="34" charset="0"/>
              </a:rPr>
              <a:t>dernier kilomètre </a:t>
            </a:r>
            <a:r>
              <a:rPr lang="fr-FR" sz="2400" dirty="0" smtClean="0">
                <a:latin typeface="Arial" panose="020B0604020202020204" pitchFamily="34" charset="0"/>
                <a:cs typeface="Arial" panose="020B0604020202020204" pitchFamily="34" charset="0"/>
              </a:rPr>
              <a:t>en anglais </a:t>
            </a:r>
            <a:r>
              <a:rPr lang="fr-FR" sz="2400" b="1" dirty="0" smtClean="0">
                <a:latin typeface="Arial" panose="020B0604020202020204" pitchFamily="34" charset="0"/>
                <a:cs typeface="Arial" panose="020B0604020202020204" pitchFamily="34" charset="0"/>
              </a:rPr>
              <a:t>Last Mile </a:t>
            </a:r>
            <a:r>
              <a:rPr lang="fr-FR" sz="2400" dirty="0" smtClean="0">
                <a:latin typeface="Arial" panose="020B0604020202020204" pitchFamily="34" charset="0"/>
                <a:cs typeface="Arial" panose="020B0604020202020204" pitchFamily="34" charset="0"/>
              </a:rPr>
              <a:t>désigne la dernière étape d’un processus logistique ou de distribution, c’est-à-dire le transport final d’un produit ou d’un service jusqu’au </a:t>
            </a:r>
            <a:r>
              <a:rPr lang="fr-FR" sz="2400" b="1" dirty="0" smtClean="0">
                <a:latin typeface="Arial" panose="020B0604020202020204" pitchFamily="34" charset="0"/>
                <a:cs typeface="Arial" panose="020B0604020202020204" pitchFamily="34" charset="0"/>
              </a:rPr>
              <a:t>client destinataire)</a:t>
            </a:r>
          </a:p>
          <a:p>
            <a:pPr marL="0" indent="0">
              <a:lnSpc>
                <a:spcPct val="150000"/>
              </a:lnSpc>
              <a:buNone/>
            </a:pPr>
            <a:endParaRPr lang="fr-FR"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1247794"/>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a:bodyPr>
          <a:lstStyle/>
          <a:p>
            <a:pPr marL="0" indent="0" algn="ctr">
              <a:lnSpc>
                <a:spcPct val="150000"/>
              </a:lnSpc>
              <a:buNone/>
            </a:pPr>
            <a:r>
              <a:rPr lang="fr-FR" sz="2400" b="1" dirty="0" smtClean="0">
                <a:latin typeface="Arial" panose="020B0604020202020204" pitchFamily="34" charset="0"/>
                <a:cs typeface="Arial" panose="020B0604020202020204" pitchFamily="34" charset="0"/>
              </a:rPr>
              <a:t>STRATEGIES ET OBJECTIFS SPECIFIQUES DE LA PPN</a:t>
            </a:r>
          </a:p>
          <a:p>
            <a:pPr marL="0" indent="0" algn="ctr">
              <a:lnSpc>
                <a:spcPct val="150000"/>
              </a:lnSpc>
              <a:buNone/>
            </a:pPr>
            <a:endParaRPr lang="fr-FR" sz="2400" b="1" dirty="0" smtClean="0">
              <a:latin typeface="Arial" panose="020B0604020202020204" pitchFamily="34" charset="0"/>
              <a:cs typeface="Arial" panose="020B0604020202020204" pitchFamily="34" charset="0"/>
            </a:endParaRPr>
          </a:p>
          <a:p>
            <a:pPr marL="0" indent="0">
              <a:lnSpc>
                <a:spcPct val="150000"/>
              </a:lnSpc>
              <a:buNone/>
            </a:pPr>
            <a:r>
              <a:rPr lang="fr-FR" sz="2400" b="1" dirty="0" smtClean="0">
                <a:latin typeface="Arial" panose="020B0604020202020204" pitchFamily="34" charset="0"/>
                <a:cs typeface="Arial" panose="020B0604020202020204" pitchFamily="34" charset="0"/>
              </a:rPr>
              <a:t>4)</a:t>
            </a:r>
            <a:r>
              <a:rPr lang="fr-FR" dirty="0"/>
              <a:t> </a:t>
            </a:r>
            <a:r>
              <a:rPr lang="fr-FR" sz="2400" b="1" dirty="0">
                <a:latin typeface="Arial" panose="020B0604020202020204" pitchFamily="34" charset="0"/>
                <a:cs typeface="Arial" panose="020B0604020202020204" pitchFamily="34" charset="0"/>
              </a:rPr>
              <a:t>Garantir la </a:t>
            </a:r>
            <a:r>
              <a:rPr lang="fr-FR" sz="2400" b="1" dirty="0" smtClean="0">
                <a:latin typeface="Arial" panose="020B0604020202020204" pitchFamily="34" charset="0"/>
                <a:cs typeface="Arial" panose="020B0604020202020204" pitchFamily="34" charset="0"/>
              </a:rPr>
              <a:t>qualité, l’efficacité et l’usage rationnel des produits de </a:t>
            </a:r>
            <a:r>
              <a:rPr lang="fr-FR" sz="2400" b="1" dirty="0">
                <a:latin typeface="Arial" panose="020B0604020202020204" pitchFamily="34" charset="0"/>
                <a:cs typeface="Arial" panose="020B0604020202020204" pitchFamily="34" charset="0"/>
              </a:rPr>
              <a:t>santé et des innovations </a:t>
            </a:r>
            <a:r>
              <a:rPr lang="fr-FR" sz="2400" b="1" dirty="0" smtClean="0">
                <a:latin typeface="Arial" panose="020B0604020202020204" pitchFamily="34" charset="0"/>
                <a:cs typeface="Arial" panose="020B0604020202020204" pitchFamily="34" charset="0"/>
              </a:rPr>
              <a:t>thérapeutiques</a:t>
            </a:r>
          </a:p>
          <a:p>
            <a:pPr marL="0" indent="0">
              <a:lnSpc>
                <a:spcPct val="150000"/>
              </a:lnSpc>
              <a:buNone/>
            </a:pPr>
            <a:endParaRPr lang="fr-FR" sz="2400" b="1" dirty="0" smtClean="0">
              <a:latin typeface="Arial" panose="020B0604020202020204" pitchFamily="34" charset="0"/>
              <a:cs typeface="Arial" panose="020B0604020202020204" pitchFamily="34" charset="0"/>
            </a:endParaRPr>
          </a:p>
          <a:p>
            <a:pPr marL="0" indent="0">
              <a:lnSpc>
                <a:spcPct val="150000"/>
              </a:lnSpc>
              <a:buNone/>
            </a:pPr>
            <a:r>
              <a:rPr lang="fr-FR" sz="2400" b="1" dirty="0" smtClean="0">
                <a:latin typeface="Arial" panose="020B0604020202020204" pitchFamily="34" charset="0"/>
                <a:cs typeface="Arial" panose="020B0604020202020204" pitchFamily="34" charset="0"/>
              </a:rPr>
              <a:t>5) Garantir </a:t>
            </a:r>
            <a:r>
              <a:rPr lang="fr-FR" sz="2400" b="1" dirty="0">
                <a:latin typeface="Arial" panose="020B0604020202020204" pitchFamily="34" charset="0"/>
                <a:cs typeface="Arial" panose="020B0604020202020204" pitchFamily="34" charset="0"/>
              </a:rPr>
              <a:t>la pérennisation des financements et des investissements dans les secteurs pharmaceutiques public et privé</a:t>
            </a:r>
          </a:p>
        </p:txBody>
      </p:sp>
    </p:spTree>
    <p:extLst>
      <p:ext uri="{BB962C8B-B14F-4D97-AF65-F5344CB8AC3E}">
        <p14:creationId xmlns:p14="http://schemas.microsoft.com/office/powerpoint/2010/main" val="2879994312"/>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a:bodyPr>
          <a:lstStyle/>
          <a:p>
            <a:pPr marL="0" indent="0" algn="ctr">
              <a:lnSpc>
                <a:spcPct val="150000"/>
              </a:lnSpc>
              <a:buNone/>
            </a:pPr>
            <a:r>
              <a:rPr lang="fr-FR" sz="2400" b="1" dirty="0" smtClean="0">
                <a:latin typeface="Arial" panose="020B0604020202020204" pitchFamily="34" charset="0"/>
                <a:cs typeface="Arial" panose="020B0604020202020204" pitchFamily="34" charset="0"/>
              </a:rPr>
              <a:t>COORDINATION DE LA MISE EN OEUVRE DE LA PPN</a:t>
            </a:r>
          </a:p>
          <a:p>
            <a:pPr marL="0" indent="0" algn="ctr">
              <a:lnSpc>
                <a:spcPct val="150000"/>
              </a:lnSpc>
              <a:buNone/>
            </a:pPr>
            <a:endParaRPr lang="fr-FR" sz="2400" b="1" dirty="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fr-FR" sz="2400" dirty="0">
                <a:latin typeface="Arial" panose="020B0604020202020204" pitchFamily="34" charset="0"/>
                <a:cs typeface="Arial" panose="020B0604020202020204" pitchFamily="34" charset="0"/>
              </a:rPr>
              <a:t>la </a:t>
            </a:r>
            <a:r>
              <a:rPr lang="fr-FR" sz="2400" b="1" dirty="0">
                <a:latin typeface="Arial" panose="020B0604020202020204" pitchFamily="34" charset="0"/>
                <a:cs typeface="Arial" panose="020B0604020202020204" pitchFamily="34" charset="0"/>
              </a:rPr>
              <a:t>Politique Nationale de Santé </a:t>
            </a:r>
            <a:r>
              <a:rPr lang="fr-FR" sz="2400" dirty="0">
                <a:latin typeface="Arial" panose="020B0604020202020204" pitchFamily="34" charset="0"/>
                <a:cs typeface="Arial" panose="020B0604020202020204" pitchFamily="34" charset="0"/>
              </a:rPr>
              <a:t>et ses déclinaisons sous- sectorielles sont mises en </a:t>
            </a:r>
            <a:r>
              <a:rPr lang="fr-FR" sz="2400" dirty="0" smtClean="0">
                <a:latin typeface="Arial" panose="020B0604020202020204" pitchFamily="34" charset="0"/>
                <a:cs typeface="Arial" panose="020B0604020202020204" pitchFamily="34" charset="0"/>
              </a:rPr>
              <a:t>œuvre </a:t>
            </a:r>
            <a:r>
              <a:rPr lang="fr-FR" sz="2400" dirty="0">
                <a:latin typeface="Arial" panose="020B0604020202020204" pitchFamily="34" charset="0"/>
                <a:cs typeface="Arial" panose="020B0604020202020204" pitchFamily="34" charset="0"/>
              </a:rPr>
              <a:t>dans le cadre du </a:t>
            </a:r>
            <a:r>
              <a:rPr lang="fr-FR" sz="2400" b="1" dirty="0">
                <a:solidFill>
                  <a:srgbClr val="FF0000"/>
                </a:solidFill>
                <a:latin typeface="Arial" panose="020B0604020202020204" pitchFamily="34" charset="0"/>
                <a:cs typeface="Arial" panose="020B0604020202020204" pitchFamily="34" charset="0"/>
              </a:rPr>
              <a:t>Plan National de Développement Sanitaire (PNDS). </a:t>
            </a:r>
            <a:endParaRPr lang="fr-FR" sz="2400" b="1" dirty="0" smtClean="0">
              <a:solidFill>
                <a:srgbClr val="FF0000"/>
              </a:solidFill>
              <a:latin typeface="Arial" panose="020B0604020202020204" pitchFamily="34" charset="0"/>
              <a:cs typeface="Arial" panose="020B0604020202020204" pitchFamily="34" charset="0"/>
            </a:endParaRPr>
          </a:p>
          <a:p>
            <a:pPr>
              <a:buFont typeface="Wingdings" panose="05000000000000000000" pitchFamily="2" charset="2"/>
              <a:buChar char="Ø"/>
            </a:pPr>
            <a:endParaRPr lang="fr-FR" sz="2400"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endParaRPr lang="fr-FR" sz="2400" dirty="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La </a:t>
            </a:r>
            <a:r>
              <a:rPr lang="fr-FR" sz="2400" dirty="0">
                <a:latin typeface="Arial" panose="020B0604020202020204" pitchFamily="34" charset="0"/>
                <a:cs typeface="Arial" panose="020B0604020202020204" pitchFamily="34" charset="0"/>
              </a:rPr>
              <a:t>mise en œuvre de </a:t>
            </a:r>
            <a:r>
              <a:rPr lang="fr-FR" sz="2400" b="1" dirty="0">
                <a:latin typeface="Arial" panose="020B0604020202020204" pitchFamily="34" charset="0"/>
                <a:cs typeface="Arial" panose="020B0604020202020204" pitchFamily="34" charset="0"/>
              </a:rPr>
              <a:t>la politique pharmaceutique </a:t>
            </a:r>
            <a:r>
              <a:rPr lang="fr-FR" sz="2400" b="1" dirty="0" smtClean="0">
                <a:latin typeface="Arial" panose="020B0604020202020204" pitchFamily="34" charset="0"/>
                <a:cs typeface="Arial" panose="020B0604020202020204" pitchFamily="34" charset="0"/>
              </a:rPr>
              <a:t>nationale (PPN) </a:t>
            </a:r>
            <a:r>
              <a:rPr lang="fr-FR" sz="2400" dirty="0">
                <a:latin typeface="Arial" panose="020B0604020202020204" pitchFamily="34" charset="0"/>
                <a:cs typeface="Arial" panose="020B0604020202020204" pitchFamily="34" charset="0"/>
              </a:rPr>
              <a:t>se fait donc à̀ </a:t>
            </a:r>
            <a:r>
              <a:rPr lang="fr-FR" sz="2400" b="1" dirty="0">
                <a:latin typeface="Arial" panose="020B0604020202020204" pitchFamily="34" charset="0"/>
                <a:cs typeface="Arial" panose="020B0604020202020204" pitchFamily="34" charset="0"/>
              </a:rPr>
              <a:t>travers le plan directeur </a:t>
            </a:r>
            <a:r>
              <a:rPr lang="fr-FR" sz="2400" b="1" dirty="0" smtClean="0">
                <a:latin typeface="Arial" panose="020B0604020202020204" pitchFamily="34" charset="0"/>
                <a:cs typeface="Arial" panose="020B0604020202020204" pitchFamily="34" charset="0"/>
              </a:rPr>
              <a:t>pharmaceutique national </a:t>
            </a:r>
            <a:r>
              <a:rPr lang="fr-FR" sz="2400" b="1" dirty="0" smtClean="0">
                <a:solidFill>
                  <a:srgbClr val="FF0000"/>
                </a:solidFill>
                <a:latin typeface="Arial" panose="020B0604020202020204" pitchFamily="34" charset="0"/>
                <a:cs typeface="Arial" panose="020B0604020202020204" pitchFamily="34" charset="0"/>
              </a:rPr>
              <a:t>(PDPN)</a:t>
            </a:r>
            <a:r>
              <a:rPr lang="fr-FR" sz="2400" dirty="0" smtClean="0">
                <a:solidFill>
                  <a:srgbClr val="FF0000"/>
                </a:solidFill>
                <a:latin typeface="Arial" panose="020B0604020202020204" pitchFamily="34" charset="0"/>
                <a:cs typeface="Arial" panose="020B0604020202020204" pitchFamily="34" charset="0"/>
              </a:rPr>
              <a:t>.</a:t>
            </a:r>
            <a:endParaRPr lang="fr-FR" sz="2400" dirty="0">
              <a:solidFill>
                <a:srgbClr val="FF0000"/>
              </a:solidFill>
              <a:latin typeface="Arial" panose="020B0604020202020204" pitchFamily="34" charset="0"/>
              <a:cs typeface="Arial" panose="020B0604020202020204" pitchFamily="34" charset="0"/>
            </a:endParaRPr>
          </a:p>
          <a:p>
            <a:pPr>
              <a:buFont typeface="Wingdings" panose="05000000000000000000" pitchFamily="2" charset="2"/>
              <a:buChar char="Ø"/>
            </a:pPr>
            <a:endParaRPr lang="fr-FR" sz="2400" dirty="0">
              <a:latin typeface="Arial" panose="020B0604020202020204" pitchFamily="34" charset="0"/>
              <a:cs typeface="Arial" panose="020B0604020202020204" pitchFamily="34" charset="0"/>
            </a:endParaRPr>
          </a:p>
        </p:txBody>
      </p:sp>
      <p:sp>
        <p:nvSpPr>
          <p:cNvPr id="4" name="Rectangle 3"/>
          <p:cNvSpPr/>
          <p:nvPr/>
        </p:nvSpPr>
        <p:spPr>
          <a:xfrm>
            <a:off x="3048000" y="3213557"/>
            <a:ext cx="6096000" cy="369332"/>
          </a:xfrm>
          <a:prstGeom prst="rect">
            <a:avLst/>
          </a:prstGeom>
        </p:spPr>
        <p:txBody>
          <a:bodyPr>
            <a:spAutoFit/>
          </a:bodyPr>
          <a:lstStyle/>
          <a:p>
            <a:endParaRPr lang="fr-FR" dirty="0"/>
          </a:p>
        </p:txBody>
      </p:sp>
    </p:spTree>
    <p:extLst>
      <p:ext uri="{BB962C8B-B14F-4D97-AF65-F5344CB8AC3E}">
        <p14:creationId xmlns:p14="http://schemas.microsoft.com/office/powerpoint/2010/main" val="2858231244"/>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a:bodyPr>
          <a:lstStyle/>
          <a:p>
            <a:pPr marL="0" indent="0" algn="ctr">
              <a:lnSpc>
                <a:spcPct val="150000"/>
              </a:lnSpc>
              <a:buNone/>
            </a:pPr>
            <a:r>
              <a:rPr lang="fr-FR" sz="2400" b="1" dirty="0" smtClean="0">
                <a:latin typeface="Arial" panose="020B0604020202020204" pitchFamily="34" charset="0"/>
                <a:cs typeface="Arial" panose="020B0604020202020204" pitchFamily="34" charset="0"/>
              </a:rPr>
              <a:t>COORDINATION DE LA MISE EN OEUVRE DE LA PPN</a:t>
            </a:r>
          </a:p>
          <a:p>
            <a:pPr>
              <a:lnSpc>
                <a:spcPct val="150000"/>
              </a:lnSpc>
              <a:buFont typeface="Wingdings" panose="05000000000000000000" pitchFamily="2" charset="2"/>
              <a:buChar char="Ø"/>
            </a:pPr>
            <a:r>
              <a:rPr lang="fr-FR" sz="2400" dirty="0">
                <a:latin typeface="Arial" panose="020B0604020202020204" pitchFamily="34" charset="0"/>
                <a:cs typeface="Arial" panose="020B0604020202020204" pitchFamily="34" charset="0"/>
              </a:rPr>
              <a:t>Le </a:t>
            </a:r>
            <a:r>
              <a:rPr lang="fr-FR" sz="2400" b="1" dirty="0">
                <a:latin typeface="Arial" panose="020B0604020202020204" pitchFamily="34" charset="0"/>
                <a:cs typeface="Arial" panose="020B0604020202020204" pitchFamily="34" charset="0"/>
              </a:rPr>
              <a:t>PDPN</a:t>
            </a:r>
            <a:r>
              <a:rPr lang="fr-FR" sz="2400" dirty="0">
                <a:latin typeface="Arial" panose="020B0604020202020204" pitchFamily="34" charset="0"/>
                <a:cs typeface="Arial" panose="020B0604020202020204" pitchFamily="34" charset="0"/>
              </a:rPr>
              <a:t> identifie </a:t>
            </a:r>
            <a:r>
              <a:rPr lang="fr-FR" sz="2400" b="1" dirty="0">
                <a:latin typeface="Arial" panose="020B0604020202020204" pitchFamily="34" charset="0"/>
                <a:cs typeface="Arial" panose="020B0604020202020204" pitchFamily="34" charset="0"/>
              </a:rPr>
              <a:t>toutes les activités à mener </a:t>
            </a:r>
            <a:r>
              <a:rPr lang="fr-FR" sz="2400" dirty="0">
                <a:latin typeface="Arial" panose="020B0604020202020204" pitchFamily="34" charset="0"/>
                <a:cs typeface="Arial" panose="020B0604020202020204" pitchFamily="34" charset="0"/>
              </a:rPr>
              <a:t>sur la période pour </a:t>
            </a:r>
            <a:r>
              <a:rPr lang="fr-FR" sz="2400" b="1" dirty="0">
                <a:latin typeface="Arial" panose="020B0604020202020204" pitchFamily="34" charset="0"/>
                <a:cs typeface="Arial" panose="020B0604020202020204" pitchFamily="34" charset="0"/>
              </a:rPr>
              <a:t>chaque stratégie</a:t>
            </a:r>
            <a:r>
              <a:rPr lang="fr-FR" sz="2400" dirty="0">
                <a:latin typeface="Arial" panose="020B0604020202020204" pitchFamily="34" charset="0"/>
                <a:cs typeface="Arial" panose="020B0604020202020204" pitchFamily="34" charset="0"/>
              </a:rPr>
              <a:t>. </a:t>
            </a:r>
            <a:endParaRPr lang="fr-FR" sz="2400"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Les </a:t>
            </a:r>
            <a:r>
              <a:rPr lang="fr-FR" sz="2400" dirty="0">
                <a:latin typeface="Arial" panose="020B0604020202020204" pitchFamily="34" charset="0"/>
                <a:cs typeface="Arial" panose="020B0604020202020204" pitchFamily="34" charset="0"/>
              </a:rPr>
              <a:t>activités identifiées seront </a:t>
            </a:r>
            <a:r>
              <a:rPr lang="fr-FR" sz="2400" b="1" dirty="0">
                <a:latin typeface="Arial" panose="020B0604020202020204" pitchFamily="34" charset="0"/>
                <a:cs typeface="Arial" panose="020B0604020202020204" pitchFamily="34" charset="0"/>
              </a:rPr>
              <a:t>programmées et budgétisées</a:t>
            </a:r>
            <a:r>
              <a:rPr lang="fr-FR" sz="2400" dirty="0">
                <a:latin typeface="Arial" panose="020B0604020202020204" pitchFamily="34" charset="0"/>
                <a:cs typeface="Arial" panose="020B0604020202020204" pitchFamily="34" charset="0"/>
              </a:rPr>
              <a:t>. </a:t>
            </a:r>
            <a:endParaRPr lang="fr-FR" sz="2400"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fr-FR" sz="2400" b="1" dirty="0" smtClean="0">
                <a:latin typeface="Arial" panose="020B0604020202020204" pitchFamily="34" charset="0"/>
                <a:cs typeface="Arial" panose="020B0604020202020204" pitchFamily="34" charset="0"/>
              </a:rPr>
              <a:t>Les </a:t>
            </a:r>
            <a:r>
              <a:rPr lang="fr-FR" sz="2400" b="1" dirty="0">
                <a:latin typeface="Arial" panose="020B0604020202020204" pitchFamily="34" charset="0"/>
                <a:cs typeface="Arial" panose="020B0604020202020204" pitchFamily="34" charset="0"/>
              </a:rPr>
              <a:t>responsabilités de chaque acteur </a:t>
            </a:r>
            <a:r>
              <a:rPr lang="fr-FR" sz="2400" dirty="0">
                <a:latin typeface="Arial" panose="020B0604020202020204" pitchFamily="34" charset="0"/>
                <a:cs typeface="Arial" panose="020B0604020202020204" pitchFamily="34" charset="0"/>
              </a:rPr>
              <a:t>dans la mise en œuvre seront </a:t>
            </a:r>
            <a:r>
              <a:rPr lang="fr-FR" sz="2400" b="1" dirty="0" smtClean="0">
                <a:latin typeface="Arial" panose="020B0604020202020204" pitchFamily="34" charset="0"/>
                <a:cs typeface="Arial" panose="020B0604020202020204" pitchFamily="34" charset="0"/>
              </a:rPr>
              <a:t>situées</a:t>
            </a:r>
            <a:r>
              <a:rPr lang="fr-FR" sz="2400" dirty="0" smtClean="0">
                <a:latin typeface="Arial" panose="020B0604020202020204" pitchFamily="34" charset="0"/>
                <a:cs typeface="Arial" panose="020B0604020202020204" pitchFamily="34" charset="0"/>
              </a:rPr>
              <a:t>.</a:t>
            </a:r>
          </a:p>
          <a:p>
            <a:pPr>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Chaque </a:t>
            </a:r>
            <a:r>
              <a:rPr lang="fr-FR" sz="2400" dirty="0">
                <a:latin typeface="Arial" panose="020B0604020202020204" pitchFamily="34" charset="0"/>
                <a:cs typeface="Arial" panose="020B0604020202020204" pitchFamily="34" charset="0"/>
              </a:rPr>
              <a:t>année, </a:t>
            </a:r>
            <a:r>
              <a:rPr lang="fr-FR" sz="2400" b="1" dirty="0">
                <a:latin typeface="Arial" panose="020B0604020202020204" pitchFamily="34" charset="0"/>
                <a:cs typeface="Arial" panose="020B0604020202020204" pitchFamily="34" charset="0"/>
              </a:rPr>
              <a:t>ce plan sera évalué puis actualisé </a:t>
            </a:r>
            <a:r>
              <a:rPr lang="fr-FR" sz="2400" dirty="0">
                <a:latin typeface="Arial" panose="020B0604020202020204" pitchFamily="34" charset="0"/>
                <a:cs typeface="Arial" panose="020B0604020202020204" pitchFamily="34" charset="0"/>
              </a:rPr>
              <a:t>pour combler les déficits de l’année qui s’achève et pour prendre en compte les besoins de l’année suivante</a:t>
            </a:r>
            <a:endParaRPr lang="fr-FR" sz="2400" b="1" dirty="0">
              <a:latin typeface="Arial" panose="020B0604020202020204" pitchFamily="34" charset="0"/>
              <a:cs typeface="Arial" panose="020B0604020202020204" pitchFamily="34" charset="0"/>
            </a:endParaRPr>
          </a:p>
          <a:p>
            <a:pPr marL="0" indent="0" algn="ctr">
              <a:lnSpc>
                <a:spcPct val="150000"/>
              </a:lnSpc>
              <a:buNone/>
            </a:pPr>
            <a:endParaRPr lang="fr-FR" sz="2400" b="1" dirty="0">
              <a:latin typeface="Arial" panose="020B0604020202020204" pitchFamily="34" charset="0"/>
              <a:cs typeface="Arial" panose="020B0604020202020204" pitchFamily="34" charset="0"/>
            </a:endParaRPr>
          </a:p>
          <a:p>
            <a:pPr>
              <a:buFont typeface="Wingdings" panose="05000000000000000000" pitchFamily="2" charset="2"/>
              <a:buChar char="Ø"/>
            </a:pPr>
            <a:endParaRPr lang="fr-FR" sz="2400" dirty="0">
              <a:latin typeface="Arial" panose="020B0604020202020204" pitchFamily="34" charset="0"/>
              <a:cs typeface="Arial" panose="020B0604020202020204" pitchFamily="34" charset="0"/>
            </a:endParaRPr>
          </a:p>
        </p:txBody>
      </p:sp>
      <p:sp>
        <p:nvSpPr>
          <p:cNvPr id="4" name="Rectangle 3"/>
          <p:cNvSpPr/>
          <p:nvPr/>
        </p:nvSpPr>
        <p:spPr>
          <a:xfrm>
            <a:off x="3048000" y="3213557"/>
            <a:ext cx="6096000" cy="369332"/>
          </a:xfrm>
          <a:prstGeom prst="rect">
            <a:avLst/>
          </a:prstGeom>
        </p:spPr>
        <p:txBody>
          <a:bodyPr>
            <a:spAutoFit/>
          </a:bodyPr>
          <a:lstStyle/>
          <a:p>
            <a:endParaRPr lang="fr-FR" dirty="0"/>
          </a:p>
        </p:txBody>
      </p:sp>
    </p:spTree>
    <p:extLst>
      <p:ext uri="{BB962C8B-B14F-4D97-AF65-F5344CB8AC3E}">
        <p14:creationId xmlns:p14="http://schemas.microsoft.com/office/powerpoint/2010/main" val="891301234"/>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lnSpcReduction="10000"/>
          </a:bodyPr>
          <a:lstStyle/>
          <a:p>
            <a:pPr marL="0" indent="0" algn="ctr">
              <a:lnSpc>
                <a:spcPct val="150000"/>
              </a:lnSpc>
              <a:buNone/>
            </a:pPr>
            <a:r>
              <a:rPr lang="fr-FR" sz="2400" b="1" dirty="0" smtClean="0">
                <a:latin typeface="Arial" panose="020B0604020202020204" pitchFamily="34" charset="0"/>
                <a:cs typeface="Arial" panose="020B0604020202020204" pitchFamily="34" charset="0"/>
              </a:rPr>
              <a:t>COORDINATION DE LA MISE EN OEUVRE DE LA PPN</a:t>
            </a:r>
          </a:p>
          <a:p>
            <a:pPr>
              <a:buFont typeface="Wingdings" panose="05000000000000000000" pitchFamily="2" charset="2"/>
              <a:buChar char="q"/>
            </a:pPr>
            <a:r>
              <a:rPr lang="fr-FR" sz="2400" b="1" dirty="0">
                <a:latin typeface="Arial" panose="020B0604020202020204" pitchFamily="34" charset="0"/>
                <a:cs typeface="Arial" panose="020B0604020202020204" pitchFamily="34" charset="0"/>
              </a:rPr>
              <a:t>Les organes de coordination de la mise </a:t>
            </a:r>
            <a:r>
              <a:rPr lang="fr-FR" sz="2400" b="1">
                <a:latin typeface="Arial" panose="020B0604020202020204" pitchFamily="34" charset="0"/>
                <a:cs typeface="Arial" panose="020B0604020202020204" pitchFamily="34" charset="0"/>
              </a:rPr>
              <a:t>en </a:t>
            </a:r>
            <a:r>
              <a:rPr lang="fr-FR" sz="2400" b="1" smtClean="0">
                <a:latin typeface="Arial" panose="020B0604020202020204" pitchFamily="34" charset="0"/>
                <a:cs typeface="Arial" panose="020B0604020202020204" pitchFamily="34" charset="0"/>
              </a:rPr>
              <a:t>œuvre de la PPN</a:t>
            </a:r>
            <a:endParaRPr lang="fr-FR" sz="2400" b="1" dirty="0" smtClean="0">
              <a:latin typeface="Arial" panose="020B0604020202020204" pitchFamily="34" charset="0"/>
              <a:cs typeface="Arial" panose="020B0604020202020204" pitchFamily="34" charset="0"/>
            </a:endParaRPr>
          </a:p>
          <a:p>
            <a:pPr marL="0" indent="0">
              <a:lnSpc>
                <a:spcPct val="150000"/>
              </a:lnSpc>
              <a:buNone/>
            </a:pPr>
            <a:r>
              <a:rPr lang="fr-FR" sz="2400" dirty="0" smtClean="0">
                <a:latin typeface="Arial" panose="020B0604020202020204" pitchFamily="34" charset="0"/>
                <a:cs typeface="Arial" panose="020B0604020202020204" pitchFamily="34" charset="0"/>
              </a:rPr>
              <a:t>Les </a:t>
            </a:r>
            <a:r>
              <a:rPr lang="fr-FR" sz="2400" dirty="0">
                <a:latin typeface="Arial" panose="020B0604020202020204" pitchFamily="34" charset="0"/>
                <a:cs typeface="Arial" panose="020B0604020202020204" pitchFamily="34" charset="0"/>
              </a:rPr>
              <a:t>organes de coordination de la mise en œuvre de la PPN sont </a:t>
            </a:r>
            <a:r>
              <a:rPr lang="fr-FR" sz="2400" dirty="0" smtClean="0">
                <a:latin typeface="Arial" panose="020B0604020202020204" pitchFamily="34" charset="0"/>
                <a:cs typeface="Arial" panose="020B0604020202020204" pitchFamily="34" charset="0"/>
              </a:rPr>
              <a:t>:</a:t>
            </a:r>
          </a:p>
          <a:p>
            <a:pPr marL="0" indent="0">
              <a:lnSpc>
                <a:spcPct val="150000"/>
              </a:lnSpc>
              <a:buNone/>
            </a:pPr>
            <a:endParaRPr lang="fr-FR" sz="2400" dirty="0">
              <a:latin typeface="Arial" panose="020B0604020202020204" pitchFamily="34" charset="0"/>
              <a:cs typeface="Arial" panose="020B0604020202020204" pitchFamily="34" charset="0"/>
            </a:endParaRPr>
          </a:p>
          <a:p>
            <a:pPr lvl="0">
              <a:lnSpc>
                <a:spcPct val="150000"/>
              </a:lnSpc>
            </a:pPr>
            <a:r>
              <a:rPr lang="fr-FR" sz="2400" dirty="0" smtClean="0">
                <a:latin typeface="Arial" panose="020B0604020202020204" pitchFamily="34" charset="0"/>
                <a:cs typeface="Arial" panose="020B0604020202020204" pitchFamily="34" charset="0"/>
              </a:rPr>
              <a:t>Le Comité </a:t>
            </a:r>
            <a:r>
              <a:rPr lang="fr-FR" sz="2400" dirty="0">
                <a:latin typeface="Arial" panose="020B0604020202020204" pitchFamily="34" charset="0"/>
                <a:cs typeface="Arial" panose="020B0604020202020204" pitchFamily="34" charset="0"/>
              </a:rPr>
              <a:t>interministériel de pilotage</a:t>
            </a:r>
          </a:p>
          <a:p>
            <a:pPr lvl="0">
              <a:lnSpc>
                <a:spcPct val="150000"/>
              </a:lnSpc>
            </a:pPr>
            <a:r>
              <a:rPr lang="fr-FR" sz="2400" dirty="0" smtClean="0">
                <a:latin typeface="Arial" panose="020B0604020202020204" pitchFamily="34" charset="0"/>
                <a:cs typeface="Arial" panose="020B0604020202020204" pitchFamily="34" charset="0"/>
              </a:rPr>
              <a:t>Le Comité </a:t>
            </a:r>
            <a:r>
              <a:rPr lang="fr-FR" sz="2400" dirty="0">
                <a:latin typeface="Arial" panose="020B0604020202020204" pitchFamily="34" charset="0"/>
                <a:cs typeface="Arial" panose="020B0604020202020204" pitchFamily="34" charset="0"/>
              </a:rPr>
              <a:t>national technique de suivi de la mise en œuvre la PPN</a:t>
            </a:r>
          </a:p>
          <a:p>
            <a:pPr lvl="0">
              <a:lnSpc>
                <a:spcPct val="150000"/>
              </a:lnSpc>
            </a:pPr>
            <a:r>
              <a:rPr lang="fr-FR" sz="2400" dirty="0" smtClean="0">
                <a:latin typeface="Arial" panose="020B0604020202020204" pitchFamily="34" charset="0"/>
                <a:cs typeface="Arial" panose="020B0604020202020204" pitchFamily="34" charset="0"/>
              </a:rPr>
              <a:t>Le Cadre </a:t>
            </a:r>
            <a:r>
              <a:rPr lang="fr-FR" sz="2400" dirty="0">
                <a:latin typeface="Arial" panose="020B0604020202020204" pitchFamily="34" charset="0"/>
                <a:cs typeface="Arial" panose="020B0604020202020204" pitchFamily="34" charset="0"/>
              </a:rPr>
              <a:t>de concertation des acteurs du secteur pharmaceutique</a:t>
            </a:r>
          </a:p>
          <a:p>
            <a:pPr lvl="0">
              <a:lnSpc>
                <a:spcPct val="150000"/>
              </a:lnSpc>
            </a:pPr>
            <a:r>
              <a:rPr lang="fr-FR" sz="2400" dirty="0" smtClean="0">
                <a:latin typeface="Arial" panose="020B0604020202020204" pitchFamily="34" charset="0"/>
                <a:cs typeface="Arial" panose="020B0604020202020204" pitchFamily="34" charset="0"/>
              </a:rPr>
              <a:t>La Direction </a:t>
            </a:r>
            <a:r>
              <a:rPr lang="fr-FR" sz="2400" dirty="0">
                <a:latin typeface="Arial" panose="020B0604020202020204" pitchFamily="34" charset="0"/>
                <a:cs typeface="Arial" panose="020B0604020202020204" pitchFamily="34" charset="0"/>
              </a:rPr>
              <a:t>chargée de la planification stratégique sur le secteur pharmaceutique.</a:t>
            </a:r>
          </a:p>
          <a:p>
            <a:pPr>
              <a:buFont typeface="Wingdings" panose="05000000000000000000" pitchFamily="2" charset="2"/>
              <a:buChar char="Ø"/>
            </a:pPr>
            <a:endParaRPr lang="fr-FR" sz="2400" dirty="0">
              <a:latin typeface="Arial" panose="020B0604020202020204" pitchFamily="34" charset="0"/>
              <a:cs typeface="Arial" panose="020B0604020202020204" pitchFamily="34" charset="0"/>
            </a:endParaRPr>
          </a:p>
        </p:txBody>
      </p:sp>
      <p:sp>
        <p:nvSpPr>
          <p:cNvPr id="4" name="Rectangle 3"/>
          <p:cNvSpPr/>
          <p:nvPr/>
        </p:nvSpPr>
        <p:spPr>
          <a:xfrm>
            <a:off x="3048000" y="3213557"/>
            <a:ext cx="6096000" cy="369332"/>
          </a:xfrm>
          <a:prstGeom prst="rect">
            <a:avLst/>
          </a:prstGeom>
        </p:spPr>
        <p:txBody>
          <a:bodyPr>
            <a:spAutoFit/>
          </a:bodyPr>
          <a:lstStyle/>
          <a:p>
            <a:endParaRPr lang="fr-FR" dirty="0"/>
          </a:p>
        </p:txBody>
      </p:sp>
    </p:spTree>
    <p:extLst>
      <p:ext uri="{BB962C8B-B14F-4D97-AF65-F5344CB8AC3E}">
        <p14:creationId xmlns:p14="http://schemas.microsoft.com/office/powerpoint/2010/main" val="517917635"/>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786597"/>
            <a:ext cx="11680874" cy="5071403"/>
          </a:xfrm>
        </p:spPr>
        <p:txBody>
          <a:bodyPr>
            <a:normAutofit fontScale="92500"/>
          </a:bodyPr>
          <a:lstStyle/>
          <a:p>
            <a:pPr marL="0" indent="0" algn="ctr">
              <a:lnSpc>
                <a:spcPct val="150000"/>
              </a:lnSpc>
              <a:buNone/>
            </a:pPr>
            <a:r>
              <a:rPr lang="fr-FR" sz="2400" b="1" dirty="0" smtClean="0">
                <a:latin typeface="Arial" panose="020B0604020202020204" pitchFamily="34" charset="0"/>
                <a:cs typeface="Arial" panose="020B0604020202020204" pitchFamily="34" charset="0"/>
              </a:rPr>
              <a:t>COORDINATION DE LA MISE EN OEUVRE DE LA PPN</a:t>
            </a:r>
          </a:p>
          <a:p>
            <a:pPr>
              <a:buFont typeface="Wingdings" panose="05000000000000000000" pitchFamily="2" charset="2"/>
              <a:buChar char="q"/>
            </a:pPr>
            <a:r>
              <a:rPr lang="fr-FR" sz="2400" b="1" dirty="0">
                <a:latin typeface="Arial" panose="020B0604020202020204" pitchFamily="34" charset="0"/>
                <a:cs typeface="Arial" panose="020B0604020202020204" pitchFamily="34" charset="0"/>
              </a:rPr>
              <a:t>Les organes de coordination de la mise en </a:t>
            </a:r>
            <a:r>
              <a:rPr lang="fr-FR" sz="2400" b="1" dirty="0" smtClean="0">
                <a:latin typeface="Arial" panose="020B0604020202020204" pitchFamily="34" charset="0"/>
                <a:cs typeface="Arial" panose="020B0604020202020204" pitchFamily="34" charset="0"/>
              </a:rPr>
              <a:t>œuvre de la PPN</a:t>
            </a:r>
          </a:p>
          <a:p>
            <a:pPr marL="0" indent="0">
              <a:lnSpc>
                <a:spcPct val="150000"/>
              </a:lnSpc>
              <a:buNone/>
            </a:pPr>
            <a:r>
              <a:rPr lang="fr-FR" sz="2400" dirty="0" smtClean="0">
                <a:latin typeface="Arial" panose="020B0604020202020204" pitchFamily="34" charset="0"/>
                <a:cs typeface="Arial" panose="020B0604020202020204" pitchFamily="34" charset="0"/>
              </a:rPr>
              <a:t>Les </a:t>
            </a:r>
            <a:r>
              <a:rPr lang="fr-FR" sz="2400" dirty="0">
                <a:latin typeface="Arial" panose="020B0604020202020204" pitchFamily="34" charset="0"/>
                <a:cs typeface="Arial" panose="020B0604020202020204" pitchFamily="34" charset="0"/>
              </a:rPr>
              <a:t>organes de coordination de la mise en œuvre de la PPN sont </a:t>
            </a:r>
            <a:r>
              <a:rPr lang="fr-FR" sz="2400" dirty="0" smtClean="0">
                <a:latin typeface="Arial" panose="020B0604020202020204" pitchFamily="34" charset="0"/>
                <a:cs typeface="Arial" panose="020B0604020202020204" pitchFamily="34" charset="0"/>
              </a:rPr>
              <a:t>:</a:t>
            </a:r>
          </a:p>
          <a:p>
            <a:pPr marL="0" indent="0">
              <a:lnSpc>
                <a:spcPct val="150000"/>
              </a:lnSpc>
              <a:buNone/>
            </a:pPr>
            <a:endParaRPr lang="fr-FR" sz="2400" b="1" i="1" dirty="0">
              <a:latin typeface="Arial" panose="020B0604020202020204" pitchFamily="34" charset="0"/>
              <a:cs typeface="Arial" panose="020B0604020202020204" pitchFamily="34" charset="0"/>
            </a:endParaRPr>
          </a:p>
          <a:p>
            <a:pPr lvl="0">
              <a:lnSpc>
                <a:spcPct val="150000"/>
              </a:lnSpc>
            </a:pPr>
            <a:r>
              <a:rPr lang="fr-FR" sz="2400" b="1" i="1" dirty="0" smtClean="0">
                <a:latin typeface="Arial" panose="020B0604020202020204" pitchFamily="34" charset="0"/>
                <a:cs typeface="Arial" panose="020B0604020202020204" pitchFamily="34" charset="0"/>
              </a:rPr>
              <a:t>Le Comité </a:t>
            </a:r>
            <a:r>
              <a:rPr lang="fr-FR" sz="2400" b="1" i="1" dirty="0">
                <a:latin typeface="Arial" panose="020B0604020202020204" pitchFamily="34" charset="0"/>
                <a:cs typeface="Arial" panose="020B0604020202020204" pitchFamily="34" charset="0"/>
              </a:rPr>
              <a:t>interministériel de pilotage</a:t>
            </a:r>
          </a:p>
          <a:p>
            <a:pPr lvl="0">
              <a:lnSpc>
                <a:spcPct val="150000"/>
              </a:lnSpc>
            </a:pPr>
            <a:r>
              <a:rPr lang="fr-FR" sz="2400" b="1" i="1" dirty="0" smtClean="0">
                <a:latin typeface="Arial" panose="020B0604020202020204" pitchFamily="34" charset="0"/>
                <a:cs typeface="Arial" panose="020B0604020202020204" pitchFamily="34" charset="0"/>
              </a:rPr>
              <a:t>Le Comité </a:t>
            </a:r>
            <a:r>
              <a:rPr lang="fr-FR" sz="2400" b="1" i="1" dirty="0">
                <a:latin typeface="Arial" panose="020B0604020202020204" pitchFamily="34" charset="0"/>
                <a:cs typeface="Arial" panose="020B0604020202020204" pitchFamily="34" charset="0"/>
              </a:rPr>
              <a:t>national technique de suivi de la mise en œuvre la PPN</a:t>
            </a:r>
          </a:p>
          <a:p>
            <a:pPr lvl="0">
              <a:lnSpc>
                <a:spcPct val="150000"/>
              </a:lnSpc>
            </a:pPr>
            <a:r>
              <a:rPr lang="fr-FR" sz="2400" b="1" i="1" dirty="0" smtClean="0">
                <a:latin typeface="Arial" panose="020B0604020202020204" pitchFamily="34" charset="0"/>
                <a:cs typeface="Arial" panose="020B0604020202020204" pitchFamily="34" charset="0"/>
              </a:rPr>
              <a:t>Le Cadre </a:t>
            </a:r>
            <a:r>
              <a:rPr lang="fr-FR" sz="2400" b="1" i="1" dirty="0">
                <a:latin typeface="Arial" panose="020B0604020202020204" pitchFamily="34" charset="0"/>
                <a:cs typeface="Arial" panose="020B0604020202020204" pitchFamily="34" charset="0"/>
              </a:rPr>
              <a:t>de concertation des acteurs du secteur pharmaceutique</a:t>
            </a:r>
          </a:p>
          <a:p>
            <a:pPr lvl="0">
              <a:lnSpc>
                <a:spcPct val="150000"/>
              </a:lnSpc>
            </a:pPr>
            <a:r>
              <a:rPr lang="fr-FR" sz="2400" b="1" i="1" dirty="0" smtClean="0">
                <a:latin typeface="Arial" panose="020B0604020202020204" pitchFamily="34" charset="0"/>
                <a:cs typeface="Arial" panose="020B0604020202020204" pitchFamily="34" charset="0"/>
              </a:rPr>
              <a:t>La Direction </a:t>
            </a:r>
            <a:r>
              <a:rPr lang="fr-FR" sz="2400" b="1" i="1" dirty="0">
                <a:latin typeface="Arial" panose="020B0604020202020204" pitchFamily="34" charset="0"/>
                <a:cs typeface="Arial" panose="020B0604020202020204" pitchFamily="34" charset="0"/>
              </a:rPr>
              <a:t>chargée de la planification stratégique sur le secteur pharmaceutique</a:t>
            </a:r>
            <a:r>
              <a:rPr lang="fr-FR" sz="2400" dirty="0">
                <a:latin typeface="Arial" panose="020B0604020202020204" pitchFamily="34" charset="0"/>
                <a:cs typeface="Arial" panose="020B0604020202020204" pitchFamily="34" charset="0"/>
              </a:rPr>
              <a:t>.</a:t>
            </a:r>
          </a:p>
          <a:p>
            <a:pPr>
              <a:buFont typeface="Wingdings" panose="05000000000000000000" pitchFamily="2" charset="2"/>
              <a:buChar char="Ø"/>
            </a:pPr>
            <a:endParaRPr lang="fr-FR" sz="2400" dirty="0">
              <a:latin typeface="Arial" panose="020B0604020202020204" pitchFamily="34" charset="0"/>
              <a:cs typeface="Arial" panose="020B0604020202020204" pitchFamily="34" charset="0"/>
            </a:endParaRPr>
          </a:p>
        </p:txBody>
      </p:sp>
      <p:sp>
        <p:nvSpPr>
          <p:cNvPr id="4" name="Rectangle 3"/>
          <p:cNvSpPr/>
          <p:nvPr/>
        </p:nvSpPr>
        <p:spPr>
          <a:xfrm>
            <a:off x="3048000" y="3213557"/>
            <a:ext cx="6096000" cy="369332"/>
          </a:xfrm>
          <a:prstGeom prst="rect">
            <a:avLst/>
          </a:prstGeom>
        </p:spPr>
        <p:txBody>
          <a:bodyPr>
            <a:spAutoFit/>
          </a:bodyPr>
          <a:lstStyle/>
          <a:p>
            <a:endParaRPr lang="fr-FR" dirty="0"/>
          </a:p>
        </p:txBody>
      </p:sp>
    </p:spTree>
    <p:extLst>
      <p:ext uri="{BB962C8B-B14F-4D97-AF65-F5344CB8AC3E}">
        <p14:creationId xmlns:p14="http://schemas.microsoft.com/office/powerpoint/2010/main" val="2470829647"/>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351691" y="1519311"/>
            <a:ext cx="11577711" cy="5338689"/>
          </a:xfrm>
        </p:spPr>
        <p:txBody>
          <a:bodyPr>
            <a:normAutofit/>
          </a:bodyPr>
          <a:lstStyle/>
          <a:p>
            <a:pPr marL="0" indent="0" algn="ctr">
              <a:lnSpc>
                <a:spcPct val="150000"/>
              </a:lnSpc>
              <a:buNone/>
            </a:pPr>
            <a:r>
              <a:rPr lang="fr-FR" sz="2400" b="1" dirty="0" smtClean="0">
                <a:latin typeface="Arial" panose="020B0604020202020204" pitchFamily="34" charset="0"/>
                <a:cs typeface="Arial" panose="020B0604020202020204" pitchFamily="34" charset="0"/>
              </a:rPr>
              <a:t>COORDINATION DE LA MISE EN OEUVRE DE LA PPN</a:t>
            </a:r>
          </a:p>
          <a:p>
            <a:pPr lvl="0">
              <a:buFont typeface="Wingdings" panose="05000000000000000000" pitchFamily="2" charset="2"/>
              <a:buChar char="q"/>
            </a:pPr>
            <a:r>
              <a:rPr lang="fr-FR" sz="2400" dirty="0" smtClean="0">
                <a:latin typeface="Arial" panose="020B0604020202020204" pitchFamily="34" charset="0"/>
                <a:cs typeface="Arial" panose="020B0604020202020204" pitchFamily="34" charset="0"/>
              </a:rPr>
              <a:t>.</a:t>
            </a:r>
            <a:r>
              <a:rPr lang="fr-FR" sz="2400" b="1" i="1" dirty="0">
                <a:latin typeface="Arial" panose="020B0604020202020204" pitchFamily="34" charset="0"/>
                <a:cs typeface="Arial" panose="020B0604020202020204" pitchFamily="34" charset="0"/>
              </a:rPr>
              <a:t> Le Comité interministériel de </a:t>
            </a:r>
            <a:r>
              <a:rPr lang="fr-FR" sz="2400" b="1" i="1" dirty="0" smtClean="0">
                <a:latin typeface="Arial" panose="020B0604020202020204" pitchFamily="34" charset="0"/>
                <a:cs typeface="Arial" panose="020B0604020202020204" pitchFamily="34" charset="0"/>
              </a:rPr>
              <a:t>pilotage composition</a:t>
            </a:r>
            <a:endParaRPr lang="fr-FR" sz="2400" b="1" i="1" dirty="0">
              <a:latin typeface="Arial" panose="020B0604020202020204" pitchFamily="34" charset="0"/>
              <a:cs typeface="Arial" panose="020B0604020202020204" pitchFamily="34" charset="0"/>
            </a:endParaRPr>
          </a:p>
          <a:p>
            <a:pPr marL="0" indent="0">
              <a:buNone/>
            </a:pPr>
            <a:r>
              <a:rPr lang="fr-FR" sz="2000" dirty="0" smtClean="0">
                <a:latin typeface="Arial" panose="020B0604020202020204" pitchFamily="34" charset="0"/>
                <a:cs typeface="Arial" panose="020B0604020202020204" pitchFamily="34" charset="0"/>
              </a:rPr>
              <a:t>ministères </a:t>
            </a:r>
            <a:r>
              <a:rPr lang="fr-FR" sz="2000" dirty="0">
                <a:latin typeface="Arial" panose="020B0604020202020204" pitchFamily="34" charset="0"/>
                <a:cs typeface="Arial" panose="020B0604020202020204" pitchFamily="34" charset="0"/>
              </a:rPr>
              <a:t>en </a:t>
            </a:r>
            <a:r>
              <a:rPr lang="fr-FR" sz="2000" dirty="0" smtClean="0">
                <a:latin typeface="Arial" panose="020B0604020202020204" pitchFamily="34" charset="0"/>
                <a:cs typeface="Arial" panose="020B0604020202020204" pitchFamily="34" charset="0"/>
              </a:rPr>
              <a:t>charge :</a:t>
            </a:r>
            <a:endParaRPr lang="fr-FR" sz="2000" dirty="0">
              <a:latin typeface="Arial" panose="020B0604020202020204" pitchFamily="34" charset="0"/>
              <a:cs typeface="Arial" panose="020B0604020202020204" pitchFamily="34" charset="0"/>
            </a:endParaRPr>
          </a:p>
          <a:p>
            <a:pPr>
              <a:buFont typeface="Wingdings" panose="05000000000000000000" pitchFamily="2" charset="2"/>
              <a:buChar char="ü"/>
            </a:pPr>
            <a:r>
              <a:rPr lang="fr-FR" sz="2000" dirty="0" smtClean="0">
                <a:latin typeface="Arial" panose="020B0604020202020204" pitchFamily="34" charset="0"/>
                <a:cs typeface="Arial" panose="020B0604020202020204" pitchFamily="34" charset="0"/>
              </a:rPr>
              <a:t>de </a:t>
            </a:r>
            <a:r>
              <a:rPr lang="fr-FR" sz="2000" dirty="0">
                <a:latin typeface="Arial" panose="020B0604020202020204" pitchFamily="34" charset="0"/>
                <a:cs typeface="Arial" panose="020B0604020202020204" pitchFamily="34" charset="0"/>
              </a:rPr>
              <a:t>la </a:t>
            </a:r>
            <a:r>
              <a:rPr lang="fr-FR" sz="2000" dirty="0" smtClean="0">
                <a:latin typeface="Arial" panose="020B0604020202020204" pitchFamily="34" charset="0"/>
                <a:cs typeface="Arial" panose="020B0604020202020204" pitchFamily="34" charset="0"/>
              </a:rPr>
              <a:t>santé;</a:t>
            </a:r>
          </a:p>
          <a:p>
            <a:pPr>
              <a:buFont typeface="Wingdings" panose="05000000000000000000" pitchFamily="2" charset="2"/>
              <a:buChar char="ü"/>
            </a:pPr>
            <a:r>
              <a:rPr lang="fr-FR" sz="2000" dirty="0" smtClean="0">
                <a:latin typeface="Arial" panose="020B0604020202020204" pitchFamily="34" charset="0"/>
                <a:cs typeface="Arial" panose="020B0604020202020204" pitchFamily="34" charset="0"/>
              </a:rPr>
              <a:t>du </a:t>
            </a:r>
            <a:r>
              <a:rPr lang="fr-FR" sz="2000" dirty="0">
                <a:latin typeface="Arial" panose="020B0604020202020204" pitchFamily="34" charset="0"/>
                <a:cs typeface="Arial" panose="020B0604020202020204" pitchFamily="34" charset="0"/>
              </a:rPr>
              <a:t>plan et du </a:t>
            </a:r>
            <a:r>
              <a:rPr lang="fr-FR" sz="2000" dirty="0" smtClean="0">
                <a:latin typeface="Arial" panose="020B0604020202020204" pitchFamily="34" charset="0"/>
                <a:cs typeface="Arial" panose="020B0604020202020204" pitchFamily="34" charset="0"/>
              </a:rPr>
              <a:t>développement;</a:t>
            </a:r>
          </a:p>
          <a:p>
            <a:pPr>
              <a:buFont typeface="Wingdings" panose="05000000000000000000" pitchFamily="2" charset="2"/>
              <a:buChar char="ü"/>
            </a:pPr>
            <a:r>
              <a:rPr lang="fr-FR" sz="2000" dirty="0" smtClean="0">
                <a:latin typeface="Arial" panose="020B0604020202020204" pitchFamily="34" charset="0"/>
                <a:cs typeface="Arial" panose="020B0604020202020204" pitchFamily="34" charset="0"/>
              </a:rPr>
              <a:t>de </a:t>
            </a:r>
            <a:r>
              <a:rPr lang="fr-FR" sz="2000" dirty="0">
                <a:latin typeface="Arial" panose="020B0604020202020204" pitchFamily="34" charset="0"/>
                <a:cs typeface="Arial" panose="020B0604020202020204" pitchFamily="34" charset="0"/>
              </a:rPr>
              <a:t>l’industrie, du </a:t>
            </a:r>
            <a:r>
              <a:rPr lang="fr-FR" sz="2000" dirty="0" smtClean="0">
                <a:latin typeface="Arial" panose="020B0604020202020204" pitchFamily="34" charset="0"/>
                <a:cs typeface="Arial" panose="020B0604020202020204" pitchFamily="34" charset="0"/>
              </a:rPr>
              <a:t>commerce</a:t>
            </a:r>
            <a:r>
              <a:rPr lang="fr-FR" sz="2000" dirty="0">
                <a:latin typeface="Arial" panose="020B0604020202020204" pitchFamily="34" charset="0"/>
                <a:cs typeface="Arial" panose="020B0604020202020204" pitchFamily="34" charset="0"/>
              </a:rPr>
              <a:t>;</a:t>
            </a:r>
            <a:endParaRPr lang="fr-FR" sz="2000" dirty="0" smtClean="0">
              <a:latin typeface="Arial" panose="020B0604020202020204" pitchFamily="34" charset="0"/>
              <a:cs typeface="Arial" panose="020B0604020202020204" pitchFamily="34" charset="0"/>
            </a:endParaRPr>
          </a:p>
          <a:p>
            <a:pPr>
              <a:buFont typeface="Wingdings" panose="05000000000000000000" pitchFamily="2" charset="2"/>
              <a:buChar char="ü"/>
            </a:pPr>
            <a:r>
              <a:rPr lang="fr-FR" sz="2000" dirty="0" smtClean="0">
                <a:latin typeface="Arial" panose="020B0604020202020204" pitchFamily="34" charset="0"/>
                <a:cs typeface="Arial" panose="020B0604020202020204" pitchFamily="34" charset="0"/>
              </a:rPr>
              <a:t>de </a:t>
            </a:r>
            <a:r>
              <a:rPr lang="fr-FR" sz="2000" dirty="0">
                <a:latin typeface="Arial" panose="020B0604020202020204" pitchFamily="34" charset="0"/>
                <a:cs typeface="Arial" panose="020B0604020202020204" pitchFamily="34" charset="0"/>
              </a:rPr>
              <a:t>la promotion des </a:t>
            </a:r>
            <a:r>
              <a:rPr lang="fr-FR" sz="2000" dirty="0" smtClean="0">
                <a:latin typeface="Arial" panose="020B0604020202020204" pitchFamily="34" charset="0"/>
                <a:cs typeface="Arial" panose="020B0604020202020204" pitchFamily="34" charset="0"/>
              </a:rPr>
              <a:t>investissements</a:t>
            </a:r>
            <a:r>
              <a:rPr lang="fr-FR" sz="2000" dirty="0">
                <a:latin typeface="Arial" panose="020B0604020202020204" pitchFamily="34" charset="0"/>
                <a:cs typeface="Arial" panose="020B0604020202020204" pitchFamily="34" charset="0"/>
              </a:rPr>
              <a:t>;</a:t>
            </a:r>
            <a:endParaRPr lang="fr-FR" sz="2000" dirty="0" smtClean="0">
              <a:latin typeface="Arial" panose="020B0604020202020204" pitchFamily="34" charset="0"/>
              <a:cs typeface="Arial" panose="020B0604020202020204" pitchFamily="34" charset="0"/>
            </a:endParaRPr>
          </a:p>
          <a:p>
            <a:pPr>
              <a:buFont typeface="Wingdings" panose="05000000000000000000" pitchFamily="2" charset="2"/>
              <a:buChar char="ü"/>
            </a:pPr>
            <a:r>
              <a:rPr lang="fr-FR" sz="2000" dirty="0" smtClean="0">
                <a:latin typeface="Arial" panose="020B0604020202020204" pitchFamily="34" charset="0"/>
                <a:cs typeface="Arial" panose="020B0604020202020204" pitchFamily="34" charset="0"/>
              </a:rPr>
              <a:t>de </a:t>
            </a:r>
            <a:r>
              <a:rPr lang="fr-FR" sz="2000" dirty="0">
                <a:latin typeface="Arial" panose="020B0604020202020204" pitchFamily="34" charset="0"/>
                <a:cs typeface="Arial" panose="020B0604020202020204" pitchFamily="34" charset="0"/>
              </a:rPr>
              <a:t>l’économie et des </a:t>
            </a:r>
            <a:r>
              <a:rPr lang="fr-FR" sz="2000" dirty="0" smtClean="0">
                <a:latin typeface="Arial" panose="020B0604020202020204" pitchFamily="34" charset="0"/>
                <a:cs typeface="Arial" panose="020B0604020202020204" pitchFamily="34" charset="0"/>
              </a:rPr>
              <a:t>finances</a:t>
            </a:r>
            <a:r>
              <a:rPr lang="fr-FR" sz="2000" dirty="0">
                <a:latin typeface="Arial" panose="020B0604020202020204" pitchFamily="34" charset="0"/>
                <a:cs typeface="Arial" panose="020B0604020202020204" pitchFamily="34" charset="0"/>
              </a:rPr>
              <a:t>;</a:t>
            </a:r>
            <a:endParaRPr lang="fr-FR" sz="2000" dirty="0" smtClean="0">
              <a:latin typeface="Arial" panose="020B0604020202020204" pitchFamily="34" charset="0"/>
              <a:cs typeface="Arial" panose="020B0604020202020204" pitchFamily="34" charset="0"/>
            </a:endParaRPr>
          </a:p>
          <a:p>
            <a:pPr>
              <a:buFont typeface="Wingdings" panose="05000000000000000000" pitchFamily="2" charset="2"/>
              <a:buChar char="ü"/>
            </a:pPr>
            <a:r>
              <a:rPr lang="fr-FR" sz="2000" dirty="0" smtClean="0">
                <a:latin typeface="Arial" panose="020B0604020202020204" pitchFamily="34" charset="0"/>
                <a:cs typeface="Arial" panose="020B0604020202020204" pitchFamily="34" charset="0"/>
              </a:rPr>
              <a:t>de </a:t>
            </a:r>
            <a:r>
              <a:rPr lang="fr-FR" sz="2000" dirty="0">
                <a:latin typeface="Arial" panose="020B0604020202020204" pitchFamily="34" charset="0"/>
                <a:cs typeface="Arial" panose="020B0604020202020204" pitchFamily="34" charset="0"/>
              </a:rPr>
              <a:t>l’environnement et de </a:t>
            </a:r>
            <a:r>
              <a:rPr lang="fr-FR" sz="2000" dirty="0" smtClean="0">
                <a:latin typeface="Arial" panose="020B0604020202020204" pitchFamily="34" charset="0"/>
                <a:cs typeface="Arial" panose="020B0604020202020204" pitchFamily="34" charset="0"/>
              </a:rPr>
              <a:t>l’assainissement</a:t>
            </a:r>
            <a:r>
              <a:rPr lang="fr-FR" sz="2000" dirty="0">
                <a:latin typeface="Arial" panose="020B0604020202020204" pitchFamily="34" charset="0"/>
                <a:cs typeface="Arial" panose="020B0604020202020204" pitchFamily="34" charset="0"/>
              </a:rPr>
              <a:t>;</a:t>
            </a:r>
            <a:endParaRPr lang="fr-FR" sz="2000" dirty="0" smtClean="0">
              <a:latin typeface="Arial" panose="020B0604020202020204" pitchFamily="34" charset="0"/>
              <a:cs typeface="Arial" panose="020B0604020202020204" pitchFamily="34" charset="0"/>
            </a:endParaRPr>
          </a:p>
          <a:p>
            <a:pPr>
              <a:buFont typeface="Wingdings" panose="05000000000000000000" pitchFamily="2" charset="2"/>
              <a:buChar char="ü"/>
            </a:pPr>
            <a:r>
              <a:rPr lang="fr-FR" sz="2000" dirty="0" smtClean="0">
                <a:latin typeface="Arial" panose="020B0604020202020204" pitchFamily="34" charset="0"/>
                <a:cs typeface="Arial" panose="020B0604020202020204" pitchFamily="34" charset="0"/>
              </a:rPr>
              <a:t>de l’agriculture</a:t>
            </a:r>
            <a:r>
              <a:rPr lang="fr-FR" sz="2000" dirty="0">
                <a:latin typeface="Arial" panose="020B0604020202020204" pitchFamily="34" charset="0"/>
                <a:cs typeface="Arial" panose="020B0604020202020204" pitchFamily="34" charset="0"/>
              </a:rPr>
              <a:t>;</a:t>
            </a:r>
            <a:endParaRPr lang="fr-FR" sz="2000" dirty="0" smtClean="0">
              <a:latin typeface="Arial" panose="020B0604020202020204" pitchFamily="34" charset="0"/>
              <a:cs typeface="Arial" panose="020B0604020202020204" pitchFamily="34" charset="0"/>
            </a:endParaRPr>
          </a:p>
          <a:p>
            <a:pPr>
              <a:buFont typeface="Wingdings" panose="05000000000000000000" pitchFamily="2" charset="2"/>
              <a:buChar char="ü"/>
            </a:pPr>
            <a:r>
              <a:rPr lang="fr-FR" sz="2000" dirty="0" smtClean="0">
                <a:latin typeface="Arial" panose="020B0604020202020204" pitchFamily="34" charset="0"/>
                <a:cs typeface="Arial" panose="020B0604020202020204" pitchFamily="34" charset="0"/>
              </a:rPr>
              <a:t>de </a:t>
            </a:r>
            <a:r>
              <a:rPr lang="fr-FR" sz="2000" dirty="0">
                <a:latin typeface="Arial" panose="020B0604020202020204" pitchFamily="34" charset="0"/>
                <a:cs typeface="Arial" panose="020B0604020202020204" pitchFamily="34" charset="0"/>
              </a:rPr>
              <a:t>la </a:t>
            </a:r>
            <a:r>
              <a:rPr lang="fr-FR" sz="2000" dirty="0" smtClean="0">
                <a:latin typeface="Arial" panose="020B0604020202020204" pitchFamily="34" charset="0"/>
                <a:cs typeface="Arial" panose="020B0604020202020204" pitchFamily="34" charset="0"/>
              </a:rPr>
              <a:t>sécurité</a:t>
            </a:r>
            <a:r>
              <a:rPr lang="fr-FR" sz="2000" dirty="0">
                <a:latin typeface="Arial" panose="020B0604020202020204" pitchFamily="34" charset="0"/>
                <a:cs typeface="Arial" panose="020B0604020202020204" pitchFamily="34" charset="0"/>
              </a:rPr>
              <a:t>;</a:t>
            </a:r>
            <a:endParaRPr lang="fr-FR" sz="2000" dirty="0" smtClean="0">
              <a:latin typeface="Arial" panose="020B0604020202020204" pitchFamily="34" charset="0"/>
              <a:cs typeface="Arial" panose="020B0604020202020204" pitchFamily="34" charset="0"/>
            </a:endParaRPr>
          </a:p>
          <a:p>
            <a:pPr>
              <a:buFont typeface="Wingdings" panose="05000000000000000000" pitchFamily="2" charset="2"/>
              <a:buChar char="ü"/>
            </a:pPr>
            <a:r>
              <a:rPr lang="fr-FR" sz="2000" dirty="0" smtClean="0">
                <a:latin typeface="Arial" panose="020B0604020202020204" pitchFamily="34" charset="0"/>
                <a:cs typeface="Arial" panose="020B0604020202020204" pitchFamily="34" charset="0"/>
              </a:rPr>
              <a:t>des </a:t>
            </a:r>
            <a:r>
              <a:rPr lang="fr-FR" sz="2000" dirty="0">
                <a:latin typeface="Arial" panose="020B0604020202020204" pitchFamily="34" charset="0"/>
                <a:cs typeface="Arial" panose="020B0604020202020204" pitchFamily="34" charset="0"/>
              </a:rPr>
              <a:t>affaires sociales.</a:t>
            </a:r>
          </a:p>
          <a:p>
            <a:pPr>
              <a:buFont typeface="Wingdings" panose="05000000000000000000" pitchFamily="2" charset="2"/>
              <a:buChar char="ü"/>
            </a:pPr>
            <a:endParaRPr lang="fr-FR" sz="2400" dirty="0">
              <a:latin typeface="Arial" panose="020B0604020202020204" pitchFamily="34" charset="0"/>
              <a:cs typeface="Arial" panose="020B0604020202020204" pitchFamily="34" charset="0"/>
            </a:endParaRPr>
          </a:p>
        </p:txBody>
      </p:sp>
      <p:sp>
        <p:nvSpPr>
          <p:cNvPr id="4" name="Rectangle 3"/>
          <p:cNvSpPr/>
          <p:nvPr/>
        </p:nvSpPr>
        <p:spPr>
          <a:xfrm>
            <a:off x="3048000" y="3213557"/>
            <a:ext cx="6096000" cy="369332"/>
          </a:xfrm>
          <a:prstGeom prst="rect">
            <a:avLst/>
          </a:prstGeom>
        </p:spPr>
        <p:txBody>
          <a:bodyPr>
            <a:spAutoFit/>
          </a:bodyPr>
          <a:lstStyle/>
          <a:p>
            <a:endParaRPr lang="fr-FR" dirty="0"/>
          </a:p>
        </p:txBody>
      </p:sp>
    </p:spTree>
    <p:extLst>
      <p:ext uri="{BB962C8B-B14F-4D97-AF65-F5344CB8AC3E}">
        <p14:creationId xmlns:p14="http://schemas.microsoft.com/office/powerpoint/2010/main" val="2417187649"/>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351691" y="1519311"/>
            <a:ext cx="11577711" cy="5338689"/>
          </a:xfrm>
        </p:spPr>
        <p:txBody>
          <a:bodyPr>
            <a:normAutofit/>
          </a:bodyPr>
          <a:lstStyle/>
          <a:p>
            <a:pPr marL="0" indent="0" algn="ctr">
              <a:lnSpc>
                <a:spcPct val="150000"/>
              </a:lnSpc>
              <a:buNone/>
            </a:pPr>
            <a:r>
              <a:rPr lang="fr-FR" sz="2400" b="1" dirty="0" smtClean="0">
                <a:latin typeface="Arial" panose="020B0604020202020204" pitchFamily="34" charset="0"/>
                <a:cs typeface="Arial" panose="020B0604020202020204" pitchFamily="34" charset="0"/>
              </a:rPr>
              <a:t>COORDINATION DE LA MISE EN OEUVRE DE LA PPN</a:t>
            </a:r>
          </a:p>
          <a:p>
            <a:pPr lvl="0">
              <a:buFont typeface="Wingdings" panose="05000000000000000000" pitchFamily="2" charset="2"/>
              <a:buChar char="q"/>
            </a:pPr>
            <a:r>
              <a:rPr lang="fr-FR" sz="2400" dirty="0" smtClean="0">
                <a:latin typeface="Arial" panose="020B0604020202020204" pitchFamily="34" charset="0"/>
                <a:cs typeface="Arial" panose="020B0604020202020204" pitchFamily="34" charset="0"/>
              </a:rPr>
              <a:t>.</a:t>
            </a:r>
            <a:r>
              <a:rPr lang="fr-FR" sz="2400" b="1" i="1" dirty="0">
                <a:latin typeface="Arial" panose="020B0604020202020204" pitchFamily="34" charset="0"/>
                <a:cs typeface="Arial" panose="020B0604020202020204" pitchFamily="34" charset="0"/>
              </a:rPr>
              <a:t> </a:t>
            </a:r>
            <a:r>
              <a:rPr lang="fr-FR" sz="2400" b="1" i="1" dirty="0" smtClean="0">
                <a:latin typeface="Arial" panose="020B0604020202020204" pitchFamily="34" charset="0"/>
                <a:cs typeface="Arial" panose="020B0604020202020204" pitchFamily="34" charset="0"/>
              </a:rPr>
              <a:t>Le Comité </a:t>
            </a:r>
            <a:r>
              <a:rPr lang="fr-FR" sz="2400" b="1" i="1" dirty="0">
                <a:latin typeface="Arial" panose="020B0604020202020204" pitchFamily="34" charset="0"/>
                <a:cs typeface="Arial" panose="020B0604020202020204" pitchFamily="34" charset="0"/>
              </a:rPr>
              <a:t>national technique de suivi de la mise en œuvre la PPN </a:t>
            </a:r>
            <a:endParaRPr lang="fr-FR" sz="2400" b="1" i="1" dirty="0" smtClean="0">
              <a:latin typeface="Arial" panose="020B0604020202020204" pitchFamily="34" charset="0"/>
              <a:cs typeface="Arial" panose="020B0604020202020204" pitchFamily="34" charset="0"/>
            </a:endParaRPr>
          </a:p>
          <a:p>
            <a:pPr marL="0" lvl="0" indent="0">
              <a:buNone/>
            </a:pPr>
            <a:endParaRPr lang="fr-FR" sz="2400" b="1" i="1" dirty="0">
              <a:latin typeface="Arial" panose="020B0604020202020204" pitchFamily="34" charset="0"/>
              <a:cs typeface="Arial" panose="020B0604020202020204" pitchFamily="34" charset="0"/>
            </a:endParaRPr>
          </a:p>
          <a:p>
            <a:pPr>
              <a:buFont typeface="Wingdings" panose="05000000000000000000" pitchFamily="2" charset="2"/>
              <a:buChar char="ü"/>
            </a:pPr>
            <a:r>
              <a:rPr lang="fr-FR" sz="2400" b="1" dirty="0" smtClean="0">
                <a:latin typeface="Arial" panose="020B0604020202020204" pitchFamily="34" charset="0"/>
                <a:cs typeface="Arial" panose="020B0604020202020204" pitchFamily="34" charset="0"/>
              </a:rPr>
              <a:t>Président</a:t>
            </a:r>
            <a:r>
              <a:rPr lang="fr-FR" sz="2400" dirty="0" smtClean="0">
                <a:latin typeface="Arial" panose="020B0604020202020204" pitchFamily="34" charset="0"/>
                <a:cs typeface="Arial" panose="020B0604020202020204" pitchFamily="34" charset="0"/>
              </a:rPr>
              <a:t> : Ministre en charge de la santé</a:t>
            </a:r>
          </a:p>
          <a:p>
            <a:pPr>
              <a:lnSpc>
                <a:spcPct val="150000"/>
              </a:lnSpc>
              <a:buFont typeface="Wingdings" panose="05000000000000000000" pitchFamily="2" charset="2"/>
              <a:buChar char="ü"/>
            </a:pPr>
            <a:r>
              <a:rPr lang="fr-FR" sz="2400" b="1" dirty="0" smtClean="0">
                <a:latin typeface="Arial" panose="020B0604020202020204" pitchFamily="34" charset="0"/>
                <a:cs typeface="Arial" panose="020B0604020202020204" pitchFamily="34" charset="0"/>
              </a:rPr>
              <a:t>Secrétariat</a:t>
            </a:r>
            <a:r>
              <a:rPr lang="fr-FR" sz="2400" dirty="0" smtClean="0">
                <a:latin typeface="Arial" panose="020B0604020202020204" pitchFamily="34" charset="0"/>
                <a:cs typeface="Arial" panose="020B0604020202020204" pitchFamily="34" charset="0"/>
              </a:rPr>
              <a:t> : </a:t>
            </a:r>
            <a:r>
              <a:rPr lang="fr-FR" sz="2400" dirty="0">
                <a:latin typeface="Arial" panose="020B0604020202020204" pitchFamily="34" charset="0"/>
                <a:cs typeface="Arial" panose="020B0604020202020204" pitchFamily="34" charset="0"/>
              </a:rPr>
              <a:t>Direction Générale de la Santé (DGS) assistée de la Direction en charge de la planification stratégique sur le secteur </a:t>
            </a:r>
            <a:r>
              <a:rPr lang="fr-FR" sz="2400" dirty="0" smtClean="0">
                <a:latin typeface="Arial" panose="020B0604020202020204" pitchFamily="34" charset="0"/>
                <a:cs typeface="Arial" panose="020B0604020202020204" pitchFamily="34" charset="0"/>
              </a:rPr>
              <a:t>pharmaceutique</a:t>
            </a:r>
          </a:p>
          <a:p>
            <a:pPr>
              <a:lnSpc>
                <a:spcPct val="150000"/>
              </a:lnSpc>
              <a:buFont typeface="Wingdings" panose="05000000000000000000" pitchFamily="2" charset="2"/>
              <a:buChar char="ü"/>
            </a:pPr>
            <a:r>
              <a:rPr lang="fr-FR" sz="2400" b="1" dirty="0" smtClean="0">
                <a:latin typeface="Arial" panose="020B0604020202020204" pitchFamily="34" charset="0"/>
                <a:cs typeface="Arial" panose="020B0604020202020204" pitchFamily="34" charset="0"/>
              </a:rPr>
              <a:t>sous-comités </a:t>
            </a:r>
            <a:r>
              <a:rPr lang="fr-FR" sz="2400" b="1" dirty="0">
                <a:latin typeface="Arial" panose="020B0604020202020204" pitchFamily="34" charset="0"/>
                <a:cs typeface="Arial" panose="020B0604020202020204" pitchFamily="34" charset="0"/>
              </a:rPr>
              <a:t>techniques </a:t>
            </a:r>
            <a:r>
              <a:rPr lang="fr-FR" sz="2400" dirty="0">
                <a:latin typeface="Arial" panose="020B0604020202020204" pitchFamily="34" charset="0"/>
                <a:cs typeface="Arial" panose="020B0604020202020204" pitchFamily="34" charset="0"/>
              </a:rPr>
              <a:t>: </a:t>
            </a:r>
            <a:r>
              <a:rPr lang="fr-FR" sz="2400" dirty="0" smtClean="0">
                <a:latin typeface="Arial" panose="020B0604020202020204" pitchFamily="34" charset="0"/>
                <a:cs typeface="Arial" panose="020B0604020202020204" pitchFamily="34" charset="0"/>
              </a:rPr>
              <a:t>Six (</a:t>
            </a:r>
            <a:r>
              <a:rPr lang="fr-FR" sz="2400" b="1" dirty="0" smtClean="0">
                <a:latin typeface="Arial" panose="020B0604020202020204" pitchFamily="34" charset="0"/>
                <a:cs typeface="Arial" panose="020B0604020202020204" pitchFamily="34" charset="0"/>
              </a:rPr>
              <a:t>06</a:t>
            </a:r>
            <a:r>
              <a:rPr lang="fr-FR" sz="2400" dirty="0" smtClean="0">
                <a:latin typeface="Arial" panose="020B0604020202020204" pitchFamily="34" charset="0"/>
                <a:cs typeface="Arial" panose="020B0604020202020204" pitchFamily="34" charset="0"/>
              </a:rPr>
              <a:t>) dont cinq </a:t>
            </a:r>
            <a:r>
              <a:rPr lang="fr-FR" sz="2400" dirty="0">
                <a:latin typeface="Arial" panose="020B0604020202020204" pitchFamily="34" charset="0"/>
                <a:cs typeface="Arial" panose="020B0604020202020204" pitchFamily="34" charset="0"/>
              </a:rPr>
              <a:t>(05) pour les composantes pharmaceutiques arrimées aux 05 objectifs de la PPN et un (</a:t>
            </a:r>
            <a:r>
              <a:rPr lang="fr-FR" sz="2400" b="1" dirty="0">
                <a:latin typeface="Arial" panose="020B0604020202020204" pitchFamily="34" charset="0"/>
                <a:cs typeface="Arial" panose="020B0604020202020204" pitchFamily="34" charset="0"/>
              </a:rPr>
              <a:t>01</a:t>
            </a:r>
            <a:r>
              <a:rPr lang="fr-FR" sz="2400" dirty="0">
                <a:latin typeface="Arial" panose="020B0604020202020204" pitchFamily="34" charset="0"/>
                <a:cs typeface="Arial" panose="020B0604020202020204" pitchFamily="34" charset="0"/>
              </a:rPr>
              <a:t>) sous-comité spécifique au suivi de la mise en œuvre de la PPN.</a:t>
            </a:r>
          </a:p>
          <a:p>
            <a:pPr>
              <a:lnSpc>
                <a:spcPct val="150000"/>
              </a:lnSpc>
              <a:buFont typeface="Wingdings" panose="05000000000000000000" pitchFamily="2" charset="2"/>
              <a:buChar char="ü"/>
            </a:pPr>
            <a:endParaRPr lang="fr-FR" sz="2400" dirty="0">
              <a:latin typeface="Arial" panose="020B0604020202020204" pitchFamily="34" charset="0"/>
              <a:cs typeface="Arial" panose="020B0604020202020204" pitchFamily="34" charset="0"/>
            </a:endParaRPr>
          </a:p>
        </p:txBody>
      </p:sp>
      <p:sp>
        <p:nvSpPr>
          <p:cNvPr id="4" name="Rectangle 3"/>
          <p:cNvSpPr/>
          <p:nvPr/>
        </p:nvSpPr>
        <p:spPr>
          <a:xfrm>
            <a:off x="3048000" y="3213557"/>
            <a:ext cx="6096000" cy="369332"/>
          </a:xfrm>
          <a:prstGeom prst="rect">
            <a:avLst/>
          </a:prstGeom>
        </p:spPr>
        <p:txBody>
          <a:bodyPr>
            <a:spAutoFit/>
          </a:bodyPr>
          <a:lstStyle/>
          <a:p>
            <a:endParaRPr lang="fr-FR" dirty="0"/>
          </a:p>
        </p:txBody>
      </p:sp>
    </p:spTree>
    <p:extLst>
      <p:ext uri="{BB962C8B-B14F-4D97-AF65-F5344CB8AC3E}">
        <p14:creationId xmlns:p14="http://schemas.microsoft.com/office/powerpoint/2010/main" val="2147202863"/>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351691" y="1519311"/>
            <a:ext cx="11577711" cy="5338689"/>
          </a:xfrm>
        </p:spPr>
        <p:txBody>
          <a:bodyPr>
            <a:normAutofit lnSpcReduction="10000"/>
          </a:bodyPr>
          <a:lstStyle/>
          <a:p>
            <a:pPr marL="0" indent="0" algn="ctr">
              <a:lnSpc>
                <a:spcPct val="150000"/>
              </a:lnSpc>
              <a:buNone/>
            </a:pPr>
            <a:r>
              <a:rPr lang="fr-FR" sz="2400" b="1" dirty="0" smtClean="0">
                <a:latin typeface="Arial" panose="020B0604020202020204" pitchFamily="34" charset="0"/>
                <a:cs typeface="Arial" panose="020B0604020202020204" pitchFamily="34" charset="0"/>
              </a:rPr>
              <a:t>COORDINATION DE LA MISE EN OEUVRE DE LA PPN</a:t>
            </a:r>
          </a:p>
          <a:p>
            <a:pPr marL="0" indent="0" algn="ctr">
              <a:lnSpc>
                <a:spcPct val="150000"/>
              </a:lnSpc>
              <a:buNone/>
            </a:pPr>
            <a:endParaRPr lang="fr-FR" sz="2400" b="1" dirty="0" smtClean="0">
              <a:latin typeface="Arial" panose="020B0604020202020204" pitchFamily="34" charset="0"/>
              <a:cs typeface="Arial" panose="020B0604020202020204" pitchFamily="34" charset="0"/>
            </a:endParaRPr>
          </a:p>
          <a:p>
            <a:pPr lvl="0">
              <a:buFont typeface="Wingdings" panose="05000000000000000000" pitchFamily="2" charset="2"/>
              <a:buChar char="q"/>
            </a:pPr>
            <a:r>
              <a:rPr lang="fr-FR" sz="2400" dirty="0" smtClean="0">
                <a:latin typeface="Arial" panose="020B0604020202020204" pitchFamily="34" charset="0"/>
                <a:cs typeface="Arial" panose="020B0604020202020204" pitchFamily="34" charset="0"/>
              </a:rPr>
              <a:t>.</a:t>
            </a:r>
            <a:r>
              <a:rPr lang="fr-FR" sz="2400" b="1" i="1" dirty="0">
                <a:latin typeface="Arial" panose="020B0604020202020204" pitchFamily="34" charset="0"/>
                <a:cs typeface="Arial" panose="020B0604020202020204" pitchFamily="34" charset="0"/>
              </a:rPr>
              <a:t> </a:t>
            </a:r>
            <a:r>
              <a:rPr lang="fr-FR" sz="2400" b="1" i="1" dirty="0" smtClean="0">
                <a:latin typeface="Arial" panose="020B0604020202020204" pitchFamily="34" charset="0"/>
                <a:cs typeface="Arial" panose="020B0604020202020204" pitchFamily="34" charset="0"/>
              </a:rPr>
              <a:t>Le </a:t>
            </a:r>
            <a:r>
              <a:rPr lang="fr-FR" sz="2400" b="1" i="1" dirty="0">
                <a:latin typeface="Arial" panose="020B0604020202020204" pitchFamily="34" charset="0"/>
                <a:cs typeface="Arial" panose="020B0604020202020204" pitchFamily="34" charset="0"/>
              </a:rPr>
              <a:t>Cadre de concertation des acteurs du secteur pharmaceutique national </a:t>
            </a:r>
            <a:r>
              <a:rPr lang="fr-FR" sz="2400" b="1" i="1" dirty="0" smtClean="0">
                <a:latin typeface="Arial" panose="020B0604020202020204" pitchFamily="34" charset="0"/>
                <a:cs typeface="Arial" panose="020B0604020202020204" pitchFamily="34" charset="0"/>
              </a:rPr>
              <a:t>:</a:t>
            </a:r>
            <a:endParaRPr lang="fr-FR" sz="2400" b="1" i="1" dirty="0">
              <a:latin typeface="Arial" panose="020B0604020202020204" pitchFamily="34" charset="0"/>
              <a:cs typeface="Arial" panose="020B0604020202020204" pitchFamily="34" charset="0"/>
            </a:endParaRPr>
          </a:p>
          <a:p>
            <a:pPr>
              <a:lnSpc>
                <a:spcPct val="150000"/>
              </a:lnSpc>
            </a:pPr>
            <a:r>
              <a:rPr lang="fr-FR" sz="2400" dirty="0">
                <a:latin typeface="Arial" panose="020B0604020202020204" pitchFamily="34" charset="0"/>
                <a:cs typeface="Arial" panose="020B0604020202020204" pitchFamily="34" charset="0"/>
              </a:rPr>
              <a:t>cadre d’échanges et de concertation des experts du secteur pharmaceutique permettant de partager les bonnes pratiques et expériences sur les composantes du secteur pharmaceutique</a:t>
            </a:r>
            <a:r>
              <a:rPr lang="fr-FR" sz="2400" dirty="0" smtClean="0">
                <a:latin typeface="Arial" panose="020B0604020202020204" pitchFamily="34" charset="0"/>
                <a:cs typeface="Arial" panose="020B0604020202020204" pitchFamily="34" charset="0"/>
              </a:rPr>
              <a:t>.</a:t>
            </a:r>
            <a:endParaRPr lang="fr-FR" sz="2400" dirty="0">
              <a:latin typeface="Arial" panose="020B0604020202020204" pitchFamily="34" charset="0"/>
              <a:cs typeface="Arial" panose="020B0604020202020204" pitchFamily="34" charset="0"/>
            </a:endParaRPr>
          </a:p>
          <a:p>
            <a:pPr>
              <a:lnSpc>
                <a:spcPct val="150000"/>
              </a:lnSpc>
            </a:pPr>
            <a:r>
              <a:rPr lang="fr-FR" sz="2400" b="1" dirty="0" smtClean="0">
                <a:latin typeface="Arial" panose="020B0604020202020204" pitchFamily="34" charset="0"/>
                <a:cs typeface="Arial" panose="020B0604020202020204" pitchFamily="34" charset="0"/>
              </a:rPr>
              <a:t>Président :  </a:t>
            </a:r>
            <a:r>
              <a:rPr lang="fr-FR" sz="2400" dirty="0">
                <a:latin typeface="Arial" panose="020B0604020202020204" pitchFamily="34" charset="0"/>
                <a:cs typeface="Arial" panose="020B0604020202020204" pitchFamily="34" charset="0"/>
              </a:rPr>
              <a:t>Ministre en charge de la santé et </a:t>
            </a:r>
          </a:p>
          <a:p>
            <a:pPr>
              <a:lnSpc>
                <a:spcPct val="150000"/>
              </a:lnSpc>
            </a:pPr>
            <a:r>
              <a:rPr lang="fr-FR" sz="2400" b="1" dirty="0" smtClean="0">
                <a:latin typeface="Arial" panose="020B0604020202020204" pitchFamily="34" charset="0"/>
                <a:cs typeface="Arial" panose="020B0604020202020204" pitchFamily="34" charset="0"/>
              </a:rPr>
              <a:t>secrétariat</a:t>
            </a:r>
            <a:r>
              <a:rPr lang="fr-FR" sz="2400" dirty="0" smtClean="0">
                <a:latin typeface="Arial" panose="020B0604020202020204" pitchFamily="34" charset="0"/>
                <a:cs typeface="Arial" panose="020B0604020202020204" pitchFamily="34" charset="0"/>
              </a:rPr>
              <a:t> : </a:t>
            </a:r>
            <a:r>
              <a:rPr lang="fr-FR" sz="2400" b="1" dirty="0">
                <a:latin typeface="Arial" panose="020B0604020202020204" pitchFamily="34" charset="0"/>
                <a:cs typeface="Arial" panose="020B0604020202020204" pitchFamily="34" charset="0"/>
              </a:rPr>
              <a:t>Direction Générale de la Santé (DGS) </a:t>
            </a:r>
            <a:r>
              <a:rPr lang="fr-FR" sz="2400" dirty="0">
                <a:latin typeface="Arial" panose="020B0604020202020204" pitchFamily="34" charset="0"/>
                <a:cs typeface="Arial" panose="020B0604020202020204" pitchFamily="34" charset="0"/>
              </a:rPr>
              <a:t>assistée de la </a:t>
            </a:r>
            <a:r>
              <a:rPr lang="fr-FR" sz="2400" b="1" dirty="0">
                <a:latin typeface="Arial" panose="020B0604020202020204" pitchFamily="34" charset="0"/>
                <a:cs typeface="Arial" panose="020B0604020202020204" pitchFamily="34" charset="0"/>
              </a:rPr>
              <a:t>Direction en charge de la planification stratégique</a:t>
            </a:r>
            <a:r>
              <a:rPr lang="fr-FR" sz="2400" dirty="0">
                <a:latin typeface="Arial" panose="020B0604020202020204" pitchFamily="34" charset="0"/>
                <a:cs typeface="Arial" panose="020B0604020202020204" pitchFamily="34" charset="0"/>
              </a:rPr>
              <a:t> sur le secteur pharmaceutique</a:t>
            </a:r>
          </a:p>
        </p:txBody>
      </p:sp>
      <p:sp>
        <p:nvSpPr>
          <p:cNvPr id="4" name="Rectangle 3"/>
          <p:cNvSpPr/>
          <p:nvPr/>
        </p:nvSpPr>
        <p:spPr>
          <a:xfrm>
            <a:off x="3048000" y="3213557"/>
            <a:ext cx="6096000" cy="369332"/>
          </a:xfrm>
          <a:prstGeom prst="rect">
            <a:avLst/>
          </a:prstGeom>
        </p:spPr>
        <p:txBody>
          <a:bodyPr>
            <a:spAutoFit/>
          </a:bodyPr>
          <a:lstStyle/>
          <a:p>
            <a:endParaRPr lang="fr-FR" dirty="0"/>
          </a:p>
        </p:txBody>
      </p:sp>
    </p:spTree>
    <p:extLst>
      <p:ext uri="{BB962C8B-B14F-4D97-AF65-F5344CB8AC3E}">
        <p14:creationId xmlns:p14="http://schemas.microsoft.com/office/powerpoint/2010/main" val="57403026"/>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351691" y="1519311"/>
            <a:ext cx="11577711" cy="5338689"/>
          </a:xfrm>
        </p:spPr>
        <p:txBody>
          <a:bodyPr>
            <a:normAutofit/>
          </a:bodyPr>
          <a:lstStyle/>
          <a:p>
            <a:pPr marL="0" indent="0" algn="ctr">
              <a:lnSpc>
                <a:spcPct val="150000"/>
              </a:lnSpc>
              <a:buNone/>
            </a:pPr>
            <a:r>
              <a:rPr lang="fr-FR" sz="2400" b="1" dirty="0" smtClean="0">
                <a:latin typeface="Arial" panose="020B0604020202020204" pitchFamily="34" charset="0"/>
                <a:cs typeface="Arial" panose="020B0604020202020204" pitchFamily="34" charset="0"/>
              </a:rPr>
              <a:t>COORDINATION DE LA MISE EN OEUVRE DE LA PPN</a:t>
            </a:r>
          </a:p>
          <a:p>
            <a:pPr marL="0" indent="0" algn="ctr">
              <a:lnSpc>
                <a:spcPct val="150000"/>
              </a:lnSpc>
              <a:buNone/>
            </a:pPr>
            <a:endParaRPr lang="fr-FR" sz="2400" b="1" dirty="0" smtClean="0">
              <a:latin typeface="Arial" panose="020B0604020202020204" pitchFamily="34" charset="0"/>
              <a:cs typeface="Arial" panose="020B0604020202020204" pitchFamily="34" charset="0"/>
            </a:endParaRPr>
          </a:p>
          <a:p>
            <a:pPr lvl="0">
              <a:lnSpc>
                <a:spcPct val="150000"/>
              </a:lnSpc>
              <a:buFont typeface="Wingdings" panose="05000000000000000000" pitchFamily="2" charset="2"/>
              <a:buChar char="q"/>
            </a:pPr>
            <a:r>
              <a:rPr lang="fr-FR" sz="2400" dirty="0">
                <a:latin typeface="Arial" panose="020B0604020202020204" pitchFamily="34" charset="0"/>
                <a:cs typeface="Arial" panose="020B0604020202020204" pitchFamily="34" charset="0"/>
              </a:rPr>
              <a:t> </a:t>
            </a:r>
            <a:r>
              <a:rPr lang="fr-FR" sz="2400" b="1" dirty="0">
                <a:latin typeface="Arial" panose="020B0604020202020204" pitchFamily="34" charset="0"/>
                <a:cs typeface="Arial" panose="020B0604020202020204" pitchFamily="34" charset="0"/>
              </a:rPr>
              <a:t>Direction chargée de la planification stratégique sur le secteur </a:t>
            </a:r>
            <a:r>
              <a:rPr lang="fr-FR" sz="2400" b="1" dirty="0" smtClean="0">
                <a:latin typeface="Arial" panose="020B0604020202020204" pitchFamily="34" charset="0"/>
                <a:cs typeface="Arial" panose="020B0604020202020204" pitchFamily="34" charset="0"/>
              </a:rPr>
              <a:t>pharmaceutique :</a:t>
            </a:r>
          </a:p>
          <a:p>
            <a:pPr marL="0" lvl="0" indent="0">
              <a:lnSpc>
                <a:spcPct val="150000"/>
              </a:lnSpc>
              <a:buNone/>
            </a:pPr>
            <a:endParaRPr lang="fr-FR" sz="2400" b="1" dirty="0" smtClean="0">
              <a:latin typeface="Arial" panose="020B0604020202020204" pitchFamily="34" charset="0"/>
              <a:cs typeface="Arial" panose="020B0604020202020204" pitchFamily="34" charset="0"/>
            </a:endParaRPr>
          </a:p>
          <a:p>
            <a:pPr lvl="0">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une </a:t>
            </a:r>
            <a:r>
              <a:rPr lang="fr-FR" sz="2400" dirty="0">
                <a:latin typeface="Arial" panose="020B0604020202020204" pitchFamily="34" charset="0"/>
                <a:cs typeface="Arial" panose="020B0604020202020204" pitchFamily="34" charset="0"/>
              </a:rPr>
              <a:t>structure permanente au sein du Ministère en charge de la santé qui assure la planification stratégique et le suivi quotidien de la mise en œuvre de la PPN</a:t>
            </a:r>
            <a:r>
              <a:rPr lang="fr-FR" sz="2400" dirty="0" smtClean="0">
                <a:latin typeface="Arial" panose="020B0604020202020204" pitchFamily="34" charset="0"/>
                <a:cs typeface="Arial" panose="020B0604020202020204" pitchFamily="34" charset="0"/>
              </a:rPr>
              <a:t>.</a:t>
            </a:r>
          </a:p>
          <a:p>
            <a:pPr lvl="0">
              <a:lnSpc>
                <a:spcPct val="150000"/>
              </a:lnSpc>
              <a:buFont typeface="Wingdings" panose="05000000000000000000" pitchFamily="2" charset="2"/>
              <a:buChar char="Ø"/>
            </a:pPr>
            <a:endParaRPr lang="fr-FR" sz="2400" b="1" dirty="0">
              <a:latin typeface="Arial" panose="020B0604020202020204" pitchFamily="34" charset="0"/>
              <a:cs typeface="Arial" panose="020B0604020202020204" pitchFamily="34" charset="0"/>
            </a:endParaRPr>
          </a:p>
        </p:txBody>
      </p:sp>
      <p:sp>
        <p:nvSpPr>
          <p:cNvPr id="4" name="Rectangle 3"/>
          <p:cNvSpPr/>
          <p:nvPr/>
        </p:nvSpPr>
        <p:spPr>
          <a:xfrm>
            <a:off x="3048000" y="3213557"/>
            <a:ext cx="6096000" cy="369332"/>
          </a:xfrm>
          <a:prstGeom prst="rect">
            <a:avLst/>
          </a:prstGeom>
        </p:spPr>
        <p:txBody>
          <a:bodyPr>
            <a:spAutoFit/>
          </a:bodyPr>
          <a:lstStyle/>
          <a:p>
            <a:endParaRPr lang="fr-FR" dirty="0"/>
          </a:p>
        </p:txBody>
      </p:sp>
    </p:spTree>
    <p:extLst>
      <p:ext uri="{BB962C8B-B14F-4D97-AF65-F5344CB8AC3E}">
        <p14:creationId xmlns:p14="http://schemas.microsoft.com/office/powerpoint/2010/main" val="2772749626"/>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519311"/>
            <a:ext cx="11779348" cy="5338689"/>
          </a:xfrm>
        </p:spPr>
        <p:txBody>
          <a:bodyPr>
            <a:normAutofit lnSpcReduction="10000"/>
          </a:bodyPr>
          <a:lstStyle/>
          <a:p>
            <a:pPr marL="0" indent="0" algn="ctr">
              <a:lnSpc>
                <a:spcPct val="150000"/>
              </a:lnSpc>
              <a:buNone/>
            </a:pPr>
            <a:r>
              <a:rPr lang="fr-FR" sz="2400" b="1" dirty="0" smtClean="0">
                <a:latin typeface="Arial" panose="020B0604020202020204" pitchFamily="34" charset="0"/>
                <a:cs typeface="Arial" panose="020B0604020202020204" pitchFamily="34" charset="0"/>
              </a:rPr>
              <a:t>COORDINATION DE LA MISE EN OEUVRE DE LA PPN</a:t>
            </a:r>
          </a:p>
          <a:p>
            <a:pPr marL="0" indent="0" algn="ctr">
              <a:lnSpc>
                <a:spcPct val="150000"/>
              </a:lnSpc>
              <a:buNone/>
            </a:pPr>
            <a:endParaRPr lang="fr-FR" sz="2400" b="1" dirty="0" smtClean="0">
              <a:latin typeface="Arial" panose="020B0604020202020204" pitchFamily="34" charset="0"/>
              <a:cs typeface="Arial" panose="020B0604020202020204" pitchFamily="34" charset="0"/>
            </a:endParaRPr>
          </a:p>
          <a:p>
            <a:pPr lvl="0">
              <a:lnSpc>
                <a:spcPct val="150000"/>
              </a:lnSpc>
              <a:buFont typeface="Wingdings" panose="05000000000000000000" pitchFamily="2" charset="2"/>
              <a:buChar char="q"/>
            </a:pPr>
            <a:r>
              <a:rPr lang="fr-FR" sz="2400" dirty="0">
                <a:latin typeface="Arial" panose="020B0604020202020204" pitchFamily="34" charset="0"/>
                <a:cs typeface="Arial" panose="020B0604020202020204" pitchFamily="34" charset="0"/>
              </a:rPr>
              <a:t> </a:t>
            </a:r>
            <a:r>
              <a:rPr lang="fr-FR" sz="2400" b="1" dirty="0">
                <a:latin typeface="Arial" panose="020B0604020202020204" pitchFamily="34" charset="0"/>
                <a:cs typeface="Arial" panose="020B0604020202020204" pitchFamily="34" charset="0"/>
              </a:rPr>
              <a:t>Direction chargée de la planification stratégique sur le secteur </a:t>
            </a:r>
            <a:r>
              <a:rPr lang="fr-FR" sz="2400" b="1" dirty="0" smtClean="0">
                <a:latin typeface="Arial" panose="020B0604020202020204" pitchFamily="34" charset="0"/>
                <a:cs typeface="Arial" panose="020B0604020202020204" pitchFamily="34" charset="0"/>
              </a:rPr>
              <a:t>pharmaceutique :</a:t>
            </a:r>
          </a:p>
          <a:p>
            <a:pPr lvl="0">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Cette </a:t>
            </a:r>
            <a:r>
              <a:rPr lang="fr-FR" sz="2400" dirty="0">
                <a:latin typeface="Arial" panose="020B0604020202020204" pitchFamily="34" charset="0"/>
                <a:cs typeface="Arial" panose="020B0604020202020204" pitchFamily="34" charset="0"/>
              </a:rPr>
              <a:t>mission est assurée par la </a:t>
            </a:r>
            <a:r>
              <a:rPr lang="fr-FR" sz="2400" b="1" dirty="0">
                <a:latin typeface="Arial" panose="020B0604020202020204" pitchFamily="34" charset="0"/>
                <a:cs typeface="Arial" panose="020B0604020202020204" pitchFamily="34" charset="0"/>
              </a:rPr>
              <a:t>DAP</a:t>
            </a:r>
            <a:r>
              <a:rPr lang="fr-FR" sz="2400" dirty="0">
                <a:latin typeface="Arial" panose="020B0604020202020204" pitchFamily="34" charset="0"/>
                <a:cs typeface="Arial" panose="020B0604020202020204" pitchFamily="34" charset="0"/>
              </a:rPr>
              <a:t>. </a:t>
            </a:r>
            <a:endParaRPr lang="fr-FR" sz="2400" dirty="0" smtClean="0">
              <a:latin typeface="Arial" panose="020B0604020202020204" pitchFamily="34" charset="0"/>
              <a:cs typeface="Arial" panose="020B0604020202020204" pitchFamily="34" charset="0"/>
            </a:endParaRPr>
          </a:p>
          <a:p>
            <a:pPr lvl="0">
              <a:lnSpc>
                <a:spcPct val="150000"/>
              </a:lnSpc>
              <a:buFont typeface="Wingdings" panose="05000000000000000000" pitchFamily="2" charset="2"/>
              <a:buChar char="Ø"/>
            </a:pPr>
            <a:r>
              <a:rPr lang="fr-FR" sz="2400" dirty="0" smtClean="0">
                <a:latin typeface="Arial" panose="020B0604020202020204" pitchFamily="34" charset="0"/>
                <a:cs typeface="Arial" panose="020B0604020202020204" pitchFamily="34" charset="0"/>
              </a:rPr>
              <a:t>A </a:t>
            </a:r>
            <a:r>
              <a:rPr lang="fr-FR" sz="2400" dirty="0">
                <a:latin typeface="Arial" panose="020B0604020202020204" pitchFamily="34" charset="0"/>
                <a:cs typeface="Arial" panose="020B0604020202020204" pitchFamily="34" charset="0"/>
              </a:rPr>
              <a:t>ce titre, elle jouera le rôle de </a:t>
            </a:r>
            <a:r>
              <a:rPr lang="fr-FR" sz="2400" b="1" dirty="0">
                <a:latin typeface="Arial" panose="020B0604020202020204" pitchFamily="34" charset="0"/>
                <a:cs typeface="Arial" panose="020B0604020202020204" pitchFamily="34" charset="0"/>
              </a:rPr>
              <a:t>Secrétariat permanent</a:t>
            </a:r>
            <a:r>
              <a:rPr lang="fr-FR" sz="2400" dirty="0">
                <a:latin typeface="Arial" panose="020B0604020202020204" pitchFamily="34" charset="0"/>
                <a:cs typeface="Arial" panose="020B0604020202020204" pitchFamily="34" charset="0"/>
              </a:rPr>
              <a:t>. Elle assiste ainsi </a:t>
            </a:r>
            <a:r>
              <a:rPr lang="fr-FR" sz="2400" b="1" dirty="0">
                <a:latin typeface="Arial" panose="020B0604020202020204" pitchFamily="34" charset="0"/>
                <a:cs typeface="Arial" panose="020B0604020202020204" pitchFamily="34" charset="0"/>
              </a:rPr>
              <a:t>la DGS dans la préparation des réunions du comité technique de suivi, et le Cabinet du Ministère en charge de la santé</a:t>
            </a:r>
            <a:r>
              <a:rPr lang="fr-FR" sz="2400" dirty="0">
                <a:latin typeface="Arial" panose="020B0604020202020204" pitchFamily="34" charset="0"/>
                <a:cs typeface="Arial" panose="020B0604020202020204" pitchFamily="34" charset="0"/>
              </a:rPr>
              <a:t>, dans la préparation des réunions du Comité interministériel de pilotage de la PPN.</a:t>
            </a:r>
            <a:endParaRPr lang="fr-FR" sz="2400" b="1" dirty="0">
              <a:latin typeface="Arial" panose="020B0604020202020204" pitchFamily="34" charset="0"/>
              <a:cs typeface="Arial" panose="020B0604020202020204" pitchFamily="34" charset="0"/>
            </a:endParaRPr>
          </a:p>
        </p:txBody>
      </p:sp>
      <p:sp>
        <p:nvSpPr>
          <p:cNvPr id="4" name="Rectangle 3"/>
          <p:cNvSpPr/>
          <p:nvPr/>
        </p:nvSpPr>
        <p:spPr>
          <a:xfrm>
            <a:off x="3048000" y="3213557"/>
            <a:ext cx="6096000" cy="369332"/>
          </a:xfrm>
          <a:prstGeom prst="rect">
            <a:avLst/>
          </a:prstGeom>
        </p:spPr>
        <p:txBody>
          <a:bodyPr>
            <a:spAutoFit/>
          </a:bodyPr>
          <a:lstStyle/>
          <a:p>
            <a:endParaRPr lang="fr-FR" dirty="0"/>
          </a:p>
        </p:txBody>
      </p:sp>
    </p:spTree>
    <p:extLst>
      <p:ext uri="{BB962C8B-B14F-4D97-AF65-F5344CB8AC3E}">
        <p14:creationId xmlns:p14="http://schemas.microsoft.com/office/powerpoint/2010/main" val="2203090916"/>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8528" y="642594"/>
            <a:ext cx="11526129" cy="1144003"/>
          </a:xfrm>
        </p:spPr>
        <p:txBody>
          <a:bodyPr>
            <a:normAutofit/>
          </a:bodyPr>
          <a:lstStyle/>
          <a:p>
            <a:pPr algn="ctr"/>
            <a:r>
              <a:rPr lang="fr-FR" sz="3200" dirty="0">
                <a:latin typeface="Arial Black" panose="020B0A04020102020204" pitchFamily="34" charset="0"/>
              </a:rPr>
              <a:t>LA POLITIQUE </a:t>
            </a:r>
            <a:r>
              <a:rPr lang="fr-FR" sz="3200" dirty="0" smtClean="0">
                <a:latin typeface="Arial Black" panose="020B0A04020102020204" pitchFamily="34" charset="0"/>
              </a:rPr>
              <a:t>PHARMACEUTIQUE NATIONALE</a:t>
            </a:r>
            <a:endParaRPr lang="fr-FR" sz="3200" dirty="0">
              <a:latin typeface="Arial Black" panose="020B0A04020102020204" pitchFamily="34" charset="0"/>
            </a:endParaRPr>
          </a:p>
        </p:txBody>
      </p:sp>
      <p:sp>
        <p:nvSpPr>
          <p:cNvPr id="3" name="Espace réservé du contenu 2"/>
          <p:cNvSpPr>
            <a:spLocks noGrp="1"/>
          </p:cNvSpPr>
          <p:nvPr>
            <p:ph idx="1"/>
          </p:nvPr>
        </p:nvSpPr>
        <p:spPr>
          <a:xfrm>
            <a:off x="248529" y="1519311"/>
            <a:ext cx="11779348" cy="5338689"/>
          </a:xfrm>
        </p:spPr>
        <p:txBody>
          <a:bodyPr>
            <a:normAutofit/>
          </a:bodyPr>
          <a:lstStyle/>
          <a:p>
            <a:pPr marL="0" indent="0" algn="ctr">
              <a:lnSpc>
                <a:spcPct val="150000"/>
              </a:lnSpc>
              <a:buNone/>
            </a:pPr>
            <a:r>
              <a:rPr lang="fr-FR" sz="2400" b="1" dirty="0" smtClean="0">
                <a:latin typeface="Arial" panose="020B0604020202020204" pitchFamily="34" charset="0"/>
                <a:cs typeface="Arial" panose="020B0604020202020204" pitchFamily="34" charset="0"/>
              </a:rPr>
              <a:t>LE SUIVI ET ÉVALUATION DE LA PPN</a:t>
            </a:r>
          </a:p>
          <a:p>
            <a:pPr marL="0" indent="0" algn="ctr">
              <a:lnSpc>
                <a:spcPct val="150000"/>
              </a:lnSpc>
              <a:buNone/>
            </a:pPr>
            <a:endParaRPr lang="fr-FR" sz="2400" b="1" dirty="0" smtClean="0">
              <a:latin typeface="Arial" panose="020B0604020202020204" pitchFamily="34" charset="0"/>
              <a:cs typeface="Arial" panose="020B0604020202020204" pitchFamily="34" charset="0"/>
            </a:endParaRPr>
          </a:p>
          <a:p>
            <a:pPr lvl="0">
              <a:lnSpc>
                <a:spcPct val="150000"/>
              </a:lnSpc>
              <a:buFont typeface="Wingdings" panose="05000000000000000000" pitchFamily="2" charset="2"/>
              <a:buChar char="q"/>
            </a:pPr>
            <a:r>
              <a:rPr lang="fr-FR" sz="2400" dirty="0">
                <a:latin typeface="Arial" panose="020B0604020202020204" pitchFamily="34" charset="0"/>
                <a:cs typeface="Arial" panose="020B0604020202020204" pitchFamily="34" charset="0"/>
              </a:rPr>
              <a:t> Le suivi et l’évaluation de la PPN se fera à travers </a:t>
            </a:r>
            <a:r>
              <a:rPr lang="fr-FR" sz="2400" b="1" dirty="0">
                <a:latin typeface="Arial" panose="020B0604020202020204" pitchFamily="34" charset="0"/>
                <a:cs typeface="Arial" panose="020B0604020202020204" pitchFamily="34" charset="0"/>
              </a:rPr>
              <a:t>un Plan spécifique de Suivi Evaluation (en abrégé PSE) </a:t>
            </a:r>
            <a:r>
              <a:rPr lang="fr-FR" sz="2400" dirty="0">
                <a:latin typeface="Arial" panose="020B0604020202020204" pitchFamily="34" charset="0"/>
                <a:cs typeface="Arial" panose="020B0604020202020204" pitchFamily="34" charset="0"/>
              </a:rPr>
              <a:t>et portera tant sur son niveau de réalisation, que sur l’atteinte de ses objectifs spécifiques</a:t>
            </a:r>
            <a:endParaRPr lang="fr-FR" sz="2400" b="1" dirty="0" smtClean="0">
              <a:latin typeface="Arial" panose="020B0604020202020204" pitchFamily="34" charset="0"/>
              <a:cs typeface="Arial" panose="020B0604020202020204" pitchFamily="34" charset="0"/>
            </a:endParaRPr>
          </a:p>
        </p:txBody>
      </p:sp>
      <p:sp>
        <p:nvSpPr>
          <p:cNvPr id="4" name="Rectangle 3"/>
          <p:cNvSpPr/>
          <p:nvPr/>
        </p:nvSpPr>
        <p:spPr>
          <a:xfrm>
            <a:off x="3048000" y="3213557"/>
            <a:ext cx="6096000" cy="369332"/>
          </a:xfrm>
          <a:prstGeom prst="rect">
            <a:avLst/>
          </a:prstGeom>
        </p:spPr>
        <p:txBody>
          <a:bodyPr>
            <a:spAutoFit/>
          </a:bodyPr>
          <a:lstStyle/>
          <a:p>
            <a:endParaRPr lang="fr-FR" dirty="0"/>
          </a:p>
        </p:txBody>
      </p:sp>
      <p:pic>
        <p:nvPicPr>
          <p:cNvPr id="5" name="Espace réservé du contenu 3"/>
          <p:cNvPicPr>
            <a:picLocks noChangeAspect="1"/>
          </p:cNvPicPr>
          <p:nvPr/>
        </p:nvPicPr>
        <p:blipFill>
          <a:blip r:embed="rId2"/>
          <a:stretch>
            <a:fillRect/>
          </a:stretch>
        </p:blipFill>
        <p:spPr>
          <a:xfrm>
            <a:off x="101600" y="45381"/>
            <a:ext cx="11938000" cy="6393519"/>
          </a:xfrm>
          <a:prstGeom prst="rect">
            <a:avLst/>
          </a:prstGeom>
        </p:spPr>
      </p:pic>
    </p:spTree>
    <p:extLst>
      <p:ext uri="{BB962C8B-B14F-4D97-AF65-F5344CB8AC3E}">
        <p14:creationId xmlns:p14="http://schemas.microsoft.com/office/powerpoint/2010/main" val="699653533"/>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4" name="Espace réservé du contenu 3"/>
          <p:cNvPicPr>
            <a:picLocks noChangeAspect="1"/>
          </p:cNvPicPr>
          <p:nvPr/>
        </p:nvPicPr>
        <p:blipFill>
          <a:blip r:embed="rId2"/>
          <a:stretch>
            <a:fillRect/>
          </a:stretch>
        </p:blipFill>
        <p:spPr>
          <a:xfrm>
            <a:off x="0" y="0"/>
            <a:ext cx="12280900" cy="6857999"/>
          </a:xfrm>
          <a:prstGeom prst="rect">
            <a:avLst/>
          </a:prstGeom>
        </p:spPr>
      </p:pic>
    </p:spTree>
    <p:extLst>
      <p:ext uri="{BB962C8B-B14F-4D97-AF65-F5344CB8AC3E}">
        <p14:creationId xmlns:p14="http://schemas.microsoft.com/office/powerpoint/2010/main" val="125014651"/>
      </p:ext>
    </p:extLst>
  </p:cSld>
  <p:clrMapOvr>
    <a:masterClrMapping/>
  </p:clrMapOvr>
  <mc:AlternateContent xmlns:mc="http://schemas.openxmlformats.org/markup-compatibility/2006" xmlns:p14="http://schemas.microsoft.com/office/powerpoint/2010/main">
    <mc:Choice Requires="p14">
      <p:transition spd="slow" p14:dur="3000">
        <p14:prism isContent="1"/>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TM03457510[[fn=Savon]]</Template>
  <TotalTime>970</TotalTime>
  <Words>3725</Words>
  <Application>Microsoft Office PowerPoint</Application>
  <PresentationFormat>Grand écran</PresentationFormat>
  <Paragraphs>426</Paragraphs>
  <Slides>70</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70</vt:i4>
      </vt:variant>
    </vt:vector>
  </HeadingPairs>
  <TitlesOfParts>
    <vt:vector size="77" baseType="lpstr">
      <vt:lpstr>Arial</vt:lpstr>
      <vt:lpstr>Arial Black</vt:lpstr>
      <vt:lpstr>Century Gothic</vt:lpstr>
      <vt:lpstr>Courier New</vt:lpstr>
      <vt:lpstr>Garamond</vt:lpstr>
      <vt:lpstr>Wingdings</vt:lpstr>
      <vt:lpstr>Savon</vt:lpstr>
      <vt:lpstr>LA POLITIQUE PHARMACEUTIQUE EN COTE D’IVOIRE </vt:lpstr>
      <vt:lpstr>OBJECTIF GENERAL</vt:lpstr>
      <vt:lpstr>OBJECTIFS SPECIFIQUES</vt:lpstr>
      <vt:lpstr>OBJECTIFS SPECIFIQUES</vt:lpstr>
      <vt:lpstr>OBJECTIFS SPECIFIQUES</vt:lpstr>
      <vt:lpstr>PLAN</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LA POLITIQUE NATIONALE DE SANTE</vt:lpstr>
      <vt:lpstr>Présentation PowerPoint</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LA POLITIQUE PHARMACEUTIQUE NATIONALE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POLITIQUE PHARMACEUTIQUE</dc:title>
  <dc:creator>HP</dc:creator>
  <cp:lastModifiedBy>HP</cp:lastModifiedBy>
  <cp:revision>105</cp:revision>
  <dcterms:created xsi:type="dcterms:W3CDTF">2025-09-10T00:21:05Z</dcterms:created>
  <dcterms:modified xsi:type="dcterms:W3CDTF">2025-10-05T22:35:15Z</dcterms:modified>
</cp:coreProperties>
</file>